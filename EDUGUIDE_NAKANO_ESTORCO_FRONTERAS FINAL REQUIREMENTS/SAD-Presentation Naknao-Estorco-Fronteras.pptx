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59" r:id="rId6"/>
    <p:sldId id="262" r:id="rId7"/>
    <p:sldId id="261" r:id="rId8"/>
    <p:sldId id="263"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8" r:id="rId29"/>
    <p:sldId id="287" r:id="rId30"/>
    <p:sldId id="286" r:id="rId31"/>
    <p:sldId id="285" r:id="rId32"/>
    <p:sldId id="289" r:id="rId33"/>
    <p:sldId id="290" r:id="rId34"/>
    <p:sldId id="291" r:id="rId35"/>
    <p:sldId id="292" r:id="rId36"/>
    <p:sldId id="293" r:id="rId37"/>
    <p:sldId id="294" r:id="rId38"/>
    <p:sldId id="295" r:id="rId39"/>
    <p:sldId id="296" r:id="rId40"/>
    <p:sldId id="297" r:id="rId41"/>
    <p:sldId id="298"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41352C11-BCEA-4AF8-948D-363E49F0D7F3}" type="datetimeFigureOut">
              <a:rPr lang="en-PH" smtClean="0"/>
              <a:t>6/19/2026</a:t>
            </a:fld>
            <a:endParaRPr lang="en-PH"/>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PH"/>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B78E5CD4-B8A6-48D8-91DD-EEBF59BEBCAD}" type="slidenum">
              <a:rPr lang="en-PH" smtClean="0"/>
              <a:t>‹#›</a:t>
            </a:fld>
            <a:endParaRPr lang="en-PH"/>
          </a:p>
        </p:txBody>
      </p:sp>
    </p:spTree>
    <p:extLst>
      <p:ext uri="{BB962C8B-B14F-4D97-AF65-F5344CB8AC3E}">
        <p14:creationId xmlns:p14="http://schemas.microsoft.com/office/powerpoint/2010/main" val="1107159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352C11-BCEA-4AF8-948D-363E49F0D7F3}" type="datetimeFigureOut">
              <a:rPr lang="en-PH" smtClean="0"/>
              <a:t>6/19/2026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B78E5CD4-B8A6-48D8-91DD-EEBF59BEBCAD}" type="slidenum">
              <a:rPr lang="en-PH" smtClean="0"/>
              <a:t>‹#›</a:t>
            </a:fld>
            <a:endParaRPr lang="en-PH"/>
          </a:p>
        </p:txBody>
      </p:sp>
    </p:spTree>
    <p:extLst>
      <p:ext uri="{BB962C8B-B14F-4D97-AF65-F5344CB8AC3E}">
        <p14:creationId xmlns:p14="http://schemas.microsoft.com/office/powerpoint/2010/main" val="24049967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352C11-BCEA-4AF8-948D-363E49F0D7F3}" type="datetimeFigureOut">
              <a:rPr lang="en-PH" smtClean="0"/>
              <a:t>6/19/2026</a:t>
            </a:fld>
            <a:endParaRPr lang="en-PH"/>
          </a:p>
        </p:txBody>
      </p:sp>
      <p:sp>
        <p:nvSpPr>
          <p:cNvPr id="5" name="Footer Placeholder 4"/>
          <p:cNvSpPr>
            <a:spLocks noGrp="1"/>
          </p:cNvSpPr>
          <p:nvPr>
            <p:ph type="ftr" sz="quarter" idx="11"/>
          </p:nvPr>
        </p:nvSpPr>
        <p:spPr/>
        <p:txBody>
          <a:bodyPr/>
          <a:lstStyle/>
          <a:p>
            <a:endParaRPr lang="en-PH"/>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78E5CD4-B8A6-48D8-91DD-EEBF59BEBCAD}" type="slidenum">
              <a:rPr lang="en-PH" smtClean="0"/>
              <a:t>‹#›</a:t>
            </a:fld>
            <a:endParaRPr lang="en-PH"/>
          </a:p>
        </p:txBody>
      </p:sp>
    </p:spTree>
    <p:extLst>
      <p:ext uri="{BB962C8B-B14F-4D97-AF65-F5344CB8AC3E}">
        <p14:creationId xmlns:p14="http://schemas.microsoft.com/office/powerpoint/2010/main" val="19736141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1352C11-BCEA-4AF8-948D-363E49F0D7F3}" type="datetimeFigureOut">
              <a:rPr lang="en-PH" smtClean="0"/>
              <a:t>6/19/2026</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B78E5CD4-B8A6-48D8-91DD-EEBF59BEBCAD}" type="slidenum">
              <a:rPr lang="en-PH" smtClean="0"/>
              <a:t>‹#›</a:t>
            </a:fld>
            <a:endParaRPr lang="en-PH"/>
          </a:p>
        </p:txBody>
      </p:sp>
    </p:spTree>
    <p:extLst>
      <p:ext uri="{BB962C8B-B14F-4D97-AF65-F5344CB8AC3E}">
        <p14:creationId xmlns:p14="http://schemas.microsoft.com/office/powerpoint/2010/main" val="29315888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1352C11-BCEA-4AF8-948D-363E49F0D7F3}" type="datetimeFigureOut">
              <a:rPr lang="en-PH" smtClean="0"/>
              <a:t>6/19/2026</a:t>
            </a:fld>
            <a:endParaRPr lang="en-PH"/>
          </a:p>
        </p:txBody>
      </p:sp>
      <p:sp>
        <p:nvSpPr>
          <p:cNvPr id="8" name="Footer Placeholder 7"/>
          <p:cNvSpPr>
            <a:spLocks noGrp="1"/>
          </p:cNvSpPr>
          <p:nvPr>
            <p:ph type="ftr" sz="quarter" idx="11"/>
          </p:nvPr>
        </p:nvSpPr>
        <p:spPr/>
        <p:txBody>
          <a:bodyPr/>
          <a:lstStyle/>
          <a:p>
            <a:endParaRPr lang="en-PH"/>
          </a:p>
        </p:txBody>
      </p:sp>
      <p:sp>
        <p:nvSpPr>
          <p:cNvPr id="9" name="Slide Number Placeholder 8"/>
          <p:cNvSpPr>
            <a:spLocks noGrp="1"/>
          </p:cNvSpPr>
          <p:nvPr>
            <p:ph type="sldNum" sz="quarter" idx="12"/>
          </p:nvPr>
        </p:nvSpPr>
        <p:spPr/>
        <p:txBody>
          <a:bodyPr/>
          <a:lstStyle/>
          <a:p>
            <a:fld id="{B78E5CD4-B8A6-48D8-91DD-EEBF59BEBCAD}" type="slidenum">
              <a:rPr lang="en-PH" smtClean="0"/>
              <a:t>‹#›</a:t>
            </a:fld>
            <a:endParaRPr lang="en-PH"/>
          </a:p>
        </p:txBody>
      </p:sp>
    </p:spTree>
    <p:extLst>
      <p:ext uri="{BB962C8B-B14F-4D97-AF65-F5344CB8AC3E}">
        <p14:creationId xmlns:p14="http://schemas.microsoft.com/office/powerpoint/2010/main" val="3558953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1352C11-BCEA-4AF8-948D-363E49F0D7F3}" type="datetimeFigureOut">
              <a:rPr lang="en-PH" smtClean="0"/>
              <a:t>6/19/2026</a:t>
            </a:fld>
            <a:endParaRPr lang="en-PH"/>
          </a:p>
        </p:txBody>
      </p:sp>
      <p:sp>
        <p:nvSpPr>
          <p:cNvPr id="4" name="Footer Placeholder 3"/>
          <p:cNvSpPr>
            <a:spLocks noGrp="1"/>
          </p:cNvSpPr>
          <p:nvPr>
            <p:ph type="ftr" sz="quarter" idx="11"/>
          </p:nvPr>
        </p:nvSpPr>
        <p:spPr/>
        <p:txBody>
          <a:bodyPr/>
          <a:lstStyle/>
          <a:p>
            <a:endParaRPr lang="en-PH"/>
          </a:p>
        </p:txBody>
      </p:sp>
      <p:sp>
        <p:nvSpPr>
          <p:cNvPr id="5" name="Slide Number Placeholder 4"/>
          <p:cNvSpPr>
            <a:spLocks noGrp="1"/>
          </p:cNvSpPr>
          <p:nvPr>
            <p:ph type="sldNum" sz="quarter" idx="12"/>
          </p:nvPr>
        </p:nvSpPr>
        <p:spPr/>
        <p:txBody>
          <a:bodyPr/>
          <a:lstStyle/>
          <a:p>
            <a:fld id="{B78E5CD4-B8A6-48D8-91DD-EEBF59BEBCAD}" type="slidenum">
              <a:rPr lang="en-PH" smtClean="0"/>
              <a:t>‹#›</a:t>
            </a:fld>
            <a:endParaRPr lang="en-PH"/>
          </a:p>
        </p:txBody>
      </p:sp>
    </p:spTree>
    <p:extLst>
      <p:ext uri="{BB962C8B-B14F-4D97-AF65-F5344CB8AC3E}">
        <p14:creationId xmlns:p14="http://schemas.microsoft.com/office/powerpoint/2010/main" val="34774705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352C11-BCEA-4AF8-948D-363E49F0D7F3}" type="datetimeFigureOut">
              <a:rPr lang="en-PH" smtClean="0"/>
              <a:t>6/19/2026</a:t>
            </a:fld>
            <a:endParaRPr lang="en-PH"/>
          </a:p>
        </p:txBody>
      </p:sp>
      <p:sp>
        <p:nvSpPr>
          <p:cNvPr id="3" name="Footer Placeholder 2"/>
          <p:cNvSpPr>
            <a:spLocks noGrp="1"/>
          </p:cNvSpPr>
          <p:nvPr>
            <p:ph type="ftr" sz="quarter" idx="11"/>
          </p:nvPr>
        </p:nvSpPr>
        <p:spPr/>
        <p:txBody>
          <a:bodyPr/>
          <a:lstStyle/>
          <a:p>
            <a:endParaRPr lang="en-PH"/>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B78E5CD4-B8A6-48D8-91DD-EEBF59BEBCAD}" type="slidenum">
              <a:rPr lang="en-PH" smtClean="0"/>
              <a:t>‹#›</a:t>
            </a:fld>
            <a:endParaRPr lang="en-PH"/>
          </a:p>
        </p:txBody>
      </p:sp>
    </p:spTree>
    <p:extLst>
      <p:ext uri="{BB962C8B-B14F-4D97-AF65-F5344CB8AC3E}">
        <p14:creationId xmlns:p14="http://schemas.microsoft.com/office/powerpoint/2010/main" val="13664936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1352C11-BCEA-4AF8-948D-363E49F0D7F3}" type="datetimeFigureOut">
              <a:rPr lang="en-PH" smtClean="0"/>
              <a:t>6/19/2026</a:t>
            </a:fld>
            <a:endParaRPr lang="en-PH"/>
          </a:p>
        </p:txBody>
      </p:sp>
      <p:sp>
        <p:nvSpPr>
          <p:cNvPr id="6" name="Footer Placeholder 5"/>
          <p:cNvSpPr>
            <a:spLocks noGrp="1"/>
          </p:cNvSpPr>
          <p:nvPr>
            <p:ph type="ftr" sz="quarter" idx="11"/>
          </p:nvPr>
        </p:nvSpPr>
        <p:spPr/>
        <p:txBody>
          <a:bodyPr/>
          <a:lstStyle/>
          <a:p>
            <a:endParaRPr lang="en-PH"/>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78E5CD4-B8A6-48D8-91DD-EEBF59BEBCAD}" type="slidenum">
              <a:rPr lang="en-PH" smtClean="0"/>
              <a:t>‹#›</a:t>
            </a:fld>
            <a:endParaRPr lang="en-PH"/>
          </a:p>
        </p:txBody>
      </p:sp>
    </p:spTree>
    <p:extLst>
      <p:ext uri="{BB962C8B-B14F-4D97-AF65-F5344CB8AC3E}">
        <p14:creationId xmlns:p14="http://schemas.microsoft.com/office/powerpoint/2010/main" val="9459357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1352C11-BCEA-4AF8-948D-363E49F0D7F3}" type="datetimeFigureOut">
              <a:rPr lang="en-PH" smtClean="0"/>
              <a:t>6/19/2026</a:t>
            </a:fld>
            <a:endParaRPr lang="en-PH"/>
          </a:p>
        </p:txBody>
      </p:sp>
      <p:sp>
        <p:nvSpPr>
          <p:cNvPr id="6" name="Footer Placeholder 5"/>
          <p:cNvSpPr>
            <a:spLocks noGrp="1"/>
          </p:cNvSpPr>
          <p:nvPr>
            <p:ph type="ftr" sz="quarter" idx="11"/>
          </p:nvPr>
        </p:nvSpPr>
        <p:spPr/>
        <p:txBody>
          <a:bodyPr/>
          <a:lstStyle/>
          <a:p>
            <a:endParaRPr lang="en-PH"/>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78E5CD4-B8A6-48D8-91DD-EEBF59BEBCAD}" type="slidenum">
              <a:rPr lang="en-PH" smtClean="0"/>
              <a:t>‹#›</a:t>
            </a:fld>
            <a:endParaRPr lang="en-PH"/>
          </a:p>
        </p:txBody>
      </p:sp>
    </p:spTree>
    <p:extLst>
      <p:ext uri="{BB962C8B-B14F-4D97-AF65-F5344CB8AC3E}">
        <p14:creationId xmlns:p14="http://schemas.microsoft.com/office/powerpoint/2010/main" val="23747738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1352C11-BCEA-4AF8-948D-363E49F0D7F3}" type="datetimeFigureOut">
              <a:rPr lang="en-PH" smtClean="0"/>
              <a:t>6/19/2026</a:t>
            </a:fld>
            <a:endParaRPr lang="en-PH"/>
          </a:p>
        </p:txBody>
      </p:sp>
      <p:sp>
        <p:nvSpPr>
          <p:cNvPr id="6" name="Footer Placeholder 5"/>
          <p:cNvSpPr>
            <a:spLocks noGrp="1"/>
          </p:cNvSpPr>
          <p:nvPr>
            <p:ph type="ftr" sz="quarter" idx="11"/>
          </p:nvPr>
        </p:nvSpPr>
        <p:spPr/>
        <p:txBody>
          <a:bodyPr/>
          <a:lstStyle/>
          <a:p>
            <a:endParaRPr lang="en-PH"/>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78E5CD4-B8A6-48D8-91DD-EEBF59BEBCAD}" type="slidenum">
              <a:rPr lang="en-PH" smtClean="0"/>
              <a:t>‹#›</a:t>
            </a:fld>
            <a:endParaRPr lang="en-PH"/>
          </a:p>
        </p:txBody>
      </p:sp>
    </p:spTree>
    <p:extLst>
      <p:ext uri="{BB962C8B-B14F-4D97-AF65-F5344CB8AC3E}">
        <p14:creationId xmlns:p14="http://schemas.microsoft.com/office/powerpoint/2010/main" val="2970662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1352C11-BCEA-4AF8-948D-363E49F0D7F3}" type="datetimeFigureOut">
              <a:rPr lang="en-PH" smtClean="0"/>
              <a:t>6/19/2026</a:t>
            </a:fld>
            <a:endParaRPr lang="en-PH"/>
          </a:p>
        </p:txBody>
      </p:sp>
      <p:sp>
        <p:nvSpPr>
          <p:cNvPr id="5" name="Footer Placeholder 4"/>
          <p:cNvSpPr>
            <a:spLocks noGrp="1"/>
          </p:cNvSpPr>
          <p:nvPr>
            <p:ph type="ftr" sz="quarter" idx="11"/>
          </p:nvPr>
        </p:nvSpPr>
        <p:spPr/>
        <p:txBody>
          <a:bodyPr/>
          <a:lstStyle/>
          <a:p>
            <a:endParaRPr lang="en-PH"/>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78E5CD4-B8A6-48D8-91DD-EEBF59BEBCAD}" type="slidenum">
              <a:rPr lang="en-PH" smtClean="0"/>
              <a:t>‹#›</a:t>
            </a:fld>
            <a:endParaRPr lang="en-PH"/>
          </a:p>
        </p:txBody>
      </p:sp>
    </p:spTree>
    <p:extLst>
      <p:ext uri="{BB962C8B-B14F-4D97-AF65-F5344CB8AC3E}">
        <p14:creationId xmlns:p14="http://schemas.microsoft.com/office/powerpoint/2010/main" val="28414705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1352C11-BCEA-4AF8-948D-363E49F0D7F3}" type="datetimeFigureOut">
              <a:rPr lang="en-PH" smtClean="0"/>
              <a:t>6/19/2026</a:t>
            </a:fld>
            <a:endParaRPr lang="en-PH"/>
          </a:p>
        </p:txBody>
      </p:sp>
      <p:sp>
        <p:nvSpPr>
          <p:cNvPr id="5" name="Footer Placeholder 4"/>
          <p:cNvSpPr>
            <a:spLocks noGrp="1"/>
          </p:cNvSpPr>
          <p:nvPr>
            <p:ph type="ftr" sz="quarter" idx="11"/>
          </p:nvPr>
        </p:nvSpPr>
        <p:spPr/>
        <p:txBody>
          <a:bodyPr/>
          <a:lstStyle/>
          <a:p>
            <a:endParaRPr lang="en-PH"/>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78E5CD4-B8A6-48D8-91DD-EEBF59BEBCAD}" type="slidenum">
              <a:rPr lang="en-PH" smtClean="0"/>
              <a:t>‹#›</a:t>
            </a:fld>
            <a:endParaRPr lang="en-PH"/>
          </a:p>
        </p:txBody>
      </p:sp>
    </p:spTree>
    <p:extLst>
      <p:ext uri="{BB962C8B-B14F-4D97-AF65-F5344CB8AC3E}">
        <p14:creationId xmlns:p14="http://schemas.microsoft.com/office/powerpoint/2010/main" val="34797907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352C11-BCEA-4AF8-948D-363E49F0D7F3}" type="datetimeFigureOut">
              <a:rPr lang="en-PH" smtClean="0"/>
              <a:t>6/19/2026</a:t>
            </a:fld>
            <a:endParaRPr lang="en-PH"/>
          </a:p>
        </p:txBody>
      </p:sp>
      <p:sp>
        <p:nvSpPr>
          <p:cNvPr id="5" name="Footer Placeholder 4"/>
          <p:cNvSpPr>
            <a:spLocks noGrp="1"/>
          </p:cNvSpPr>
          <p:nvPr>
            <p:ph type="ftr" sz="quarter" idx="11"/>
          </p:nvPr>
        </p:nvSpPr>
        <p:spPr/>
        <p:txBody>
          <a:bodyPr/>
          <a:lstStyle/>
          <a:p>
            <a:endParaRPr lang="en-PH"/>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78E5CD4-B8A6-48D8-91DD-EEBF59BEBCAD}" type="slidenum">
              <a:rPr lang="en-PH" smtClean="0"/>
              <a:t>‹#›</a:t>
            </a:fld>
            <a:endParaRPr lang="en-PH"/>
          </a:p>
        </p:txBody>
      </p:sp>
    </p:spTree>
    <p:extLst>
      <p:ext uri="{BB962C8B-B14F-4D97-AF65-F5344CB8AC3E}">
        <p14:creationId xmlns:p14="http://schemas.microsoft.com/office/powerpoint/2010/main" val="18130112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1352C11-BCEA-4AF8-948D-363E49F0D7F3}" type="datetimeFigureOut">
              <a:rPr lang="en-PH" smtClean="0"/>
              <a:t>6/19/2026</a:t>
            </a:fld>
            <a:endParaRPr lang="en-PH"/>
          </a:p>
        </p:txBody>
      </p:sp>
      <p:sp>
        <p:nvSpPr>
          <p:cNvPr id="8" name="Footer Placeholder 7"/>
          <p:cNvSpPr>
            <a:spLocks noGrp="1"/>
          </p:cNvSpPr>
          <p:nvPr>
            <p:ph type="ftr" sz="quarter" idx="11"/>
          </p:nvPr>
        </p:nvSpPr>
        <p:spPr/>
        <p:txBody>
          <a:bodyPr/>
          <a:lstStyle/>
          <a:p>
            <a:endParaRPr lang="en-PH"/>
          </a:p>
        </p:txBody>
      </p:sp>
      <p:sp>
        <p:nvSpPr>
          <p:cNvPr id="9" name="Slide Number Placeholder 8"/>
          <p:cNvSpPr>
            <a:spLocks noGrp="1"/>
          </p:cNvSpPr>
          <p:nvPr>
            <p:ph type="sldNum" sz="quarter" idx="12"/>
          </p:nvPr>
        </p:nvSpPr>
        <p:spPr/>
        <p:txBody>
          <a:bodyPr/>
          <a:lstStyle/>
          <a:p>
            <a:fld id="{B78E5CD4-B8A6-48D8-91DD-EEBF59BEBCAD}" type="slidenum">
              <a:rPr lang="en-PH" smtClean="0"/>
              <a:t>‹#›</a:t>
            </a:fld>
            <a:endParaRPr lang="en-PH"/>
          </a:p>
        </p:txBody>
      </p:sp>
    </p:spTree>
    <p:extLst>
      <p:ext uri="{BB962C8B-B14F-4D97-AF65-F5344CB8AC3E}">
        <p14:creationId xmlns:p14="http://schemas.microsoft.com/office/powerpoint/2010/main" val="7430159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1352C11-BCEA-4AF8-948D-363E49F0D7F3}" type="datetimeFigureOut">
              <a:rPr lang="en-PH" smtClean="0"/>
              <a:t>6/19/2026</a:t>
            </a:fld>
            <a:endParaRPr lang="en-PH"/>
          </a:p>
        </p:txBody>
      </p:sp>
      <p:sp>
        <p:nvSpPr>
          <p:cNvPr id="8" name="Footer Placeholder 7"/>
          <p:cNvSpPr>
            <a:spLocks noGrp="1"/>
          </p:cNvSpPr>
          <p:nvPr>
            <p:ph type="ftr" sz="quarter" idx="11"/>
          </p:nvPr>
        </p:nvSpPr>
        <p:spPr>
          <a:xfrm>
            <a:off x="561111" y="6391838"/>
            <a:ext cx="3644282" cy="304801"/>
          </a:xfrm>
        </p:spPr>
        <p:txBody>
          <a:bodyPr/>
          <a:lstStyle/>
          <a:p>
            <a:endParaRPr lang="en-PH"/>
          </a:p>
        </p:txBody>
      </p:sp>
      <p:sp>
        <p:nvSpPr>
          <p:cNvPr id="9" name="Slide Number Placeholder 8"/>
          <p:cNvSpPr>
            <a:spLocks noGrp="1"/>
          </p:cNvSpPr>
          <p:nvPr>
            <p:ph type="sldNum" sz="quarter" idx="12"/>
          </p:nvPr>
        </p:nvSpPr>
        <p:spPr/>
        <p:txBody>
          <a:bodyPr/>
          <a:lstStyle/>
          <a:p>
            <a:fld id="{B78E5CD4-B8A6-48D8-91DD-EEBF59BEBCAD}" type="slidenum">
              <a:rPr lang="en-PH" smtClean="0"/>
              <a:t>‹#›</a:t>
            </a:fld>
            <a:endParaRPr lang="en-PH"/>
          </a:p>
        </p:txBody>
      </p:sp>
    </p:spTree>
    <p:extLst>
      <p:ext uri="{BB962C8B-B14F-4D97-AF65-F5344CB8AC3E}">
        <p14:creationId xmlns:p14="http://schemas.microsoft.com/office/powerpoint/2010/main" val="37578479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41352C11-BCEA-4AF8-948D-363E49F0D7F3}" type="datetimeFigureOut">
              <a:rPr lang="en-PH" smtClean="0"/>
              <a:t>6/19/2026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B78E5CD4-B8A6-48D8-91DD-EEBF59BEBCAD}" type="slidenum">
              <a:rPr lang="en-PH" smtClean="0"/>
              <a:t>‹#›</a:t>
            </a:fld>
            <a:endParaRPr lang="en-PH"/>
          </a:p>
        </p:txBody>
      </p:sp>
    </p:spTree>
    <p:extLst>
      <p:ext uri="{BB962C8B-B14F-4D97-AF65-F5344CB8AC3E}">
        <p14:creationId xmlns:p14="http://schemas.microsoft.com/office/powerpoint/2010/main" val="25175549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41352C11-BCEA-4AF8-948D-363E49F0D7F3}" type="datetimeFigureOut">
              <a:rPr lang="en-PH" smtClean="0"/>
              <a:t>6/19/2026</a:t>
            </a:fld>
            <a:endParaRPr lang="en-PH"/>
          </a:p>
        </p:txBody>
      </p:sp>
      <p:sp>
        <p:nvSpPr>
          <p:cNvPr id="5" name="Footer Placeholder 4"/>
          <p:cNvSpPr>
            <a:spLocks noGrp="1"/>
          </p:cNvSpPr>
          <p:nvPr>
            <p:ph type="ftr" sz="quarter" idx="11"/>
          </p:nvPr>
        </p:nvSpPr>
        <p:spPr/>
        <p:txBody>
          <a:bodyPr/>
          <a:lstStyle/>
          <a:p>
            <a:endParaRPr lang="en-PH"/>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78E5CD4-B8A6-48D8-91DD-EEBF59BEBCAD}" type="slidenum">
              <a:rPr lang="en-PH" smtClean="0"/>
              <a:t>‹#›</a:t>
            </a:fld>
            <a:endParaRPr lang="en-PH"/>
          </a:p>
        </p:txBody>
      </p:sp>
    </p:spTree>
    <p:extLst>
      <p:ext uri="{BB962C8B-B14F-4D97-AF65-F5344CB8AC3E}">
        <p14:creationId xmlns:p14="http://schemas.microsoft.com/office/powerpoint/2010/main" val="41895388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41352C11-BCEA-4AF8-948D-363E49F0D7F3}" type="datetimeFigureOut">
              <a:rPr lang="en-PH" smtClean="0"/>
              <a:t>6/19/2026</a:t>
            </a:fld>
            <a:endParaRPr lang="en-PH"/>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PH"/>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B78E5CD4-B8A6-48D8-91DD-EEBF59BEBCAD}" type="slidenum">
              <a:rPr lang="en-PH" smtClean="0"/>
              <a:t>‹#›</a:t>
            </a:fld>
            <a:endParaRPr lang="en-PH"/>
          </a:p>
        </p:txBody>
      </p:sp>
    </p:spTree>
    <p:extLst>
      <p:ext uri="{BB962C8B-B14F-4D97-AF65-F5344CB8AC3E}">
        <p14:creationId xmlns:p14="http://schemas.microsoft.com/office/powerpoint/2010/main" val="29408709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145FC-8876-E427-E426-8634D925A27D}"/>
              </a:ext>
            </a:extLst>
          </p:cNvPr>
          <p:cNvSpPr>
            <a:spLocks noGrp="1"/>
          </p:cNvSpPr>
          <p:nvPr>
            <p:ph type="ctrTitle"/>
          </p:nvPr>
        </p:nvSpPr>
        <p:spPr>
          <a:xfrm>
            <a:off x="585215" y="1318099"/>
            <a:ext cx="11021568" cy="2449259"/>
          </a:xfrm>
        </p:spPr>
        <p:txBody>
          <a:bodyPr>
            <a:normAutofit fontScale="90000"/>
          </a:bodyPr>
          <a:lstStyle/>
          <a:p>
            <a:pPr algn="ctr"/>
            <a:r>
              <a:rPr lang="en-PH" b="1" dirty="0"/>
              <a:t>EduGuide PH: An AI-Powered Study and Career Guidance System</a:t>
            </a:r>
            <a:br>
              <a:rPr lang="en-PH" dirty="0"/>
            </a:br>
            <a:r>
              <a:rPr lang="en-PH" b="1" dirty="0"/>
              <a:t>Amigo School of </a:t>
            </a:r>
            <a:r>
              <a:rPr lang="en-PH" b="1" dirty="0" err="1"/>
              <a:t>Calinan</a:t>
            </a:r>
            <a:r>
              <a:rPr lang="en-PH" b="1" dirty="0"/>
              <a:t>, Inc.</a:t>
            </a:r>
            <a:endParaRPr lang="en-PH" dirty="0"/>
          </a:p>
        </p:txBody>
      </p:sp>
      <p:sp>
        <p:nvSpPr>
          <p:cNvPr id="3" name="Subtitle 2">
            <a:extLst>
              <a:ext uri="{FF2B5EF4-FFF2-40B4-BE49-F238E27FC236}">
                <a16:creationId xmlns:a16="http://schemas.microsoft.com/office/drawing/2014/main" id="{77B20F78-6C77-C126-2614-6D0E8C472A36}"/>
              </a:ext>
            </a:extLst>
          </p:cNvPr>
          <p:cNvSpPr>
            <a:spLocks noGrp="1"/>
          </p:cNvSpPr>
          <p:nvPr>
            <p:ph type="subTitle" idx="1"/>
          </p:nvPr>
        </p:nvSpPr>
        <p:spPr>
          <a:xfrm>
            <a:off x="3372493" y="4315271"/>
            <a:ext cx="5447013" cy="861420"/>
          </a:xfrm>
        </p:spPr>
        <p:txBody>
          <a:bodyPr>
            <a:normAutofit fontScale="25000" lnSpcReduction="20000"/>
          </a:bodyPr>
          <a:lstStyle/>
          <a:p>
            <a:pPr algn="ctr"/>
            <a:r>
              <a:rPr lang="en-PH" sz="6400" b="1" dirty="0">
                <a:solidFill>
                  <a:schemeClr val="bg1"/>
                </a:solidFill>
              </a:rPr>
              <a:t>Researchers:</a:t>
            </a:r>
            <a:endParaRPr lang="en-PH" sz="6400" dirty="0">
              <a:solidFill>
                <a:schemeClr val="bg1"/>
              </a:solidFill>
            </a:endParaRPr>
          </a:p>
          <a:p>
            <a:pPr algn="ctr"/>
            <a:r>
              <a:rPr lang="en-PH" sz="6400" dirty="0">
                <a:solidFill>
                  <a:schemeClr val="bg1"/>
                </a:solidFill>
              </a:rPr>
              <a:t>Garri Clyde Nakano</a:t>
            </a:r>
          </a:p>
          <a:p>
            <a:pPr algn="ctr"/>
            <a:r>
              <a:rPr lang="en-PH" sz="6400" dirty="0">
                <a:solidFill>
                  <a:schemeClr val="bg1"/>
                </a:solidFill>
              </a:rPr>
              <a:t>Elijah Drex </a:t>
            </a:r>
            <a:r>
              <a:rPr lang="en-PH" sz="6400" dirty="0" err="1">
                <a:solidFill>
                  <a:schemeClr val="bg1"/>
                </a:solidFill>
              </a:rPr>
              <a:t>Estorco</a:t>
            </a:r>
            <a:endParaRPr lang="en-PH" sz="6400" dirty="0">
              <a:solidFill>
                <a:schemeClr val="bg1"/>
              </a:solidFill>
            </a:endParaRPr>
          </a:p>
          <a:p>
            <a:pPr algn="ctr"/>
            <a:r>
              <a:rPr lang="en-PH" sz="6400" dirty="0">
                <a:solidFill>
                  <a:schemeClr val="bg1"/>
                </a:solidFill>
              </a:rPr>
              <a:t>Mark Tristan Fronteras</a:t>
            </a:r>
          </a:p>
          <a:p>
            <a:endParaRPr lang="en-PH" dirty="0"/>
          </a:p>
        </p:txBody>
      </p:sp>
    </p:spTree>
    <p:extLst>
      <p:ext uri="{BB962C8B-B14F-4D97-AF65-F5344CB8AC3E}">
        <p14:creationId xmlns:p14="http://schemas.microsoft.com/office/powerpoint/2010/main" val="24092000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CB025-B44D-4933-741C-14F67C94F48D}"/>
              </a:ext>
            </a:extLst>
          </p:cNvPr>
          <p:cNvSpPr>
            <a:spLocks noGrp="1"/>
          </p:cNvSpPr>
          <p:nvPr>
            <p:ph type="title"/>
          </p:nvPr>
        </p:nvSpPr>
        <p:spPr/>
        <p:txBody>
          <a:bodyPr/>
          <a:lstStyle/>
          <a:p>
            <a:r>
              <a:rPr lang="en-PH" b="1" dirty="0"/>
              <a:t>PRESENTATION ROADMAP</a:t>
            </a:r>
            <a:br>
              <a:rPr lang="en-PH" b="1" dirty="0"/>
            </a:br>
            <a:endParaRPr lang="en-PH" dirty="0"/>
          </a:p>
        </p:txBody>
      </p:sp>
      <p:sp>
        <p:nvSpPr>
          <p:cNvPr id="3" name="Content Placeholder 2">
            <a:extLst>
              <a:ext uri="{FF2B5EF4-FFF2-40B4-BE49-F238E27FC236}">
                <a16:creationId xmlns:a16="http://schemas.microsoft.com/office/drawing/2014/main" id="{B0C68832-E209-8830-DD34-2A1D30DC4D08}"/>
              </a:ext>
            </a:extLst>
          </p:cNvPr>
          <p:cNvSpPr>
            <a:spLocks noGrp="1"/>
          </p:cNvSpPr>
          <p:nvPr>
            <p:ph idx="1"/>
          </p:nvPr>
        </p:nvSpPr>
        <p:spPr>
          <a:xfrm>
            <a:off x="1154955" y="2603500"/>
            <a:ext cx="4941046" cy="3416300"/>
          </a:xfrm>
        </p:spPr>
        <p:txBody>
          <a:bodyPr>
            <a:normAutofit lnSpcReduction="10000"/>
          </a:bodyPr>
          <a:lstStyle/>
          <a:p>
            <a:r>
              <a:rPr lang="en-PH" b="1" dirty="0"/>
              <a:t>Part I: Analysis</a:t>
            </a:r>
            <a:endParaRPr lang="en-PH" dirty="0"/>
          </a:p>
          <a:p>
            <a:r>
              <a:rPr lang="en-PH" dirty="0"/>
              <a:t>Organization Background</a:t>
            </a:r>
          </a:p>
          <a:p>
            <a:r>
              <a:rPr lang="en-PH" dirty="0"/>
              <a:t>Business Environment</a:t>
            </a:r>
          </a:p>
          <a:p>
            <a:r>
              <a:rPr lang="en-PH" dirty="0"/>
              <a:t>Current System Overview</a:t>
            </a:r>
          </a:p>
          <a:p>
            <a:r>
              <a:rPr lang="en-PH" dirty="0"/>
              <a:t>Problem Statement (PIECES)</a:t>
            </a:r>
          </a:p>
          <a:p>
            <a:r>
              <a:rPr lang="en-PH" dirty="0"/>
              <a:t>Critical Success Factors</a:t>
            </a:r>
          </a:p>
          <a:p>
            <a:r>
              <a:rPr lang="en-PH" dirty="0"/>
              <a:t>Objectives</a:t>
            </a:r>
          </a:p>
          <a:p>
            <a:r>
              <a:rPr lang="en-PH" dirty="0"/>
              <a:t>Feasible Alternatives</a:t>
            </a:r>
          </a:p>
          <a:p>
            <a:r>
              <a:rPr lang="en-PH" dirty="0"/>
              <a:t>Feasibility Analysis</a:t>
            </a:r>
          </a:p>
          <a:p>
            <a:endParaRPr lang="en-PH" dirty="0"/>
          </a:p>
        </p:txBody>
      </p:sp>
      <p:sp>
        <p:nvSpPr>
          <p:cNvPr id="4" name="Content Placeholder 2">
            <a:extLst>
              <a:ext uri="{FF2B5EF4-FFF2-40B4-BE49-F238E27FC236}">
                <a16:creationId xmlns:a16="http://schemas.microsoft.com/office/drawing/2014/main" id="{75B98AA6-FAF2-CE92-181C-0E7AF497F40A}"/>
              </a:ext>
            </a:extLst>
          </p:cNvPr>
          <p:cNvSpPr txBox="1">
            <a:spLocks/>
          </p:cNvSpPr>
          <p:nvPr/>
        </p:nvSpPr>
        <p:spPr>
          <a:xfrm>
            <a:off x="6559059" y="2603500"/>
            <a:ext cx="4941046" cy="34163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n-PH" b="1"/>
              <a:t>Part II: Design</a:t>
            </a:r>
            <a:endParaRPr lang="en-PH"/>
          </a:p>
          <a:p>
            <a:r>
              <a:rPr lang="en-PH"/>
              <a:t>Proposed Solution</a:t>
            </a:r>
          </a:p>
          <a:p>
            <a:r>
              <a:rPr lang="en-PH"/>
              <a:t>Functional Requirements</a:t>
            </a:r>
          </a:p>
          <a:p>
            <a:r>
              <a:rPr lang="en-PH"/>
              <a:t>Use Case Diagram</a:t>
            </a:r>
          </a:p>
          <a:p>
            <a:r>
              <a:rPr lang="en-PH"/>
              <a:t>Proposed System Architecture</a:t>
            </a:r>
          </a:p>
          <a:p>
            <a:r>
              <a:rPr lang="en-PH"/>
              <a:t>Database Design</a:t>
            </a:r>
          </a:p>
          <a:p>
            <a:r>
              <a:rPr lang="en-PH"/>
              <a:t>Technology Stack</a:t>
            </a:r>
          </a:p>
          <a:p>
            <a:r>
              <a:rPr lang="en-PH"/>
              <a:t>User Interface Design</a:t>
            </a:r>
          </a:p>
        </p:txBody>
      </p:sp>
    </p:spTree>
    <p:extLst>
      <p:ext uri="{BB962C8B-B14F-4D97-AF65-F5344CB8AC3E}">
        <p14:creationId xmlns:p14="http://schemas.microsoft.com/office/powerpoint/2010/main" val="3361503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4D77C-D8ED-B65A-38F3-D705C7B67871}"/>
              </a:ext>
            </a:extLst>
          </p:cNvPr>
          <p:cNvSpPr>
            <a:spLocks noGrp="1"/>
          </p:cNvSpPr>
          <p:nvPr>
            <p:ph type="title"/>
          </p:nvPr>
        </p:nvSpPr>
        <p:spPr>
          <a:xfrm>
            <a:off x="1154954" y="772500"/>
            <a:ext cx="8761413" cy="706964"/>
          </a:xfrm>
        </p:spPr>
        <p:txBody>
          <a:bodyPr/>
          <a:lstStyle/>
          <a:p>
            <a:r>
              <a:rPr lang="en-PH" b="1" dirty="0"/>
              <a:t>PRESENTATION ROADMAP</a:t>
            </a:r>
            <a:endParaRPr lang="en-PH" dirty="0"/>
          </a:p>
        </p:txBody>
      </p:sp>
      <p:sp>
        <p:nvSpPr>
          <p:cNvPr id="3" name="Content Placeholder 2">
            <a:extLst>
              <a:ext uri="{FF2B5EF4-FFF2-40B4-BE49-F238E27FC236}">
                <a16:creationId xmlns:a16="http://schemas.microsoft.com/office/drawing/2014/main" id="{5E9F4C8C-7F79-44D1-13EB-AB35120F7C47}"/>
              </a:ext>
            </a:extLst>
          </p:cNvPr>
          <p:cNvSpPr>
            <a:spLocks noGrp="1"/>
          </p:cNvSpPr>
          <p:nvPr>
            <p:ph idx="1"/>
          </p:nvPr>
        </p:nvSpPr>
        <p:spPr>
          <a:xfrm>
            <a:off x="1154955" y="2603500"/>
            <a:ext cx="4432030" cy="3416300"/>
          </a:xfrm>
        </p:spPr>
        <p:txBody>
          <a:bodyPr/>
          <a:lstStyle/>
          <a:p>
            <a:r>
              <a:rPr lang="en-PH" b="1" dirty="0"/>
              <a:t>Part III: Development</a:t>
            </a:r>
            <a:endParaRPr lang="en-PH" dirty="0"/>
          </a:p>
          <a:p>
            <a:r>
              <a:rPr lang="en-PH" dirty="0"/>
              <a:t>System Development</a:t>
            </a:r>
          </a:p>
          <a:p>
            <a:r>
              <a:rPr lang="en-PH" dirty="0"/>
              <a:t>Development Methodology</a:t>
            </a:r>
          </a:p>
          <a:p>
            <a:r>
              <a:rPr lang="en-PH" dirty="0"/>
              <a:t>Modules Developed</a:t>
            </a:r>
          </a:p>
          <a:p>
            <a:r>
              <a:rPr lang="en-PH" dirty="0"/>
              <a:t>Key Features Demo</a:t>
            </a:r>
          </a:p>
          <a:p>
            <a:endParaRPr lang="en-PH" dirty="0"/>
          </a:p>
        </p:txBody>
      </p:sp>
      <p:sp>
        <p:nvSpPr>
          <p:cNvPr id="4" name="Content Placeholder 2">
            <a:extLst>
              <a:ext uri="{FF2B5EF4-FFF2-40B4-BE49-F238E27FC236}">
                <a16:creationId xmlns:a16="http://schemas.microsoft.com/office/drawing/2014/main" id="{D4CCF0BE-6105-8BB2-006B-F76C1A4523FE}"/>
              </a:ext>
            </a:extLst>
          </p:cNvPr>
          <p:cNvSpPr txBox="1">
            <a:spLocks/>
          </p:cNvSpPr>
          <p:nvPr/>
        </p:nvSpPr>
        <p:spPr>
          <a:xfrm>
            <a:off x="6605015" y="2603500"/>
            <a:ext cx="4432030" cy="3416300"/>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n-PH" b="1"/>
              <a:t>Part IV: Testing &amp; Results</a:t>
            </a:r>
            <a:endParaRPr lang="en-PH"/>
          </a:p>
          <a:p>
            <a:r>
              <a:rPr lang="en-PH"/>
              <a:t>Testing Methodology</a:t>
            </a:r>
          </a:p>
          <a:p>
            <a:r>
              <a:rPr lang="en-PH"/>
              <a:t>Test Cases</a:t>
            </a:r>
          </a:p>
          <a:p>
            <a:r>
              <a:rPr lang="en-PH"/>
              <a:t>User Acceptance Testing</a:t>
            </a:r>
          </a:p>
          <a:p>
            <a:r>
              <a:rPr lang="en-PH"/>
              <a:t>UAT Results</a:t>
            </a:r>
          </a:p>
          <a:p>
            <a:r>
              <a:rPr lang="en-PH"/>
              <a:t>Findings</a:t>
            </a:r>
          </a:p>
          <a:p>
            <a:r>
              <a:rPr lang="en-PH"/>
              <a:t>Conclusions</a:t>
            </a:r>
          </a:p>
          <a:p>
            <a:r>
              <a:rPr lang="en-PH"/>
              <a:t>Recommendations</a:t>
            </a:r>
          </a:p>
          <a:p>
            <a:r>
              <a:rPr lang="en-PH"/>
              <a:t>Project Contributions</a:t>
            </a:r>
          </a:p>
        </p:txBody>
      </p:sp>
    </p:spTree>
    <p:extLst>
      <p:ext uri="{BB962C8B-B14F-4D97-AF65-F5344CB8AC3E}">
        <p14:creationId xmlns:p14="http://schemas.microsoft.com/office/powerpoint/2010/main" val="41581785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D182C-350C-A7F8-A8EE-EA38B23395A6}"/>
              </a:ext>
            </a:extLst>
          </p:cNvPr>
          <p:cNvSpPr>
            <a:spLocks noGrp="1"/>
          </p:cNvSpPr>
          <p:nvPr>
            <p:ph type="title"/>
          </p:nvPr>
        </p:nvSpPr>
        <p:spPr/>
        <p:txBody>
          <a:bodyPr/>
          <a:lstStyle/>
          <a:p>
            <a:r>
              <a:rPr lang="en-PH" b="1" dirty="0"/>
              <a:t>ORGANIZATION BACKGROUND</a:t>
            </a:r>
            <a:br>
              <a:rPr lang="en-PH" b="1" dirty="0"/>
            </a:br>
            <a:endParaRPr lang="en-PH" dirty="0"/>
          </a:p>
        </p:txBody>
      </p:sp>
      <p:sp>
        <p:nvSpPr>
          <p:cNvPr id="3" name="Content Placeholder 2">
            <a:extLst>
              <a:ext uri="{FF2B5EF4-FFF2-40B4-BE49-F238E27FC236}">
                <a16:creationId xmlns:a16="http://schemas.microsoft.com/office/drawing/2014/main" id="{8FF2F014-0AF2-FFF7-43EC-73A7CA291A52}"/>
              </a:ext>
            </a:extLst>
          </p:cNvPr>
          <p:cNvSpPr>
            <a:spLocks noGrp="1"/>
          </p:cNvSpPr>
          <p:nvPr>
            <p:ph idx="1"/>
          </p:nvPr>
        </p:nvSpPr>
        <p:spPr/>
        <p:txBody>
          <a:bodyPr/>
          <a:lstStyle/>
          <a:p>
            <a:r>
              <a:rPr lang="en-PH" b="1" dirty="0"/>
              <a:t>Business Profile:</a:t>
            </a:r>
            <a:endParaRPr lang="en-PH" dirty="0"/>
          </a:p>
          <a:p>
            <a:r>
              <a:rPr lang="en-PH" b="1" dirty="0"/>
              <a:t>Name:</a:t>
            </a:r>
            <a:r>
              <a:rPr lang="en-PH" dirty="0"/>
              <a:t> Amigo School of </a:t>
            </a:r>
            <a:r>
              <a:rPr lang="en-PH" dirty="0" err="1"/>
              <a:t>Calinan</a:t>
            </a:r>
            <a:r>
              <a:rPr lang="en-PH" dirty="0"/>
              <a:t>, Inc. (ASCI)</a:t>
            </a:r>
          </a:p>
          <a:p>
            <a:r>
              <a:rPr lang="en-PH" b="1" dirty="0"/>
              <a:t>Location:</a:t>
            </a:r>
            <a:r>
              <a:rPr lang="en-PH" dirty="0"/>
              <a:t> Dr. de Lara Street, </a:t>
            </a:r>
            <a:r>
              <a:rPr lang="en-PH" dirty="0" err="1"/>
              <a:t>Calinan</a:t>
            </a:r>
            <a:r>
              <a:rPr lang="en-PH" dirty="0"/>
              <a:t>, Davao City</a:t>
            </a:r>
          </a:p>
          <a:p>
            <a:r>
              <a:rPr lang="en-PH" b="1" dirty="0"/>
              <a:t>Type:</a:t>
            </a:r>
            <a:r>
              <a:rPr lang="en-PH" dirty="0"/>
              <a:t> Private Educational Institution</a:t>
            </a:r>
          </a:p>
          <a:p>
            <a:r>
              <a:rPr lang="en-PH" b="1" dirty="0"/>
              <a:t>Levels Offered:</a:t>
            </a:r>
            <a:r>
              <a:rPr lang="en-PH" dirty="0"/>
              <a:t> Kindergarten through Grade 12 (K-12)</a:t>
            </a:r>
          </a:p>
          <a:p>
            <a:r>
              <a:rPr lang="en-PH" b="1" dirty="0"/>
              <a:t>Status:</a:t>
            </a:r>
            <a:r>
              <a:rPr lang="en-PH" dirty="0"/>
              <a:t> Registered business entity</a:t>
            </a:r>
          </a:p>
          <a:p>
            <a:r>
              <a:rPr lang="en-PH" b="1" dirty="0"/>
              <a:t>Workforce:</a:t>
            </a:r>
            <a:r>
              <a:rPr lang="en-PH" dirty="0"/>
              <a:t> 20-30 teaching and non-teaching personnel</a:t>
            </a:r>
          </a:p>
          <a:p>
            <a:r>
              <a:rPr lang="en-PH" b="1" dirty="0"/>
              <a:t>Student Population:</a:t>
            </a:r>
            <a:r>
              <a:rPr lang="en-PH" dirty="0"/>
              <a:t> Kindergarten to Grade 12</a:t>
            </a:r>
          </a:p>
          <a:p>
            <a:endParaRPr lang="en-PH" dirty="0"/>
          </a:p>
        </p:txBody>
      </p:sp>
    </p:spTree>
    <p:extLst>
      <p:ext uri="{BB962C8B-B14F-4D97-AF65-F5344CB8AC3E}">
        <p14:creationId xmlns:p14="http://schemas.microsoft.com/office/powerpoint/2010/main" val="365189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82EF0-7AF8-159C-CD20-F3D8F24F7B12}"/>
              </a:ext>
            </a:extLst>
          </p:cNvPr>
          <p:cNvSpPr>
            <a:spLocks noGrp="1"/>
          </p:cNvSpPr>
          <p:nvPr>
            <p:ph type="title"/>
          </p:nvPr>
        </p:nvSpPr>
        <p:spPr/>
        <p:txBody>
          <a:bodyPr/>
          <a:lstStyle/>
          <a:p>
            <a:r>
              <a:rPr lang="en-PH" b="1" dirty="0"/>
              <a:t>ORGANIZATION BACKGROUND</a:t>
            </a:r>
            <a:br>
              <a:rPr lang="en-PH" b="1" dirty="0"/>
            </a:br>
            <a:endParaRPr lang="en-PH" dirty="0"/>
          </a:p>
        </p:txBody>
      </p:sp>
      <p:sp>
        <p:nvSpPr>
          <p:cNvPr id="3" name="Content Placeholder 2">
            <a:extLst>
              <a:ext uri="{FF2B5EF4-FFF2-40B4-BE49-F238E27FC236}">
                <a16:creationId xmlns:a16="http://schemas.microsoft.com/office/drawing/2014/main" id="{7E3F8F52-FAC1-F6DF-5107-2D1638A548BA}"/>
              </a:ext>
            </a:extLst>
          </p:cNvPr>
          <p:cNvSpPr>
            <a:spLocks noGrp="1"/>
          </p:cNvSpPr>
          <p:nvPr>
            <p:ph idx="1"/>
          </p:nvPr>
        </p:nvSpPr>
        <p:spPr/>
        <p:txBody>
          <a:bodyPr/>
          <a:lstStyle/>
          <a:p>
            <a:r>
              <a:rPr lang="en-PH" b="1" dirty="0"/>
              <a:t>Vision:</a:t>
            </a:r>
            <a:br>
              <a:rPr lang="en-PH" dirty="0"/>
            </a:br>
            <a:r>
              <a:rPr lang="en-PH" dirty="0"/>
              <a:t>ASCI dreams of its students who passionately love their country and whose values and competencies enable them to realize their full potential and contribute meaningfully to building the nation.</a:t>
            </a:r>
          </a:p>
          <a:p>
            <a:r>
              <a:rPr lang="en-PH" b="1" dirty="0"/>
              <a:t>Mission:</a:t>
            </a:r>
            <a:br>
              <a:rPr lang="en-PH" dirty="0"/>
            </a:br>
            <a:r>
              <a:rPr lang="en-PH" dirty="0"/>
              <a:t>ASCI protects and promotes the right of every student to quality, equitable, culture-based, and complete basic education where students learn in a child-friendly, gender-sensitive, safe, and motivating environment.</a:t>
            </a:r>
          </a:p>
          <a:p>
            <a:endParaRPr lang="en-PH" dirty="0"/>
          </a:p>
        </p:txBody>
      </p:sp>
    </p:spTree>
    <p:extLst>
      <p:ext uri="{BB962C8B-B14F-4D97-AF65-F5344CB8AC3E}">
        <p14:creationId xmlns:p14="http://schemas.microsoft.com/office/powerpoint/2010/main" val="8456147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5F08C-DBFC-DEE9-3107-CFE45296755A}"/>
              </a:ext>
            </a:extLst>
          </p:cNvPr>
          <p:cNvSpPr>
            <a:spLocks noGrp="1"/>
          </p:cNvSpPr>
          <p:nvPr>
            <p:ph type="title"/>
          </p:nvPr>
        </p:nvSpPr>
        <p:spPr>
          <a:xfrm>
            <a:off x="926354" y="1266276"/>
            <a:ext cx="8761413" cy="706964"/>
          </a:xfrm>
        </p:spPr>
        <p:txBody>
          <a:bodyPr/>
          <a:lstStyle/>
          <a:p>
            <a:r>
              <a:rPr lang="en-PH" b="1" dirty="0"/>
              <a:t>  ORGANIZATION BACKGROUND</a:t>
            </a:r>
            <a:br>
              <a:rPr lang="en-PH" b="1" dirty="0"/>
            </a:br>
            <a:br>
              <a:rPr lang="en-PH" b="1" dirty="0"/>
            </a:br>
            <a:endParaRPr lang="en-PH" dirty="0"/>
          </a:p>
        </p:txBody>
      </p:sp>
      <p:sp>
        <p:nvSpPr>
          <p:cNvPr id="3" name="Content Placeholder 2">
            <a:extLst>
              <a:ext uri="{FF2B5EF4-FFF2-40B4-BE49-F238E27FC236}">
                <a16:creationId xmlns:a16="http://schemas.microsoft.com/office/drawing/2014/main" id="{1525C453-6D27-A58E-7015-086F264B286B}"/>
              </a:ext>
            </a:extLst>
          </p:cNvPr>
          <p:cNvSpPr>
            <a:spLocks noGrp="1"/>
          </p:cNvSpPr>
          <p:nvPr>
            <p:ph idx="1"/>
          </p:nvPr>
        </p:nvSpPr>
        <p:spPr>
          <a:xfrm>
            <a:off x="1154955" y="2603500"/>
            <a:ext cx="4752070" cy="3416300"/>
          </a:xfrm>
        </p:spPr>
        <p:txBody>
          <a:bodyPr/>
          <a:lstStyle/>
          <a:p>
            <a:r>
              <a:rPr lang="en-PH" b="1" dirty="0"/>
              <a:t>Products/Services:</a:t>
            </a:r>
            <a:endParaRPr lang="en-PH" dirty="0"/>
          </a:p>
          <a:p>
            <a:r>
              <a:rPr lang="en-PH" dirty="0"/>
              <a:t>Basic Education (K-12)</a:t>
            </a:r>
          </a:p>
          <a:p>
            <a:r>
              <a:rPr lang="en-PH" dirty="0"/>
              <a:t>Traditional classroom instruction</a:t>
            </a:r>
          </a:p>
          <a:p>
            <a:r>
              <a:rPr lang="en-PH" dirty="0"/>
              <a:t>Manual guidance counseling services</a:t>
            </a:r>
          </a:p>
          <a:p>
            <a:r>
              <a:rPr lang="en-PH" dirty="0"/>
              <a:t>Limited ICT integration</a:t>
            </a:r>
          </a:p>
          <a:p>
            <a:endParaRPr lang="en-PH" dirty="0"/>
          </a:p>
        </p:txBody>
      </p:sp>
      <p:sp>
        <p:nvSpPr>
          <p:cNvPr id="4" name="Content Placeholder 2">
            <a:extLst>
              <a:ext uri="{FF2B5EF4-FFF2-40B4-BE49-F238E27FC236}">
                <a16:creationId xmlns:a16="http://schemas.microsoft.com/office/drawing/2014/main" id="{E343F66A-157E-FB4D-5508-37CAAA8923BF}"/>
              </a:ext>
            </a:extLst>
          </p:cNvPr>
          <p:cNvSpPr txBox="1">
            <a:spLocks/>
          </p:cNvSpPr>
          <p:nvPr/>
        </p:nvSpPr>
        <p:spPr>
          <a:xfrm>
            <a:off x="6284975" y="2603500"/>
            <a:ext cx="4752070" cy="34163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n-PH" b="1" dirty="0"/>
              <a:t>Target Users:</a:t>
            </a:r>
            <a:endParaRPr lang="en-PH" dirty="0"/>
          </a:p>
          <a:p>
            <a:r>
              <a:rPr lang="en-PH" dirty="0"/>
              <a:t>Students (Kindergarten to Grade 12)</a:t>
            </a:r>
          </a:p>
          <a:p>
            <a:r>
              <a:rPr lang="en-PH" dirty="0"/>
              <a:t>Teachers (20-30 faculty members)</a:t>
            </a:r>
          </a:p>
          <a:p>
            <a:r>
              <a:rPr lang="en-PH" dirty="0"/>
              <a:t>Guidance Counselors</a:t>
            </a:r>
          </a:p>
          <a:p>
            <a:r>
              <a:rPr lang="en-PH" dirty="0"/>
              <a:t>School Administrators</a:t>
            </a:r>
          </a:p>
          <a:p>
            <a:endParaRPr lang="en-PH" dirty="0"/>
          </a:p>
        </p:txBody>
      </p:sp>
    </p:spTree>
    <p:extLst>
      <p:ext uri="{BB962C8B-B14F-4D97-AF65-F5344CB8AC3E}">
        <p14:creationId xmlns:p14="http://schemas.microsoft.com/office/powerpoint/2010/main" val="33283180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16F67-C2D6-863E-C406-B51EA441027C}"/>
              </a:ext>
            </a:extLst>
          </p:cNvPr>
          <p:cNvSpPr>
            <a:spLocks noGrp="1"/>
          </p:cNvSpPr>
          <p:nvPr>
            <p:ph type="title"/>
          </p:nvPr>
        </p:nvSpPr>
        <p:spPr/>
        <p:txBody>
          <a:bodyPr/>
          <a:lstStyle/>
          <a:p>
            <a:r>
              <a:rPr lang="en-PH" b="1" dirty="0"/>
              <a:t>BUSINESS ENVIRONMENT</a:t>
            </a:r>
            <a:br>
              <a:rPr lang="en-PH" b="1" dirty="0"/>
            </a:br>
            <a:endParaRPr lang="en-PH" dirty="0"/>
          </a:p>
        </p:txBody>
      </p:sp>
      <p:sp>
        <p:nvSpPr>
          <p:cNvPr id="3" name="Content Placeholder 2">
            <a:extLst>
              <a:ext uri="{FF2B5EF4-FFF2-40B4-BE49-F238E27FC236}">
                <a16:creationId xmlns:a16="http://schemas.microsoft.com/office/drawing/2014/main" id="{A144676F-C084-190D-7143-29F3F45D7C79}"/>
              </a:ext>
            </a:extLst>
          </p:cNvPr>
          <p:cNvSpPr>
            <a:spLocks noGrp="1"/>
          </p:cNvSpPr>
          <p:nvPr>
            <p:ph idx="1"/>
          </p:nvPr>
        </p:nvSpPr>
        <p:spPr>
          <a:xfrm>
            <a:off x="770906" y="2603500"/>
            <a:ext cx="10512789" cy="3416300"/>
          </a:xfrm>
        </p:spPr>
        <p:txBody>
          <a:bodyPr>
            <a:normAutofit fontScale="85000" lnSpcReduction="20000"/>
          </a:bodyPr>
          <a:lstStyle/>
          <a:p>
            <a:r>
              <a:rPr lang="en-PH" b="1" dirty="0"/>
              <a:t>Industry Overview:</a:t>
            </a:r>
            <a:r>
              <a:rPr lang="en-PH" dirty="0"/>
              <a:t> The Philippine educational sector is increasingly integrating Information and Communication Technology (ICT) to enhance learning, driven by both government initiatives (e.g., DepEd Commons) and rising parent/student expectations.</a:t>
            </a:r>
          </a:p>
          <a:p>
            <a:r>
              <a:rPr lang="en-PH" b="1" dirty="0"/>
              <a:t>Current Challenges:</a:t>
            </a:r>
            <a:endParaRPr lang="en-PH" dirty="0"/>
          </a:p>
          <a:p>
            <a:pPr lvl="1"/>
            <a:r>
              <a:rPr lang="en-PH" b="1" dirty="0"/>
              <a:t>Limited Access to Tutors:</a:t>
            </a:r>
            <a:r>
              <a:rPr lang="en-PH" dirty="0"/>
              <a:t> Many students cannot afford private tutoring, creating a gap in personalized academic help.</a:t>
            </a:r>
          </a:p>
          <a:p>
            <a:pPr lvl="1"/>
            <a:r>
              <a:rPr lang="en-PH" b="1" dirty="0"/>
              <a:t>Career Guidance Needs:</a:t>
            </a:r>
            <a:r>
              <a:rPr lang="en-PH" dirty="0"/>
              <a:t> Students lack access to tools for exploring career paths aligned with their interests and strengths.</a:t>
            </a:r>
          </a:p>
          <a:p>
            <a:pPr lvl="1"/>
            <a:r>
              <a:rPr lang="en-PH" b="1" dirty="0"/>
              <a:t>Faculty &amp; Counselor Workload:</a:t>
            </a:r>
            <a:r>
              <a:rPr lang="en-PH" dirty="0"/>
              <a:t> Limited staff makes it difficult to provide individualized support to all students.</a:t>
            </a:r>
          </a:p>
          <a:p>
            <a:r>
              <a:rPr lang="en-PH" b="1" dirty="0"/>
              <a:t>Existing ICT Infrastructure:</a:t>
            </a:r>
            <a:endParaRPr lang="en-PH" dirty="0"/>
          </a:p>
          <a:p>
            <a:pPr lvl="1"/>
            <a:r>
              <a:rPr lang="en-PH" dirty="0"/>
              <a:t>Basic ICT resources (desktop PCs, computer lab with limited internet).</a:t>
            </a:r>
          </a:p>
          <a:p>
            <a:pPr lvl="1"/>
            <a:r>
              <a:rPr lang="en-PH" dirty="0"/>
              <a:t>Guidance office uses spreadsheets for manual record-keeping.</a:t>
            </a:r>
          </a:p>
          <a:p>
            <a:pPr lvl="1"/>
            <a:r>
              <a:rPr lang="en-PH" dirty="0"/>
              <a:t>No centralized digital system for academic support, tutoring, or career guidance.</a:t>
            </a:r>
          </a:p>
          <a:p>
            <a:endParaRPr lang="en-PH" dirty="0"/>
          </a:p>
        </p:txBody>
      </p:sp>
    </p:spTree>
    <p:extLst>
      <p:ext uri="{BB962C8B-B14F-4D97-AF65-F5344CB8AC3E}">
        <p14:creationId xmlns:p14="http://schemas.microsoft.com/office/powerpoint/2010/main" val="1847380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6ABCF-C63C-9C49-23E7-78C307EBBB52}"/>
              </a:ext>
            </a:extLst>
          </p:cNvPr>
          <p:cNvSpPr>
            <a:spLocks noGrp="1"/>
          </p:cNvSpPr>
          <p:nvPr>
            <p:ph type="title"/>
          </p:nvPr>
        </p:nvSpPr>
        <p:spPr/>
        <p:txBody>
          <a:bodyPr/>
          <a:lstStyle/>
          <a:p>
            <a:r>
              <a:rPr lang="en-PH" b="1" dirty="0"/>
              <a:t>CURRENT SYSTEM OVERVIEW</a:t>
            </a:r>
            <a:br>
              <a:rPr lang="en-PH" b="1" dirty="0"/>
            </a:br>
            <a:endParaRPr lang="en-PH" dirty="0"/>
          </a:p>
        </p:txBody>
      </p:sp>
      <p:sp>
        <p:nvSpPr>
          <p:cNvPr id="3" name="Content Placeholder 2">
            <a:extLst>
              <a:ext uri="{FF2B5EF4-FFF2-40B4-BE49-F238E27FC236}">
                <a16:creationId xmlns:a16="http://schemas.microsoft.com/office/drawing/2014/main" id="{23479B58-05B9-D5BA-A837-0834C0AB45C1}"/>
              </a:ext>
            </a:extLst>
          </p:cNvPr>
          <p:cNvSpPr>
            <a:spLocks noGrp="1"/>
          </p:cNvSpPr>
          <p:nvPr>
            <p:ph idx="1"/>
          </p:nvPr>
        </p:nvSpPr>
        <p:spPr>
          <a:xfrm>
            <a:off x="1154954" y="2603500"/>
            <a:ext cx="9543526" cy="3416300"/>
          </a:xfrm>
        </p:spPr>
        <p:txBody>
          <a:bodyPr>
            <a:normAutofit fontScale="77500" lnSpcReduction="20000"/>
          </a:bodyPr>
          <a:lstStyle/>
          <a:p>
            <a:pPr marL="800100" lvl="1" indent="-342900">
              <a:buFont typeface="+mj-lt"/>
              <a:buAutoNum type="arabicPeriod"/>
            </a:pPr>
            <a:r>
              <a:rPr lang="en-PH" b="1" dirty="0"/>
              <a:t>Academic Support:</a:t>
            </a:r>
            <a:r>
              <a:rPr lang="en-PH" dirty="0"/>
              <a:t> Students ask questions during or after class. If the teacher is unavailable, they consult peers or textbooks. There is no after-hours support.</a:t>
            </a:r>
          </a:p>
          <a:p>
            <a:pPr marL="800100" lvl="1" indent="-342900">
              <a:buFont typeface="+mj-lt"/>
              <a:buAutoNum type="arabicPeriod"/>
            </a:pPr>
            <a:r>
              <a:rPr lang="en-PH" b="1" dirty="0"/>
              <a:t>Career Guidance:</a:t>
            </a:r>
            <a:r>
              <a:rPr lang="en-PH" dirty="0"/>
              <a:t> Students schedule appointments with the Guidance Associate. They fill out paper-based interest inventories, and the counselor provides manual suggestions.</a:t>
            </a:r>
          </a:p>
          <a:p>
            <a:pPr>
              <a:buFont typeface="+mj-lt"/>
              <a:buAutoNum type="arabicPeriod"/>
            </a:pPr>
            <a:endParaRPr lang="en-PH" b="1" dirty="0"/>
          </a:p>
          <a:p>
            <a:pPr marL="0" indent="0">
              <a:buNone/>
            </a:pPr>
            <a:r>
              <a:rPr lang="en-PH" b="1" dirty="0"/>
              <a:t>Existing Documents:</a:t>
            </a:r>
            <a:r>
              <a:rPr lang="en-PH" dirty="0"/>
              <a:t> Printed modules, textbooks, paper-based interest inventories, and manually kept student records.</a:t>
            </a:r>
          </a:p>
          <a:p>
            <a:pPr marL="0" indent="0">
              <a:buNone/>
            </a:pPr>
            <a:r>
              <a:rPr lang="en-PH" b="1" dirty="0"/>
              <a:t>Current Pain Points:</a:t>
            </a:r>
            <a:endParaRPr lang="en-PH" dirty="0"/>
          </a:p>
          <a:p>
            <a:pPr lvl="1"/>
            <a:r>
              <a:rPr lang="en-PH" dirty="0"/>
              <a:t>Slow response times for student queries.</a:t>
            </a:r>
          </a:p>
          <a:p>
            <a:pPr lvl="1"/>
            <a:r>
              <a:rPr lang="en-PH" dirty="0"/>
              <a:t>Lack of after-hours academic support.</a:t>
            </a:r>
          </a:p>
          <a:p>
            <a:pPr lvl="1"/>
            <a:r>
              <a:rPr lang="en-PH" dirty="0"/>
              <a:t>Time-consuming, manual career counseling process.</a:t>
            </a:r>
          </a:p>
          <a:p>
            <a:pPr lvl="1"/>
            <a:r>
              <a:rPr lang="en-PH" dirty="0"/>
              <a:t>No centralized database to track common student difficulties.</a:t>
            </a:r>
          </a:p>
          <a:p>
            <a:pPr lvl="1"/>
            <a:r>
              <a:rPr lang="en-PH" dirty="0"/>
              <a:t>High reliance on manual paperwork.</a:t>
            </a:r>
          </a:p>
          <a:p>
            <a:endParaRPr lang="en-PH" dirty="0"/>
          </a:p>
        </p:txBody>
      </p:sp>
      <p:sp>
        <p:nvSpPr>
          <p:cNvPr id="5" name="TextBox 4">
            <a:extLst>
              <a:ext uri="{FF2B5EF4-FFF2-40B4-BE49-F238E27FC236}">
                <a16:creationId xmlns:a16="http://schemas.microsoft.com/office/drawing/2014/main" id="{F970EC00-821B-4C8F-0198-A50550B5D866}"/>
              </a:ext>
            </a:extLst>
          </p:cNvPr>
          <p:cNvSpPr txBox="1"/>
          <p:nvPr/>
        </p:nvSpPr>
        <p:spPr>
          <a:xfrm>
            <a:off x="1154954" y="2234168"/>
            <a:ext cx="2404872" cy="369332"/>
          </a:xfrm>
          <a:prstGeom prst="rect">
            <a:avLst/>
          </a:prstGeom>
          <a:noFill/>
        </p:spPr>
        <p:txBody>
          <a:bodyPr wrap="square" rtlCol="0">
            <a:spAutoFit/>
          </a:bodyPr>
          <a:lstStyle/>
          <a:p>
            <a:r>
              <a:rPr lang="en-PH" b="1" dirty="0"/>
              <a:t>Current Workflow:</a:t>
            </a:r>
            <a:endParaRPr lang="en-PH" dirty="0"/>
          </a:p>
        </p:txBody>
      </p:sp>
    </p:spTree>
    <p:extLst>
      <p:ext uri="{BB962C8B-B14F-4D97-AF65-F5344CB8AC3E}">
        <p14:creationId xmlns:p14="http://schemas.microsoft.com/office/powerpoint/2010/main" val="36561792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DA113-3A17-0A85-D6B2-A846B72E2AC1}"/>
              </a:ext>
            </a:extLst>
          </p:cNvPr>
          <p:cNvSpPr>
            <a:spLocks noGrp="1"/>
          </p:cNvSpPr>
          <p:nvPr>
            <p:ph type="title"/>
          </p:nvPr>
        </p:nvSpPr>
        <p:spPr/>
        <p:txBody>
          <a:bodyPr/>
          <a:lstStyle/>
          <a:p>
            <a:r>
              <a:rPr lang="en-PH" b="1" dirty="0"/>
              <a:t>CURRENT SYSTEM DIAGRAM</a:t>
            </a:r>
          </a:p>
        </p:txBody>
      </p:sp>
      <p:sp>
        <p:nvSpPr>
          <p:cNvPr id="3" name="Content Placeholder 2">
            <a:extLst>
              <a:ext uri="{FF2B5EF4-FFF2-40B4-BE49-F238E27FC236}">
                <a16:creationId xmlns:a16="http://schemas.microsoft.com/office/drawing/2014/main" id="{28A76499-1659-5604-4D77-58D198B5706F}"/>
              </a:ext>
            </a:extLst>
          </p:cNvPr>
          <p:cNvSpPr>
            <a:spLocks noGrp="1"/>
          </p:cNvSpPr>
          <p:nvPr>
            <p:ph idx="1"/>
          </p:nvPr>
        </p:nvSpPr>
        <p:spPr>
          <a:xfrm>
            <a:off x="6305963" y="2524956"/>
            <a:ext cx="2146029" cy="441452"/>
          </a:xfrm>
        </p:spPr>
        <p:txBody>
          <a:bodyPr>
            <a:normAutofit fontScale="77500" lnSpcReduction="20000"/>
          </a:bodyPr>
          <a:lstStyle/>
          <a:p>
            <a:pPr marL="0" indent="0">
              <a:buNone/>
            </a:pPr>
            <a:r>
              <a:rPr lang="en-PH" b="1" dirty="0"/>
              <a:t>Career Guidance Flow</a:t>
            </a:r>
            <a:endParaRPr lang="en-PH" dirty="0"/>
          </a:p>
          <a:p>
            <a:endParaRPr lang="en-PH" dirty="0"/>
          </a:p>
        </p:txBody>
      </p:sp>
      <p:sp>
        <p:nvSpPr>
          <p:cNvPr id="6" name="Content Placeholder 2">
            <a:extLst>
              <a:ext uri="{FF2B5EF4-FFF2-40B4-BE49-F238E27FC236}">
                <a16:creationId xmlns:a16="http://schemas.microsoft.com/office/drawing/2014/main" id="{EBF78D4E-C234-BE33-672B-1ED3ED59936E}"/>
              </a:ext>
            </a:extLst>
          </p:cNvPr>
          <p:cNvSpPr txBox="1">
            <a:spLocks/>
          </p:cNvSpPr>
          <p:nvPr/>
        </p:nvSpPr>
        <p:spPr>
          <a:xfrm>
            <a:off x="922819" y="2524956"/>
            <a:ext cx="2146029" cy="441452"/>
          </a:xfrm>
          <a:prstGeom prst="rect">
            <a:avLst/>
          </a:prstGeom>
        </p:spPr>
        <p:txBody>
          <a:bodyPr vert="horz" lIns="91440" tIns="45720" rIns="91440" bIns="45720" rtlCol="0">
            <a:normAutofit fontScale="775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0" indent="0">
              <a:buNone/>
            </a:pPr>
            <a:r>
              <a:rPr lang="en-PH" b="1" dirty="0"/>
              <a:t>Academic Query Flow</a:t>
            </a:r>
            <a:endParaRPr lang="en-PH" dirty="0"/>
          </a:p>
        </p:txBody>
      </p:sp>
      <p:pic>
        <p:nvPicPr>
          <p:cNvPr id="10" name="Picture 9">
            <a:extLst>
              <a:ext uri="{FF2B5EF4-FFF2-40B4-BE49-F238E27FC236}">
                <a16:creationId xmlns:a16="http://schemas.microsoft.com/office/drawing/2014/main" id="{4E6581B9-ED8C-2EB1-3CED-B1ABBBC1798E}"/>
              </a:ext>
            </a:extLst>
          </p:cNvPr>
          <p:cNvPicPr>
            <a:picLocks noChangeAspect="1"/>
          </p:cNvPicPr>
          <p:nvPr/>
        </p:nvPicPr>
        <p:blipFill>
          <a:blip r:embed="rId2"/>
          <a:stretch>
            <a:fillRect/>
          </a:stretch>
        </p:blipFill>
        <p:spPr>
          <a:xfrm>
            <a:off x="856137" y="2923540"/>
            <a:ext cx="5029902" cy="3210373"/>
          </a:xfrm>
          <a:prstGeom prst="rect">
            <a:avLst/>
          </a:prstGeom>
        </p:spPr>
      </p:pic>
      <p:pic>
        <p:nvPicPr>
          <p:cNvPr id="12" name="Picture 11">
            <a:extLst>
              <a:ext uri="{FF2B5EF4-FFF2-40B4-BE49-F238E27FC236}">
                <a16:creationId xmlns:a16="http://schemas.microsoft.com/office/drawing/2014/main" id="{2AF7D457-DFA2-CDE8-5DD4-780BF76FB064}"/>
              </a:ext>
            </a:extLst>
          </p:cNvPr>
          <p:cNvPicPr>
            <a:picLocks noChangeAspect="1"/>
          </p:cNvPicPr>
          <p:nvPr/>
        </p:nvPicPr>
        <p:blipFill>
          <a:blip r:embed="rId3"/>
          <a:stretch>
            <a:fillRect/>
          </a:stretch>
        </p:blipFill>
        <p:spPr>
          <a:xfrm>
            <a:off x="6305963" y="2966408"/>
            <a:ext cx="4963218" cy="3124636"/>
          </a:xfrm>
          <a:prstGeom prst="rect">
            <a:avLst/>
          </a:prstGeom>
        </p:spPr>
      </p:pic>
    </p:spTree>
    <p:extLst>
      <p:ext uri="{BB962C8B-B14F-4D97-AF65-F5344CB8AC3E}">
        <p14:creationId xmlns:p14="http://schemas.microsoft.com/office/powerpoint/2010/main" val="21478097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04146-80C0-D347-3604-CE98C3C07A3A}"/>
              </a:ext>
            </a:extLst>
          </p:cNvPr>
          <p:cNvSpPr>
            <a:spLocks noGrp="1"/>
          </p:cNvSpPr>
          <p:nvPr>
            <p:ph type="title"/>
          </p:nvPr>
        </p:nvSpPr>
        <p:spPr/>
        <p:txBody>
          <a:bodyPr/>
          <a:lstStyle/>
          <a:p>
            <a:r>
              <a:rPr lang="en-PH" b="1" dirty="0"/>
              <a:t> PROBLEM STATEMENT (PIECES)</a:t>
            </a:r>
            <a:br>
              <a:rPr lang="en-PH" b="1" dirty="0"/>
            </a:br>
            <a:endParaRPr lang="en-PH" dirty="0"/>
          </a:p>
        </p:txBody>
      </p:sp>
      <p:graphicFrame>
        <p:nvGraphicFramePr>
          <p:cNvPr id="6" name="Content Placeholder 5">
            <a:extLst>
              <a:ext uri="{FF2B5EF4-FFF2-40B4-BE49-F238E27FC236}">
                <a16:creationId xmlns:a16="http://schemas.microsoft.com/office/drawing/2014/main" id="{97E02357-75F9-28A4-771E-9E32D0F6BC95}"/>
              </a:ext>
            </a:extLst>
          </p:cNvPr>
          <p:cNvGraphicFramePr>
            <a:graphicFrameLocks noGrp="1"/>
          </p:cNvGraphicFramePr>
          <p:nvPr>
            <p:ph idx="1"/>
            <p:extLst>
              <p:ext uri="{D42A27DB-BD31-4B8C-83A1-F6EECF244321}">
                <p14:modId xmlns:p14="http://schemas.microsoft.com/office/powerpoint/2010/main" val="3336155180"/>
              </p:ext>
            </p:extLst>
          </p:nvPr>
        </p:nvGraphicFramePr>
        <p:xfrm>
          <a:off x="1572767" y="2357513"/>
          <a:ext cx="8761412" cy="4326752"/>
        </p:xfrm>
        <a:graphic>
          <a:graphicData uri="http://schemas.openxmlformats.org/drawingml/2006/table">
            <a:tbl>
              <a:tblPr firstRow="1" firstCol="1" bandRow="1">
                <a:tableStyleId>{5C22544A-7EE6-4342-B048-85BDC9FD1C3A}</a:tableStyleId>
              </a:tblPr>
              <a:tblGrid>
                <a:gridCol w="1464971">
                  <a:extLst>
                    <a:ext uri="{9D8B030D-6E8A-4147-A177-3AD203B41FA5}">
                      <a16:colId xmlns:a16="http://schemas.microsoft.com/office/drawing/2014/main" val="4259816804"/>
                    </a:ext>
                  </a:extLst>
                </a:gridCol>
                <a:gridCol w="2216244">
                  <a:extLst>
                    <a:ext uri="{9D8B030D-6E8A-4147-A177-3AD203B41FA5}">
                      <a16:colId xmlns:a16="http://schemas.microsoft.com/office/drawing/2014/main" val="374710489"/>
                    </a:ext>
                  </a:extLst>
                </a:gridCol>
                <a:gridCol w="1505580">
                  <a:extLst>
                    <a:ext uri="{9D8B030D-6E8A-4147-A177-3AD203B41FA5}">
                      <a16:colId xmlns:a16="http://schemas.microsoft.com/office/drawing/2014/main" val="1837030599"/>
                    </a:ext>
                  </a:extLst>
                </a:gridCol>
                <a:gridCol w="3574617">
                  <a:extLst>
                    <a:ext uri="{9D8B030D-6E8A-4147-A177-3AD203B41FA5}">
                      <a16:colId xmlns:a16="http://schemas.microsoft.com/office/drawing/2014/main" val="16577813"/>
                    </a:ext>
                  </a:extLst>
                </a:gridCol>
              </a:tblGrid>
              <a:tr h="301658">
                <a:tc>
                  <a:txBody>
                    <a:bodyPr/>
                    <a:lstStyle/>
                    <a:p>
                      <a:pPr algn="just">
                        <a:lnSpc>
                          <a:spcPct val="200000"/>
                        </a:lnSpc>
                        <a:spcAft>
                          <a:spcPts val="800"/>
                        </a:spcAft>
                        <a:buNone/>
                      </a:pPr>
                      <a:r>
                        <a:rPr lang="en-PH" sz="1100" kern="100" dirty="0">
                          <a:effectLst/>
                        </a:rPr>
                        <a:t>Category</a:t>
                      </a:r>
                      <a:endParaRPr lang="en-PH"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6687" marR="26687" marT="0" marB="0" anchor="b"/>
                </a:tc>
                <a:tc>
                  <a:txBody>
                    <a:bodyPr/>
                    <a:lstStyle/>
                    <a:p>
                      <a:pPr algn="just">
                        <a:lnSpc>
                          <a:spcPct val="200000"/>
                        </a:lnSpc>
                        <a:spcAft>
                          <a:spcPts val="800"/>
                        </a:spcAft>
                        <a:buNone/>
                      </a:pPr>
                      <a:r>
                        <a:rPr lang="en-PH" sz="1100" kern="100">
                          <a:effectLst/>
                        </a:rPr>
                        <a:t>Problem / Issue</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26687" marR="26687" marT="0" marB="0" anchor="b"/>
                </a:tc>
                <a:tc>
                  <a:txBody>
                    <a:bodyPr/>
                    <a:lstStyle/>
                    <a:p>
                      <a:pPr algn="just">
                        <a:lnSpc>
                          <a:spcPct val="200000"/>
                        </a:lnSpc>
                        <a:spcAft>
                          <a:spcPts val="800"/>
                        </a:spcAft>
                        <a:buNone/>
                      </a:pPr>
                      <a:r>
                        <a:rPr lang="en-PH" sz="1100" kern="100">
                          <a:effectLst/>
                        </a:rPr>
                        <a:t>Cause</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26687" marR="26687" marT="0" marB="0" anchor="b"/>
                </a:tc>
                <a:tc>
                  <a:txBody>
                    <a:bodyPr/>
                    <a:lstStyle/>
                    <a:p>
                      <a:pPr algn="just">
                        <a:lnSpc>
                          <a:spcPct val="200000"/>
                        </a:lnSpc>
                        <a:spcAft>
                          <a:spcPts val="800"/>
                        </a:spcAft>
                        <a:buNone/>
                      </a:pPr>
                      <a:r>
                        <a:rPr lang="en-PH" sz="1100" kern="100">
                          <a:effectLst/>
                        </a:rPr>
                        <a:t>Opportunity / Solution Direction</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26687" marR="26687" marT="0" marB="0" anchor="b"/>
                </a:tc>
                <a:extLst>
                  <a:ext uri="{0D108BD9-81ED-4DB2-BD59-A6C34878D82A}">
                    <a16:rowId xmlns:a16="http://schemas.microsoft.com/office/drawing/2014/main" val="1797718636"/>
                  </a:ext>
                </a:extLst>
              </a:tr>
              <a:tr h="647246">
                <a:tc>
                  <a:txBody>
                    <a:bodyPr/>
                    <a:lstStyle/>
                    <a:p>
                      <a:pPr algn="just">
                        <a:lnSpc>
                          <a:spcPct val="200000"/>
                        </a:lnSpc>
                        <a:spcAft>
                          <a:spcPts val="800"/>
                        </a:spcAft>
                        <a:buNone/>
                      </a:pPr>
                      <a:r>
                        <a:rPr lang="en-PH" sz="1100" kern="100">
                          <a:effectLst/>
                        </a:rPr>
                        <a:t>Performance</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26687" marR="26687" marT="0" marB="0" anchor="b"/>
                </a:tc>
                <a:tc>
                  <a:txBody>
                    <a:bodyPr/>
                    <a:lstStyle/>
                    <a:p>
                      <a:pPr algn="just">
                        <a:lnSpc>
                          <a:spcPct val="200000"/>
                        </a:lnSpc>
                        <a:spcAft>
                          <a:spcPts val="800"/>
                        </a:spcAft>
                        <a:buNone/>
                      </a:pPr>
                      <a:r>
                        <a:rPr lang="en-PH" sz="1100" kern="100">
                          <a:effectLst/>
                        </a:rPr>
                        <a:t>Slow response to student queries</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26687" marR="26687" marT="0" marB="0" anchor="b"/>
                </a:tc>
                <a:tc>
                  <a:txBody>
                    <a:bodyPr/>
                    <a:lstStyle/>
                    <a:p>
                      <a:pPr algn="just">
                        <a:lnSpc>
                          <a:spcPct val="200000"/>
                        </a:lnSpc>
                        <a:spcAft>
                          <a:spcPts val="800"/>
                        </a:spcAft>
                        <a:buNone/>
                      </a:pPr>
                      <a:r>
                        <a:rPr lang="en-PH" sz="1100" kern="100">
                          <a:effectLst/>
                        </a:rPr>
                        <a:t>Teacher availability limited to class hours</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26687" marR="26687" marT="0" marB="0" anchor="b"/>
                </a:tc>
                <a:tc>
                  <a:txBody>
                    <a:bodyPr/>
                    <a:lstStyle/>
                    <a:p>
                      <a:pPr algn="just">
                        <a:lnSpc>
                          <a:spcPct val="200000"/>
                        </a:lnSpc>
                        <a:spcAft>
                          <a:spcPts val="800"/>
                        </a:spcAft>
                        <a:buNone/>
                      </a:pPr>
                      <a:r>
                        <a:rPr lang="en-PH" sz="1100" kern="100" dirty="0">
                          <a:effectLst/>
                        </a:rPr>
                        <a:t>AI chatbot provides instant 24/7 responses</a:t>
                      </a:r>
                      <a:endParaRPr lang="en-PH"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6687" marR="26687" marT="0" marB="0" anchor="b"/>
                </a:tc>
                <a:extLst>
                  <a:ext uri="{0D108BD9-81ED-4DB2-BD59-A6C34878D82A}">
                    <a16:rowId xmlns:a16="http://schemas.microsoft.com/office/drawing/2014/main" val="2789205356"/>
                  </a:ext>
                </a:extLst>
              </a:tr>
              <a:tr h="647246">
                <a:tc>
                  <a:txBody>
                    <a:bodyPr/>
                    <a:lstStyle/>
                    <a:p>
                      <a:pPr algn="just">
                        <a:lnSpc>
                          <a:spcPct val="200000"/>
                        </a:lnSpc>
                        <a:spcAft>
                          <a:spcPts val="800"/>
                        </a:spcAft>
                        <a:buNone/>
                      </a:pPr>
                      <a:r>
                        <a:rPr lang="en-PH" sz="1100" kern="100">
                          <a:effectLst/>
                        </a:rPr>
                        <a:t>Information</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26687" marR="26687" marT="0" marB="0" anchor="b"/>
                </a:tc>
                <a:tc>
                  <a:txBody>
                    <a:bodyPr/>
                    <a:lstStyle/>
                    <a:p>
                      <a:pPr algn="just">
                        <a:lnSpc>
                          <a:spcPct val="200000"/>
                        </a:lnSpc>
                        <a:spcAft>
                          <a:spcPts val="800"/>
                        </a:spcAft>
                        <a:buNone/>
                      </a:pPr>
                      <a:r>
                        <a:rPr lang="en-PH" sz="1100" kern="100">
                          <a:effectLst/>
                        </a:rPr>
                        <a:t>No record of common student difficulties</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26687" marR="26687" marT="0" marB="0" anchor="b"/>
                </a:tc>
                <a:tc>
                  <a:txBody>
                    <a:bodyPr/>
                    <a:lstStyle/>
                    <a:p>
                      <a:pPr algn="just">
                        <a:lnSpc>
                          <a:spcPct val="200000"/>
                        </a:lnSpc>
                        <a:spcAft>
                          <a:spcPts val="800"/>
                        </a:spcAft>
                        <a:buNone/>
                      </a:pPr>
                      <a:r>
                        <a:rPr lang="en-PH" sz="1100" kern="100">
                          <a:effectLst/>
                        </a:rPr>
                        <a:t>No centralized query logging</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26687" marR="26687" marT="0" marB="0" anchor="b"/>
                </a:tc>
                <a:tc>
                  <a:txBody>
                    <a:bodyPr/>
                    <a:lstStyle/>
                    <a:p>
                      <a:pPr algn="just">
                        <a:lnSpc>
                          <a:spcPct val="200000"/>
                        </a:lnSpc>
                        <a:spcAft>
                          <a:spcPts val="800"/>
                        </a:spcAft>
                        <a:buNone/>
                      </a:pPr>
                      <a:r>
                        <a:rPr lang="en-PH" sz="1100" kern="100">
                          <a:effectLst/>
                        </a:rPr>
                        <a:t>System tracks questions and generates reports for teachers</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26687" marR="26687" marT="0" marB="0" anchor="b"/>
                </a:tc>
                <a:extLst>
                  <a:ext uri="{0D108BD9-81ED-4DB2-BD59-A6C34878D82A}">
                    <a16:rowId xmlns:a16="http://schemas.microsoft.com/office/drawing/2014/main" val="3357982856"/>
                  </a:ext>
                </a:extLst>
              </a:tr>
              <a:tr h="647246">
                <a:tc>
                  <a:txBody>
                    <a:bodyPr/>
                    <a:lstStyle/>
                    <a:p>
                      <a:pPr algn="just">
                        <a:lnSpc>
                          <a:spcPct val="200000"/>
                        </a:lnSpc>
                        <a:spcAft>
                          <a:spcPts val="800"/>
                        </a:spcAft>
                        <a:buNone/>
                      </a:pPr>
                      <a:r>
                        <a:rPr lang="en-PH" sz="1100" kern="100">
                          <a:effectLst/>
                        </a:rPr>
                        <a:t>Economics</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26687" marR="26687" marT="0" marB="0" anchor="b"/>
                </a:tc>
                <a:tc>
                  <a:txBody>
                    <a:bodyPr/>
                    <a:lstStyle/>
                    <a:p>
                      <a:pPr algn="just">
                        <a:lnSpc>
                          <a:spcPct val="200000"/>
                        </a:lnSpc>
                        <a:spcAft>
                          <a:spcPts val="800"/>
                        </a:spcAft>
                        <a:buNone/>
                      </a:pPr>
                      <a:r>
                        <a:rPr lang="en-PH" sz="1100" kern="100">
                          <a:effectLst/>
                        </a:rPr>
                        <a:t>High cost of private tutoring</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26687" marR="26687" marT="0" marB="0" anchor="b"/>
                </a:tc>
                <a:tc>
                  <a:txBody>
                    <a:bodyPr/>
                    <a:lstStyle/>
                    <a:p>
                      <a:pPr algn="just">
                        <a:lnSpc>
                          <a:spcPct val="200000"/>
                        </a:lnSpc>
                        <a:spcAft>
                          <a:spcPts val="800"/>
                        </a:spcAft>
                        <a:buNone/>
                      </a:pPr>
                      <a:r>
                        <a:rPr lang="en-PH" sz="1100" kern="100">
                          <a:effectLst/>
                        </a:rPr>
                        <a:t>Lack of affordable alternatives</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26687" marR="26687" marT="0" marB="0" anchor="b"/>
                </a:tc>
                <a:tc>
                  <a:txBody>
                    <a:bodyPr/>
                    <a:lstStyle/>
                    <a:p>
                      <a:pPr algn="just">
                        <a:lnSpc>
                          <a:spcPct val="200000"/>
                        </a:lnSpc>
                        <a:spcAft>
                          <a:spcPts val="800"/>
                        </a:spcAft>
                        <a:buNone/>
                      </a:pPr>
                      <a:r>
                        <a:rPr lang="en-PH" sz="1100" kern="100">
                          <a:effectLst/>
                        </a:rPr>
                        <a:t>Free AI-powered assistance reduces need for paid tutors</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26687" marR="26687" marT="0" marB="0" anchor="b"/>
                </a:tc>
                <a:extLst>
                  <a:ext uri="{0D108BD9-81ED-4DB2-BD59-A6C34878D82A}">
                    <a16:rowId xmlns:a16="http://schemas.microsoft.com/office/drawing/2014/main" val="486109492"/>
                  </a:ext>
                </a:extLst>
              </a:tr>
              <a:tr h="647246">
                <a:tc>
                  <a:txBody>
                    <a:bodyPr/>
                    <a:lstStyle/>
                    <a:p>
                      <a:pPr algn="just">
                        <a:lnSpc>
                          <a:spcPct val="200000"/>
                        </a:lnSpc>
                        <a:spcAft>
                          <a:spcPts val="800"/>
                        </a:spcAft>
                        <a:buNone/>
                      </a:pPr>
                      <a:r>
                        <a:rPr lang="en-PH" sz="1100" kern="100">
                          <a:effectLst/>
                        </a:rPr>
                        <a:t>Control</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26687" marR="26687" marT="0" marB="0" anchor="b"/>
                </a:tc>
                <a:tc>
                  <a:txBody>
                    <a:bodyPr/>
                    <a:lstStyle/>
                    <a:p>
                      <a:pPr algn="just">
                        <a:lnSpc>
                          <a:spcPct val="200000"/>
                        </a:lnSpc>
                        <a:spcAft>
                          <a:spcPts val="800"/>
                        </a:spcAft>
                        <a:buNone/>
                      </a:pPr>
                      <a:r>
                        <a:rPr lang="en-PH" sz="1100" kern="100">
                          <a:effectLst/>
                        </a:rPr>
                        <a:t>No monitoring of student learning progress</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26687" marR="26687" marT="0" marB="0" anchor="b"/>
                </a:tc>
                <a:tc>
                  <a:txBody>
                    <a:bodyPr/>
                    <a:lstStyle/>
                    <a:p>
                      <a:pPr algn="just">
                        <a:lnSpc>
                          <a:spcPct val="200000"/>
                        </a:lnSpc>
                        <a:spcAft>
                          <a:spcPts val="800"/>
                        </a:spcAft>
                        <a:buNone/>
                      </a:pPr>
                      <a:r>
                        <a:rPr lang="en-PH" sz="1100" kern="100">
                          <a:effectLst/>
                        </a:rPr>
                        <a:t>Manual tracking only</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26687" marR="26687" marT="0" marB="0" anchor="b"/>
                </a:tc>
                <a:tc>
                  <a:txBody>
                    <a:bodyPr/>
                    <a:lstStyle/>
                    <a:p>
                      <a:pPr algn="just">
                        <a:lnSpc>
                          <a:spcPct val="200000"/>
                        </a:lnSpc>
                        <a:spcAft>
                          <a:spcPts val="800"/>
                        </a:spcAft>
                        <a:buNone/>
                      </a:pPr>
                      <a:r>
                        <a:rPr lang="en-PH" sz="1100" kern="100">
                          <a:effectLst/>
                        </a:rPr>
                        <a:t>Dashboard for teachers to view student activity</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26687" marR="26687" marT="0" marB="0" anchor="b"/>
                </a:tc>
                <a:extLst>
                  <a:ext uri="{0D108BD9-81ED-4DB2-BD59-A6C34878D82A}">
                    <a16:rowId xmlns:a16="http://schemas.microsoft.com/office/drawing/2014/main" val="3351874647"/>
                  </a:ext>
                </a:extLst>
              </a:tr>
              <a:tr h="788864">
                <a:tc>
                  <a:txBody>
                    <a:bodyPr/>
                    <a:lstStyle/>
                    <a:p>
                      <a:pPr algn="just">
                        <a:lnSpc>
                          <a:spcPct val="200000"/>
                        </a:lnSpc>
                        <a:spcAft>
                          <a:spcPts val="800"/>
                        </a:spcAft>
                        <a:buNone/>
                      </a:pPr>
                      <a:r>
                        <a:rPr lang="en-PH" sz="1100" kern="100">
                          <a:effectLst/>
                        </a:rPr>
                        <a:t>Efficiency</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26687" marR="26687" marT="0" marB="0" anchor="b"/>
                </a:tc>
                <a:tc>
                  <a:txBody>
                    <a:bodyPr/>
                    <a:lstStyle/>
                    <a:p>
                      <a:pPr algn="just">
                        <a:lnSpc>
                          <a:spcPct val="200000"/>
                        </a:lnSpc>
                        <a:spcAft>
                          <a:spcPts val="800"/>
                        </a:spcAft>
                        <a:buNone/>
                      </a:pPr>
                      <a:r>
                        <a:rPr lang="en-PH" sz="1100" kern="100">
                          <a:effectLst/>
                        </a:rPr>
                        <a:t>Counselor time spent on repetitive career advice</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26687" marR="26687" marT="0" marB="0" anchor="b"/>
                </a:tc>
                <a:tc>
                  <a:txBody>
                    <a:bodyPr/>
                    <a:lstStyle/>
                    <a:p>
                      <a:pPr algn="just">
                        <a:lnSpc>
                          <a:spcPct val="200000"/>
                        </a:lnSpc>
                        <a:spcAft>
                          <a:spcPts val="800"/>
                        </a:spcAft>
                        <a:buNone/>
                      </a:pPr>
                      <a:r>
                        <a:rPr lang="en-PH" sz="1100" kern="100">
                          <a:effectLst/>
                        </a:rPr>
                        <a:t>Manual assessments and consultations</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26687" marR="26687" marT="0" marB="0" anchor="b"/>
                </a:tc>
                <a:tc>
                  <a:txBody>
                    <a:bodyPr/>
                    <a:lstStyle/>
                    <a:p>
                      <a:pPr algn="just">
                        <a:lnSpc>
                          <a:spcPct val="200000"/>
                        </a:lnSpc>
                        <a:spcAft>
                          <a:spcPts val="800"/>
                        </a:spcAft>
                        <a:buNone/>
                      </a:pPr>
                      <a:r>
                        <a:rPr lang="en-PH" sz="1100" kern="100">
                          <a:effectLst/>
                        </a:rPr>
                        <a:t>Automated career suggestion engine reduces counselor workload</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26687" marR="26687" marT="0" marB="0" anchor="b"/>
                </a:tc>
                <a:extLst>
                  <a:ext uri="{0D108BD9-81ED-4DB2-BD59-A6C34878D82A}">
                    <a16:rowId xmlns:a16="http://schemas.microsoft.com/office/drawing/2014/main" val="729179528"/>
                  </a:ext>
                </a:extLst>
              </a:tr>
              <a:tr h="647246">
                <a:tc>
                  <a:txBody>
                    <a:bodyPr/>
                    <a:lstStyle/>
                    <a:p>
                      <a:pPr algn="just">
                        <a:lnSpc>
                          <a:spcPct val="200000"/>
                        </a:lnSpc>
                        <a:spcAft>
                          <a:spcPts val="800"/>
                        </a:spcAft>
                        <a:buNone/>
                      </a:pPr>
                      <a:r>
                        <a:rPr lang="en-PH" sz="1100" kern="100">
                          <a:effectLst/>
                        </a:rPr>
                        <a:t>Service</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26687" marR="26687" marT="0" marB="0" anchor="b"/>
                </a:tc>
                <a:tc>
                  <a:txBody>
                    <a:bodyPr/>
                    <a:lstStyle/>
                    <a:p>
                      <a:pPr algn="just">
                        <a:lnSpc>
                          <a:spcPct val="200000"/>
                        </a:lnSpc>
                        <a:spcAft>
                          <a:spcPts val="800"/>
                        </a:spcAft>
                        <a:buNone/>
                      </a:pPr>
                      <a:r>
                        <a:rPr lang="en-PH" sz="1100" kern="100">
                          <a:effectLst/>
                        </a:rPr>
                        <a:t>Students lack after-hours support</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26687" marR="26687" marT="0" marB="0" anchor="b"/>
                </a:tc>
                <a:tc>
                  <a:txBody>
                    <a:bodyPr/>
                    <a:lstStyle/>
                    <a:p>
                      <a:pPr algn="just">
                        <a:lnSpc>
                          <a:spcPct val="200000"/>
                        </a:lnSpc>
                        <a:spcAft>
                          <a:spcPts val="800"/>
                        </a:spcAft>
                        <a:buNone/>
                      </a:pPr>
                      <a:r>
                        <a:rPr lang="en-PH" sz="1100" kern="100">
                          <a:effectLst/>
                        </a:rPr>
                        <a:t>No system available outside school hours</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26687" marR="26687" marT="0" marB="0" anchor="b"/>
                </a:tc>
                <a:tc>
                  <a:txBody>
                    <a:bodyPr/>
                    <a:lstStyle/>
                    <a:p>
                      <a:pPr algn="just">
                        <a:lnSpc>
                          <a:spcPct val="200000"/>
                        </a:lnSpc>
                        <a:spcAft>
                          <a:spcPts val="800"/>
                        </a:spcAft>
                        <a:buNone/>
                      </a:pPr>
                      <a:r>
                        <a:rPr lang="en-PH" sz="1100" kern="100" dirty="0">
                          <a:effectLst/>
                        </a:rPr>
                        <a:t>Web-based platform accessible anytime from mobile devices</a:t>
                      </a:r>
                      <a:endParaRPr lang="en-PH"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26687" marR="26687" marT="0" marB="0" anchor="b"/>
                </a:tc>
                <a:extLst>
                  <a:ext uri="{0D108BD9-81ED-4DB2-BD59-A6C34878D82A}">
                    <a16:rowId xmlns:a16="http://schemas.microsoft.com/office/drawing/2014/main" val="3293109946"/>
                  </a:ext>
                </a:extLst>
              </a:tr>
            </a:tbl>
          </a:graphicData>
        </a:graphic>
      </p:graphicFrame>
    </p:spTree>
    <p:extLst>
      <p:ext uri="{BB962C8B-B14F-4D97-AF65-F5344CB8AC3E}">
        <p14:creationId xmlns:p14="http://schemas.microsoft.com/office/powerpoint/2010/main" val="36149104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45B29-D2FA-6AB8-B56C-D7D2F3A2C08A}"/>
              </a:ext>
            </a:extLst>
          </p:cNvPr>
          <p:cNvSpPr>
            <a:spLocks noGrp="1"/>
          </p:cNvSpPr>
          <p:nvPr>
            <p:ph type="title"/>
          </p:nvPr>
        </p:nvSpPr>
        <p:spPr/>
        <p:txBody>
          <a:bodyPr/>
          <a:lstStyle/>
          <a:p>
            <a:r>
              <a:rPr lang="en-PH" b="1" dirty="0"/>
              <a:t>CRITICAL SUCCESS FACTORS</a:t>
            </a:r>
            <a:br>
              <a:rPr lang="en-PH" b="1" dirty="0"/>
            </a:br>
            <a:endParaRPr lang="en-PH" dirty="0"/>
          </a:p>
        </p:txBody>
      </p:sp>
      <p:sp>
        <p:nvSpPr>
          <p:cNvPr id="7" name="Content Placeholder 6">
            <a:extLst>
              <a:ext uri="{FF2B5EF4-FFF2-40B4-BE49-F238E27FC236}">
                <a16:creationId xmlns:a16="http://schemas.microsoft.com/office/drawing/2014/main" id="{8B027714-D108-16CB-39CF-7D18AA0F20FF}"/>
              </a:ext>
            </a:extLst>
          </p:cNvPr>
          <p:cNvSpPr>
            <a:spLocks noGrp="1"/>
          </p:cNvSpPr>
          <p:nvPr>
            <p:ph idx="1"/>
          </p:nvPr>
        </p:nvSpPr>
        <p:spPr/>
        <p:txBody>
          <a:bodyPr/>
          <a:lstStyle/>
          <a:p>
            <a:r>
              <a:rPr lang="en-PH" b="1" dirty="0"/>
              <a:t>Personalized Academic Support:</a:t>
            </a:r>
            <a:r>
              <a:rPr lang="en-PH" dirty="0"/>
              <a:t> Students receive help with difficult lessons outside class hours.</a:t>
            </a:r>
          </a:p>
          <a:p>
            <a:r>
              <a:rPr lang="en-PH" b="1" dirty="0"/>
              <a:t>Accessible Learning Resources:</a:t>
            </a:r>
            <a:r>
              <a:rPr lang="en-PH" dirty="0"/>
              <a:t> Study materials are available anytime, even on mobile devices.</a:t>
            </a:r>
          </a:p>
          <a:p>
            <a:r>
              <a:rPr lang="en-PH" b="1" dirty="0"/>
              <a:t>Career Guidance Availability:</a:t>
            </a:r>
            <a:r>
              <a:rPr lang="en-PH" dirty="0"/>
              <a:t> Students can explore career options based on their interests.</a:t>
            </a:r>
          </a:p>
          <a:p>
            <a:r>
              <a:rPr lang="en-PH" b="1" dirty="0"/>
              <a:t>Inclusive Language Support:</a:t>
            </a:r>
            <a:r>
              <a:rPr lang="en-PH" dirty="0"/>
              <a:t> Students can interact in Filipino, Cebuano, or English.</a:t>
            </a:r>
          </a:p>
          <a:p>
            <a:r>
              <a:rPr lang="en-PH" b="1" dirty="0"/>
              <a:t>Performance Tracking:</a:t>
            </a:r>
            <a:r>
              <a:rPr lang="en-PH" dirty="0"/>
              <a:t> Monitoring student queries enables data-driven interventions.</a:t>
            </a:r>
          </a:p>
          <a:p>
            <a:endParaRPr lang="en-PH" dirty="0"/>
          </a:p>
        </p:txBody>
      </p:sp>
    </p:spTree>
    <p:extLst>
      <p:ext uri="{BB962C8B-B14F-4D97-AF65-F5344CB8AC3E}">
        <p14:creationId xmlns:p14="http://schemas.microsoft.com/office/powerpoint/2010/main" val="40270431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C5FFB-3763-AE47-9928-77980016A54E}"/>
              </a:ext>
            </a:extLst>
          </p:cNvPr>
          <p:cNvSpPr>
            <a:spLocks noGrp="1"/>
          </p:cNvSpPr>
          <p:nvPr>
            <p:ph type="title"/>
          </p:nvPr>
        </p:nvSpPr>
        <p:spPr/>
        <p:txBody>
          <a:bodyPr/>
          <a:lstStyle/>
          <a:p>
            <a:r>
              <a:rPr lang="en-PH" b="1" dirty="0"/>
              <a:t>OBJECTIVES</a:t>
            </a:r>
            <a:br>
              <a:rPr lang="en-PH" b="1" dirty="0"/>
            </a:br>
            <a:endParaRPr lang="en-PH" dirty="0"/>
          </a:p>
        </p:txBody>
      </p:sp>
      <p:sp>
        <p:nvSpPr>
          <p:cNvPr id="3" name="Content Placeholder 2">
            <a:extLst>
              <a:ext uri="{FF2B5EF4-FFF2-40B4-BE49-F238E27FC236}">
                <a16:creationId xmlns:a16="http://schemas.microsoft.com/office/drawing/2014/main" id="{83F7F6AD-57A8-3E0A-CF8B-0E3972BDBD1D}"/>
              </a:ext>
            </a:extLst>
          </p:cNvPr>
          <p:cNvSpPr>
            <a:spLocks noGrp="1"/>
          </p:cNvSpPr>
          <p:nvPr>
            <p:ph idx="1"/>
          </p:nvPr>
        </p:nvSpPr>
        <p:spPr>
          <a:xfrm>
            <a:off x="1295034" y="2377440"/>
            <a:ext cx="9601931" cy="4041648"/>
          </a:xfrm>
        </p:spPr>
        <p:txBody>
          <a:bodyPr>
            <a:normAutofit fontScale="92500" lnSpcReduction="20000"/>
          </a:bodyPr>
          <a:lstStyle/>
          <a:p>
            <a:pPr marL="0" indent="0">
              <a:buNone/>
            </a:pPr>
            <a:r>
              <a:rPr lang="en-PH" b="1" dirty="0"/>
              <a:t>General Objective:</a:t>
            </a:r>
            <a:br>
              <a:rPr lang="en-PH" dirty="0"/>
            </a:br>
            <a:r>
              <a:rPr lang="en-PH" dirty="0"/>
              <a:t>To develop and implement an AI-powered study and career advice system (EduGuide PH) that improves academic support, learning outcomes, and career advising for students at Amigo School of </a:t>
            </a:r>
            <a:r>
              <a:rPr lang="en-PH" dirty="0" err="1"/>
              <a:t>Calinan</a:t>
            </a:r>
            <a:r>
              <a:rPr lang="en-PH" dirty="0"/>
              <a:t>.</a:t>
            </a:r>
          </a:p>
          <a:p>
            <a:pPr marL="0" indent="0">
              <a:buNone/>
            </a:pPr>
            <a:r>
              <a:rPr lang="en-PH" b="1" dirty="0"/>
              <a:t>Specific Objectives:</a:t>
            </a:r>
            <a:endParaRPr lang="en-PH" dirty="0"/>
          </a:p>
          <a:p>
            <a:r>
              <a:rPr lang="en-PH" dirty="0"/>
              <a:t>To provide students with immediate, 24/7 access to academic explanations via an AI chatbot.</a:t>
            </a:r>
          </a:p>
          <a:p>
            <a:r>
              <a:rPr lang="en-PH" dirty="0"/>
              <a:t>To provide tailored career route recommendations based on student interests and strengths.</a:t>
            </a:r>
          </a:p>
          <a:p>
            <a:r>
              <a:rPr lang="en-PH" dirty="0"/>
              <a:t>To promote inclusive education through multilingual interactions (English, Tagalog, Cebuano).</a:t>
            </a:r>
          </a:p>
          <a:p>
            <a:r>
              <a:rPr lang="en-PH" dirty="0"/>
              <a:t>To offer mobile accessibility for students using smartphones, even with low internet connectivity.</a:t>
            </a:r>
          </a:p>
          <a:p>
            <a:r>
              <a:rPr lang="en-PH" dirty="0"/>
              <a:t>To set up a secure and privacy-compliant system for managing student data</a:t>
            </a:r>
          </a:p>
          <a:p>
            <a:endParaRPr lang="en-PH" dirty="0"/>
          </a:p>
        </p:txBody>
      </p:sp>
    </p:spTree>
    <p:extLst>
      <p:ext uri="{BB962C8B-B14F-4D97-AF65-F5344CB8AC3E}">
        <p14:creationId xmlns:p14="http://schemas.microsoft.com/office/powerpoint/2010/main" val="5044160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3184D-C450-8B5E-5E6F-4D33482D23B6}"/>
              </a:ext>
            </a:extLst>
          </p:cNvPr>
          <p:cNvSpPr>
            <a:spLocks noGrp="1"/>
          </p:cNvSpPr>
          <p:nvPr>
            <p:ph type="title"/>
          </p:nvPr>
        </p:nvSpPr>
        <p:spPr/>
        <p:txBody>
          <a:bodyPr/>
          <a:lstStyle/>
          <a:p>
            <a:r>
              <a:rPr lang="en-PH" b="1" dirty="0"/>
              <a:t>FEASIBLE ALTERNATIVES</a:t>
            </a:r>
            <a:br>
              <a:rPr lang="en-PH" b="1" dirty="0"/>
            </a:br>
            <a:endParaRPr lang="en-PH" dirty="0"/>
          </a:p>
        </p:txBody>
      </p:sp>
      <p:graphicFrame>
        <p:nvGraphicFramePr>
          <p:cNvPr id="4" name="Content Placeholder 3">
            <a:extLst>
              <a:ext uri="{FF2B5EF4-FFF2-40B4-BE49-F238E27FC236}">
                <a16:creationId xmlns:a16="http://schemas.microsoft.com/office/drawing/2014/main" id="{5D26727E-EE52-92F6-92F4-8F78F5CF3DD4}"/>
              </a:ext>
            </a:extLst>
          </p:cNvPr>
          <p:cNvGraphicFramePr>
            <a:graphicFrameLocks noGrp="1"/>
          </p:cNvGraphicFramePr>
          <p:nvPr>
            <p:ph idx="1"/>
            <p:extLst>
              <p:ext uri="{D42A27DB-BD31-4B8C-83A1-F6EECF244321}">
                <p14:modId xmlns:p14="http://schemas.microsoft.com/office/powerpoint/2010/main" val="1718941534"/>
              </p:ext>
            </p:extLst>
          </p:nvPr>
        </p:nvGraphicFramePr>
        <p:xfrm>
          <a:off x="1325880" y="2356612"/>
          <a:ext cx="8869682" cy="4254500"/>
        </p:xfrm>
        <a:graphic>
          <a:graphicData uri="http://schemas.openxmlformats.org/drawingml/2006/table">
            <a:tbl>
              <a:tblPr firstRow="1" firstCol="1" bandRow="1">
                <a:tableStyleId>{5C22544A-7EE6-4342-B048-85BDC9FD1C3A}</a:tableStyleId>
              </a:tblPr>
              <a:tblGrid>
                <a:gridCol w="1768798">
                  <a:extLst>
                    <a:ext uri="{9D8B030D-6E8A-4147-A177-3AD203B41FA5}">
                      <a16:colId xmlns:a16="http://schemas.microsoft.com/office/drawing/2014/main" val="145426455"/>
                    </a:ext>
                  </a:extLst>
                </a:gridCol>
                <a:gridCol w="1769824">
                  <a:extLst>
                    <a:ext uri="{9D8B030D-6E8A-4147-A177-3AD203B41FA5}">
                      <a16:colId xmlns:a16="http://schemas.microsoft.com/office/drawing/2014/main" val="649040053"/>
                    </a:ext>
                  </a:extLst>
                </a:gridCol>
                <a:gridCol w="1797576">
                  <a:extLst>
                    <a:ext uri="{9D8B030D-6E8A-4147-A177-3AD203B41FA5}">
                      <a16:colId xmlns:a16="http://schemas.microsoft.com/office/drawing/2014/main" val="1713353963"/>
                    </a:ext>
                  </a:extLst>
                </a:gridCol>
                <a:gridCol w="2089462">
                  <a:extLst>
                    <a:ext uri="{9D8B030D-6E8A-4147-A177-3AD203B41FA5}">
                      <a16:colId xmlns:a16="http://schemas.microsoft.com/office/drawing/2014/main" val="1135340120"/>
                    </a:ext>
                  </a:extLst>
                </a:gridCol>
                <a:gridCol w="1444022">
                  <a:extLst>
                    <a:ext uri="{9D8B030D-6E8A-4147-A177-3AD203B41FA5}">
                      <a16:colId xmlns:a16="http://schemas.microsoft.com/office/drawing/2014/main" val="1948004236"/>
                    </a:ext>
                  </a:extLst>
                </a:gridCol>
              </a:tblGrid>
              <a:tr h="390967">
                <a:tc>
                  <a:txBody>
                    <a:bodyPr/>
                    <a:lstStyle/>
                    <a:p>
                      <a:pPr algn="just">
                        <a:lnSpc>
                          <a:spcPct val="200000"/>
                        </a:lnSpc>
                        <a:spcAft>
                          <a:spcPts val="800"/>
                        </a:spcAft>
                        <a:buNone/>
                      </a:pPr>
                      <a:r>
                        <a:rPr lang="en-PH" sz="1100" kern="100" dirty="0">
                          <a:effectLst/>
                        </a:rPr>
                        <a:t>Alternative</a:t>
                      </a:r>
                      <a:endParaRPr lang="en-PH"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6750" marR="36750" marT="0" marB="0" anchor="b"/>
                </a:tc>
                <a:tc>
                  <a:txBody>
                    <a:bodyPr/>
                    <a:lstStyle/>
                    <a:p>
                      <a:pPr algn="just">
                        <a:lnSpc>
                          <a:spcPct val="200000"/>
                        </a:lnSpc>
                        <a:spcAft>
                          <a:spcPts val="800"/>
                        </a:spcAft>
                        <a:buNone/>
                      </a:pPr>
                      <a:r>
                        <a:rPr lang="en-PH" sz="1100" kern="100">
                          <a:effectLst/>
                        </a:rPr>
                        <a:t>Advantages</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6750" marR="36750" marT="0" marB="0" anchor="b"/>
                </a:tc>
                <a:tc>
                  <a:txBody>
                    <a:bodyPr/>
                    <a:lstStyle/>
                    <a:p>
                      <a:pPr algn="just">
                        <a:lnSpc>
                          <a:spcPct val="200000"/>
                        </a:lnSpc>
                        <a:spcAft>
                          <a:spcPts val="800"/>
                        </a:spcAft>
                        <a:buNone/>
                      </a:pPr>
                      <a:r>
                        <a:rPr lang="en-PH" sz="1100" kern="100">
                          <a:effectLst/>
                        </a:rPr>
                        <a:t>Disadvantages</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6750" marR="36750" marT="0" marB="0" anchor="b"/>
                </a:tc>
                <a:tc>
                  <a:txBody>
                    <a:bodyPr/>
                    <a:lstStyle/>
                    <a:p>
                      <a:pPr algn="just">
                        <a:lnSpc>
                          <a:spcPct val="200000"/>
                        </a:lnSpc>
                        <a:spcAft>
                          <a:spcPts val="800"/>
                        </a:spcAft>
                        <a:buNone/>
                      </a:pPr>
                      <a:r>
                        <a:rPr lang="en-PH" sz="1100" kern="100">
                          <a:effectLst/>
                        </a:rPr>
                        <a:t>Estimated Cost</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6750" marR="36750" marT="0" marB="0" anchor="b"/>
                </a:tc>
                <a:tc>
                  <a:txBody>
                    <a:bodyPr/>
                    <a:lstStyle/>
                    <a:p>
                      <a:pPr algn="just">
                        <a:lnSpc>
                          <a:spcPct val="200000"/>
                        </a:lnSpc>
                        <a:spcAft>
                          <a:spcPts val="800"/>
                        </a:spcAft>
                        <a:buNone/>
                      </a:pPr>
                      <a:r>
                        <a:rPr lang="en-PH" sz="1100" kern="100">
                          <a:effectLst/>
                        </a:rPr>
                        <a:t>Timeline</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6750" marR="36750" marT="0" marB="0" anchor="b"/>
                </a:tc>
                <a:extLst>
                  <a:ext uri="{0D108BD9-81ED-4DB2-BD59-A6C34878D82A}">
                    <a16:rowId xmlns:a16="http://schemas.microsoft.com/office/drawing/2014/main" val="1597109865"/>
                  </a:ext>
                </a:extLst>
              </a:tr>
              <a:tr h="1322482">
                <a:tc>
                  <a:txBody>
                    <a:bodyPr/>
                    <a:lstStyle/>
                    <a:p>
                      <a:pPr algn="just">
                        <a:lnSpc>
                          <a:spcPct val="200000"/>
                        </a:lnSpc>
                        <a:spcAft>
                          <a:spcPts val="800"/>
                        </a:spcAft>
                        <a:buNone/>
                      </a:pPr>
                      <a:r>
                        <a:rPr lang="en-PH" sz="1100" kern="100">
                          <a:effectLst/>
                        </a:rPr>
                        <a:t>Alt 1 – Continue Manual System</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6750" marR="36750" marT="0" marB="0" anchor="b"/>
                </a:tc>
                <a:tc>
                  <a:txBody>
                    <a:bodyPr/>
                    <a:lstStyle/>
                    <a:p>
                      <a:pPr algn="just">
                        <a:lnSpc>
                          <a:spcPct val="200000"/>
                        </a:lnSpc>
                        <a:spcAft>
                          <a:spcPts val="800"/>
                        </a:spcAft>
                        <a:buNone/>
                      </a:pPr>
                      <a:r>
                        <a:rPr lang="en-PH" sz="1100" kern="100">
                          <a:effectLst/>
                        </a:rPr>
                        <a:t>No cost; familiar process</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6750" marR="36750" marT="0" marB="0" anchor="b"/>
                </a:tc>
                <a:tc>
                  <a:txBody>
                    <a:bodyPr/>
                    <a:lstStyle/>
                    <a:p>
                      <a:pPr algn="just">
                        <a:lnSpc>
                          <a:spcPct val="200000"/>
                        </a:lnSpc>
                        <a:spcAft>
                          <a:spcPts val="800"/>
                        </a:spcAft>
                        <a:buNone/>
                      </a:pPr>
                      <a:r>
                        <a:rPr lang="en-PH" sz="1100" kern="100">
                          <a:effectLst/>
                        </a:rPr>
                        <a:t>Limited support; no after-hours help; high counselor workload</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6750" marR="36750" marT="0" marB="0" anchor="b"/>
                </a:tc>
                <a:tc>
                  <a:txBody>
                    <a:bodyPr/>
                    <a:lstStyle/>
                    <a:p>
                      <a:pPr algn="just">
                        <a:lnSpc>
                          <a:spcPct val="200000"/>
                        </a:lnSpc>
                        <a:spcAft>
                          <a:spcPts val="800"/>
                        </a:spcAft>
                        <a:buNone/>
                      </a:pPr>
                      <a:r>
                        <a:rPr lang="en-PH" sz="1100" kern="100">
                          <a:effectLst/>
                        </a:rPr>
                        <a:t>0</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6750" marR="36750" marT="0" marB="0" anchor="b"/>
                </a:tc>
                <a:tc>
                  <a:txBody>
                    <a:bodyPr/>
                    <a:lstStyle/>
                    <a:p>
                      <a:pPr algn="just">
                        <a:lnSpc>
                          <a:spcPct val="200000"/>
                        </a:lnSpc>
                        <a:spcAft>
                          <a:spcPts val="800"/>
                        </a:spcAft>
                        <a:buNone/>
                      </a:pPr>
                      <a:r>
                        <a:rPr lang="en-PH" sz="1100" kern="100">
                          <a:effectLst/>
                        </a:rPr>
                        <a:t>N/A</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6750" marR="36750" marT="0" marB="0" anchor="b"/>
                </a:tc>
                <a:extLst>
                  <a:ext uri="{0D108BD9-81ED-4DB2-BD59-A6C34878D82A}">
                    <a16:rowId xmlns:a16="http://schemas.microsoft.com/office/drawing/2014/main" val="2254217524"/>
                  </a:ext>
                </a:extLst>
              </a:tr>
              <a:tr h="1096705">
                <a:tc>
                  <a:txBody>
                    <a:bodyPr/>
                    <a:lstStyle/>
                    <a:p>
                      <a:pPr algn="just">
                        <a:lnSpc>
                          <a:spcPct val="200000"/>
                        </a:lnSpc>
                        <a:spcAft>
                          <a:spcPts val="800"/>
                        </a:spcAft>
                        <a:buNone/>
                      </a:pPr>
                      <a:r>
                        <a:rPr lang="en-PH" sz="1100" kern="100">
                          <a:effectLst/>
                        </a:rPr>
                        <a:t>Alt 2 – Basic Website with FAQs</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6750" marR="36750" marT="0" marB="0" anchor="b"/>
                </a:tc>
                <a:tc>
                  <a:txBody>
                    <a:bodyPr/>
                    <a:lstStyle/>
                    <a:p>
                      <a:pPr algn="just">
                        <a:lnSpc>
                          <a:spcPct val="200000"/>
                        </a:lnSpc>
                        <a:spcAft>
                          <a:spcPts val="800"/>
                        </a:spcAft>
                        <a:buNone/>
                      </a:pPr>
                      <a:r>
                        <a:rPr lang="en-PH" sz="1100" kern="100">
                          <a:effectLst/>
                        </a:rPr>
                        <a:t>Low cost; accessible</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6750" marR="36750" marT="0" marB="0" anchor="b"/>
                </a:tc>
                <a:tc>
                  <a:txBody>
                    <a:bodyPr/>
                    <a:lstStyle/>
                    <a:p>
                      <a:pPr algn="just">
                        <a:lnSpc>
                          <a:spcPct val="200000"/>
                        </a:lnSpc>
                        <a:spcAft>
                          <a:spcPts val="800"/>
                        </a:spcAft>
                        <a:buNone/>
                      </a:pPr>
                      <a:r>
                        <a:rPr lang="en-PH" sz="1100" kern="100">
                          <a:effectLst/>
                        </a:rPr>
                        <a:t>No interactivity; no personalization; no AI</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6750" marR="36750" marT="0" marB="0" anchor="b"/>
                </a:tc>
                <a:tc>
                  <a:txBody>
                    <a:bodyPr/>
                    <a:lstStyle/>
                    <a:p>
                      <a:pPr algn="just">
                        <a:lnSpc>
                          <a:spcPct val="200000"/>
                        </a:lnSpc>
                        <a:spcAft>
                          <a:spcPts val="800"/>
                        </a:spcAft>
                        <a:buNone/>
                      </a:pPr>
                      <a:r>
                        <a:rPr lang="en-PH" sz="1100" kern="100">
                          <a:effectLst/>
                        </a:rPr>
                        <a:t>₱5,000 – ₱10,000</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6750" marR="36750" marT="0" marB="0" anchor="b"/>
                </a:tc>
                <a:tc>
                  <a:txBody>
                    <a:bodyPr/>
                    <a:lstStyle/>
                    <a:p>
                      <a:pPr algn="just">
                        <a:lnSpc>
                          <a:spcPct val="200000"/>
                        </a:lnSpc>
                        <a:spcAft>
                          <a:spcPts val="800"/>
                        </a:spcAft>
                        <a:buNone/>
                      </a:pPr>
                      <a:r>
                        <a:rPr lang="en-PH" sz="1100" kern="100">
                          <a:effectLst/>
                        </a:rPr>
                        <a:t>1–2 months</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6750" marR="36750" marT="0" marB="0" anchor="b"/>
                </a:tc>
                <a:extLst>
                  <a:ext uri="{0D108BD9-81ED-4DB2-BD59-A6C34878D82A}">
                    <a16:rowId xmlns:a16="http://schemas.microsoft.com/office/drawing/2014/main" val="4194854237"/>
                  </a:ext>
                </a:extLst>
              </a:tr>
              <a:tr h="1444346">
                <a:tc>
                  <a:txBody>
                    <a:bodyPr/>
                    <a:lstStyle/>
                    <a:p>
                      <a:pPr algn="just">
                        <a:lnSpc>
                          <a:spcPct val="200000"/>
                        </a:lnSpc>
                        <a:spcAft>
                          <a:spcPts val="800"/>
                        </a:spcAft>
                        <a:buNone/>
                      </a:pPr>
                      <a:r>
                        <a:rPr lang="en-PH" sz="1100" kern="100">
                          <a:effectLst/>
                        </a:rPr>
                        <a:t>Alt 3 – EduGuide PH AI System</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6750" marR="36750" marT="0" marB="0" anchor="b"/>
                </a:tc>
                <a:tc>
                  <a:txBody>
                    <a:bodyPr/>
                    <a:lstStyle/>
                    <a:p>
                      <a:pPr algn="just">
                        <a:lnSpc>
                          <a:spcPct val="200000"/>
                        </a:lnSpc>
                        <a:spcAft>
                          <a:spcPts val="800"/>
                        </a:spcAft>
                        <a:buNone/>
                      </a:pPr>
                      <a:r>
                        <a:rPr lang="en-PH" sz="1100" kern="100" dirty="0">
                          <a:effectLst/>
                        </a:rPr>
                        <a:t>24/7 AI support; multilingual; career guidance; scalable</a:t>
                      </a:r>
                      <a:endParaRPr lang="en-PH"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6750" marR="36750" marT="0" marB="0" anchor="b"/>
                </a:tc>
                <a:tc>
                  <a:txBody>
                    <a:bodyPr/>
                    <a:lstStyle/>
                    <a:p>
                      <a:pPr algn="just">
                        <a:lnSpc>
                          <a:spcPct val="200000"/>
                        </a:lnSpc>
                        <a:spcAft>
                          <a:spcPts val="800"/>
                        </a:spcAft>
                        <a:buNone/>
                      </a:pPr>
                      <a:r>
                        <a:rPr lang="en-PH" sz="1100" kern="100">
                          <a:effectLst/>
                        </a:rPr>
                        <a:t>Higher initial cost; requires training and internet</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6750" marR="36750" marT="0" marB="0" anchor="b"/>
                </a:tc>
                <a:tc>
                  <a:txBody>
                    <a:bodyPr/>
                    <a:lstStyle/>
                    <a:p>
                      <a:pPr algn="just">
                        <a:lnSpc>
                          <a:spcPct val="200000"/>
                        </a:lnSpc>
                        <a:spcAft>
                          <a:spcPts val="800"/>
                        </a:spcAft>
                        <a:buNone/>
                      </a:pPr>
                      <a:r>
                        <a:rPr lang="en-PH" sz="1100" kern="100">
                          <a:effectLst/>
                        </a:rPr>
                        <a:t>₱30,000 – ₱60,000</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36750" marR="36750" marT="0" marB="0" anchor="b"/>
                </a:tc>
                <a:tc>
                  <a:txBody>
                    <a:bodyPr/>
                    <a:lstStyle/>
                    <a:p>
                      <a:pPr algn="just">
                        <a:lnSpc>
                          <a:spcPct val="200000"/>
                        </a:lnSpc>
                        <a:spcAft>
                          <a:spcPts val="800"/>
                        </a:spcAft>
                        <a:buNone/>
                      </a:pPr>
                      <a:r>
                        <a:rPr lang="en-PH" sz="1100" kern="100" dirty="0">
                          <a:effectLst/>
                        </a:rPr>
                        <a:t>3–4 months</a:t>
                      </a:r>
                      <a:endParaRPr lang="en-PH"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36750" marR="36750" marT="0" marB="0" anchor="b"/>
                </a:tc>
                <a:extLst>
                  <a:ext uri="{0D108BD9-81ED-4DB2-BD59-A6C34878D82A}">
                    <a16:rowId xmlns:a16="http://schemas.microsoft.com/office/drawing/2014/main" val="3804277178"/>
                  </a:ext>
                </a:extLst>
              </a:tr>
            </a:tbl>
          </a:graphicData>
        </a:graphic>
      </p:graphicFrame>
    </p:spTree>
    <p:extLst>
      <p:ext uri="{BB962C8B-B14F-4D97-AF65-F5344CB8AC3E}">
        <p14:creationId xmlns:p14="http://schemas.microsoft.com/office/powerpoint/2010/main" val="2314025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A7A98-53A8-9ADF-4732-292973F745D4}"/>
              </a:ext>
            </a:extLst>
          </p:cNvPr>
          <p:cNvSpPr>
            <a:spLocks noGrp="1"/>
          </p:cNvSpPr>
          <p:nvPr>
            <p:ph type="title"/>
          </p:nvPr>
        </p:nvSpPr>
        <p:spPr/>
        <p:txBody>
          <a:bodyPr/>
          <a:lstStyle/>
          <a:p>
            <a:r>
              <a:rPr lang="en-PH" b="1" dirty="0"/>
              <a:t>FEASIBILITY ANALYSIS</a:t>
            </a:r>
            <a:br>
              <a:rPr lang="en-PH" b="1" dirty="0"/>
            </a:br>
            <a:endParaRPr lang="en-PH" dirty="0"/>
          </a:p>
        </p:txBody>
      </p:sp>
      <p:graphicFrame>
        <p:nvGraphicFramePr>
          <p:cNvPr id="4" name="Content Placeholder 3">
            <a:extLst>
              <a:ext uri="{FF2B5EF4-FFF2-40B4-BE49-F238E27FC236}">
                <a16:creationId xmlns:a16="http://schemas.microsoft.com/office/drawing/2014/main" id="{7C7BF103-8284-14C4-CBA0-C8B81A661264}"/>
              </a:ext>
            </a:extLst>
          </p:cNvPr>
          <p:cNvGraphicFramePr>
            <a:graphicFrameLocks noGrp="1"/>
          </p:cNvGraphicFramePr>
          <p:nvPr>
            <p:ph idx="1"/>
            <p:extLst>
              <p:ext uri="{D42A27DB-BD31-4B8C-83A1-F6EECF244321}">
                <p14:modId xmlns:p14="http://schemas.microsoft.com/office/powerpoint/2010/main" val="1818790187"/>
              </p:ext>
            </p:extLst>
          </p:nvPr>
        </p:nvGraphicFramePr>
        <p:xfrm>
          <a:off x="1641347" y="2327148"/>
          <a:ext cx="8909306" cy="4402835"/>
        </p:xfrm>
        <a:graphic>
          <a:graphicData uri="http://schemas.openxmlformats.org/drawingml/2006/table">
            <a:tbl>
              <a:tblPr firstRow="1" firstCol="1" bandRow="1">
                <a:tableStyleId>{5C22544A-7EE6-4342-B048-85BDC9FD1C3A}</a:tableStyleId>
              </a:tblPr>
              <a:tblGrid>
                <a:gridCol w="1788000">
                  <a:extLst>
                    <a:ext uri="{9D8B030D-6E8A-4147-A177-3AD203B41FA5}">
                      <a16:colId xmlns:a16="http://schemas.microsoft.com/office/drawing/2014/main" val="2460547220"/>
                    </a:ext>
                  </a:extLst>
                </a:gridCol>
                <a:gridCol w="1788000">
                  <a:extLst>
                    <a:ext uri="{9D8B030D-6E8A-4147-A177-3AD203B41FA5}">
                      <a16:colId xmlns:a16="http://schemas.microsoft.com/office/drawing/2014/main" val="4140197661"/>
                    </a:ext>
                  </a:extLst>
                </a:gridCol>
                <a:gridCol w="1788000">
                  <a:extLst>
                    <a:ext uri="{9D8B030D-6E8A-4147-A177-3AD203B41FA5}">
                      <a16:colId xmlns:a16="http://schemas.microsoft.com/office/drawing/2014/main" val="4004441745"/>
                    </a:ext>
                  </a:extLst>
                </a:gridCol>
                <a:gridCol w="1788000">
                  <a:extLst>
                    <a:ext uri="{9D8B030D-6E8A-4147-A177-3AD203B41FA5}">
                      <a16:colId xmlns:a16="http://schemas.microsoft.com/office/drawing/2014/main" val="201215164"/>
                    </a:ext>
                  </a:extLst>
                </a:gridCol>
                <a:gridCol w="1757306">
                  <a:extLst>
                    <a:ext uri="{9D8B030D-6E8A-4147-A177-3AD203B41FA5}">
                      <a16:colId xmlns:a16="http://schemas.microsoft.com/office/drawing/2014/main" val="512368121"/>
                    </a:ext>
                  </a:extLst>
                </a:gridCol>
              </a:tblGrid>
              <a:tr h="802144">
                <a:tc>
                  <a:txBody>
                    <a:bodyPr/>
                    <a:lstStyle/>
                    <a:p>
                      <a:pPr algn="just">
                        <a:lnSpc>
                          <a:spcPct val="200000"/>
                        </a:lnSpc>
                        <a:spcAft>
                          <a:spcPts val="800"/>
                        </a:spcAft>
                        <a:buNone/>
                      </a:pPr>
                      <a:r>
                        <a:rPr lang="en-PH" sz="1100" kern="100">
                          <a:effectLst/>
                        </a:rPr>
                        <a:t>Feasibility Dimension</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9265" marR="49265" marT="0" marB="0" anchor="b"/>
                </a:tc>
                <a:tc>
                  <a:txBody>
                    <a:bodyPr/>
                    <a:lstStyle/>
                    <a:p>
                      <a:pPr algn="just">
                        <a:lnSpc>
                          <a:spcPct val="200000"/>
                        </a:lnSpc>
                        <a:spcAft>
                          <a:spcPts val="800"/>
                        </a:spcAft>
                        <a:buNone/>
                      </a:pPr>
                      <a:r>
                        <a:rPr lang="en-PH" sz="1100" kern="100">
                          <a:effectLst/>
                        </a:rPr>
                        <a:t>Weight</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9265" marR="49265" marT="0" marB="0" anchor="b"/>
                </a:tc>
                <a:tc>
                  <a:txBody>
                    <a:bodyPr/>
                    <a:lstStyle/>
                    <a:p>
                      <a:pPr algn="just">
                        <a:lnSpc>
                          <a:spcPct val="200000"/>
                        </a:lnSpc>
                        <a:spcAft>
                          <a:spcPts val="800"/>
                        </a:spcAft>
                        <a:buNone/>
                      </a:pPr>
                      <a:r>
                        <a:rPr lang="en-PH" sz="1100" kern="100">
                          <a:effectLst/>
                        </a:rPr>
                        <a:t>Alt 1 – Manual</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9265" marR="49265" marT="0" marB="0" anchor="b"/>
                </a:tc>
                <a:tc>
                  <a:txBody>
                    <a:bodyPr/>
                    <a:lstStyle/>
                    <a:p>
                      <a:pPr algn="just">
                        <a:lnSpc>
                          <a:spcPct val="200000"/>
                        </a:lnSpc>
                        <a:spcAft>
                          <a:spcPts val="800"/>
                        </a:spcAft>
                        <a:buNone/>
                      </a:pPr>
                      <a:r>
                        <a:rPr lang="en-PH" sz="1100" kern="100">
                          <a:effectLst/>
                        </a:rPr>
                        <a:t>Alt 2 – Basic Website</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9265" marR="49265" marT="0" marB="0" anchor="b"/>
                </a:tc>
                <a:tc>
                  <a:txBody>
                    <a:bodyPr/>
                    <a:lstStyle/>
                    <a:p>
                      <a:pPr algn="just">
                        <a:lnSpc>
                          <a:spcPct val="200000"/>
                        </a:lnSpc>
                        <a:spcAft>
                          <a:spcPts val="800"/>
                        </a:spcAft>
                        <a:buNone/>
                      </a:pPr>
                      <a:r>
                        <a:rPr lang="en-PH" sz="1100" kern="100">
                          <a:effectLst/>
                        </a:rPr>
                        <a:t>Alt 3 – EduGuide PH</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9265" marR="49265" marT="0" marB="0" anchor="b"/>
                </a:tc>
                <a:extLst>
                  <a:ext uri="{0D108BD9-81ED-4DB2-BD59-A6C34878D82A}">
                    <a16:rowId xmlns:a16="http://schemas.microsoft.com/office/drawing/2014/main" val="3557764131"/>
                  </a:ext>
                </a:extLst>
              </a:tr>
              <a:tr h="521261">
                <a:tc>
                  <a:txBody>
                    <a:bodyPr/>
                    <a:lstStyle/>
                    <a:p>
                      <a:pPr algn="just">
                        <a:lnSpc>
                          <a:spcPct val="200000"/>
                        </a:lnSpc>
                        <a:spcAft>
                          <a:spcPts val="800"/>
                        </a:spcAft>
                        <a:buNone/>
                      </a:pPr>
                      <a:r>
                        <a:rPr lang="en-PH" sz="1100" kern="100">
                          <a:effectLst/>
                        </a:rPr>
                        <a:t>Technical (20%)</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9265" marR="49265" marT="0" marB="0" anchor="b"/>
                </a:tc>
                <a:tc>
                  <a:txBody>
                    <a:bodyPr/>
                    <a:lstStyle/>
                    <a:p>
                      <a:pPr algn="just">
                        <a:lnSpc>
                          <a:spcPct val="200000"/>
                        </a:lnSpc>
                        <a:spcAft>
                          <a:spcPts val="800"/>
                        </a:spcAft>
                        <a:buNone/>
                      </a:pPr>
                      <a:r>
                        <a:rPr lang="en-PH" sz="1100" kern="100">
                          <a:effectLst/>
                        </a:rPr>
                        <a:t>0.2</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9265" marR="49265" marT="0" marB="0" anchor="b"/>
                </a:tc>
                <a:tc>
                  <a:txBody>
                    <a:bodyPr/>
                    <a:lstStyle/>
                    <a:p>
                      <a:pPr algn="just">
                        <a:lnSpc>
                          <a:spcPct val="200000"/>
                        </a:lnSpc>
                        <a:spcAft>
                          <a:spcPts val="800"/>
                        </a:spcAft>
                        <a:buNone/>
                      </a:pPr>
                      <a:r>
                        <a:rPr lang="en-PH" sz="1100" kern="100">
                          <a:effectLst/>
                        </a:rPr>
                        <a:t>3 (0.60)</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9265" marR="49265" marT="0" marB="0" anchor="b"/>
                </a:tc>
                <a:tc>
                  <a:txBody>
                    <a:bodyPr/>
                    <a:lstStyle/>
                    <a:p>
                      <a:pPr algn="just">
                        <a:lnSpc>
                          <a:spcPct val="200000"/>
                        </a:lnSpc>
                        <a:spcAft>
                          <a:spcPts val="800"/>
                        </a:spcAft>
                        <a:buNone/>
                      </a:pPr>
                      <a:r>
                        <a:rPr lang="en-PH" sz="1100" kern="100">
                          <a:effectLst/>
                        </a:rPr>
                        <a:t>4 (0.80)</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9265" marR="49265" marT="0" marB="0" anchor="b"/>
                </a:tc>
                <a:tc>
                  <a:txBody>
                    <a:bodyPr/>
                    <a:lstStyle/>
                    <a:p>
                      <a:pPr algn="just">
                        <a:lnSpc>
                          <a:spcPct val="200000"/>
                        </a:lnSpc>
                        <a:spcAft>
                          <a:spcPts val="800"/>
                        </a:spcAft>
                        <a:buNone/>
                      </a:pPr>
                      <a:r>
                        <a:rPr lang="en-PH" sz="1100" kern="100">
                          <a:effectLst/>
                        </a:rPr>
                        <a:t>4 (0.80)</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9265" marR="49265" marT="0" marB="0" anchor="b"/>
                </a:tc>
                <a:extLst>
                  <a:ext uri="{0D108BD9-81ED-4DB2-BD59-A6C34878D82A}">
                    <a16:rowId xmlns:a16="http://schemas.microsoft.com/office/drawing/2014/main" val="3182670001"/>
                  </a:ext>
                </a:extLst>
              </a:tr>
              <a:tr h="521261">
                <a:tc>
                  <a:txBody>
                    <a:bodyPr/>
                    <a:lstStyle/>
                    <a:p>
                      <a:pPr algn="just">
                        <a:lnSpc>
                          <a:spcPct val="200000"/>
                        </a:lnSpc>
                        <a:spcAft>
                          <a:spcPts val="800"/>
                        </a:spcAft>
                        <a:buNone/>
                      </a:pPr>
                      <a:r>
                        <a:rPr lang="en-PH" sz="1100" kern="100">
                          <a:effectLst/>
                        </a:rPr>
                        <a:t>Economic (25%)</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9265" marR="49265" marT="0" marB="0" anchor="b"/>
                </a:tc>
                <a:tc>
                  <a:txBody>
                    <a:bodyPr/>
                    <a:lstStyle/>
                    <a:p>
                      <a:pPr algn="just">
                        <a:lnSpc>
                          <a:spcPct val="200000"/>
                        </a:lnSpc>
                        <a:spcAft>
                          <a:spcPts val="800"/>
                        </a:spcAft>
                        <a:buNone/>
                      </a:pPr>
                      <a:r>
                        <a:rPr lang="en-PH" sz="1100" kern="100">
                          <a:effectLst/>
                        </a:rPr>
                        <a:t>0.25</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9265" marR="49265" marT="0" marB="0" anchor="b"/>
                </a:tc>
                <a:tc>
                  <a:txBody>
                    <a:bodyPr/>
                    <a:lstStyle/>
                    <a:p>
                      <a:pPr algn="just">
                        <a:lnSpc>
                          <a:spcPct val="200000"/>
                        </a:lnSpc>
                        <a:spcAft>
                          <a:spcPts val="800"/>
                        </a:spcAft>
                        <a:buNone/>
                      </a:pPr>
                      <a:r>
                        <a:rPr lang="en-PH" sz="1100" kern="100">
                          <a:effectLst/>
                        </a:rPr>
                        <a:t>5 (1.25)</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9265" marR="49265" marT="0" marB="0" anchor="b"/>
                </a:tc>
                <a:tc>
                  <a:txBody>
                    <a:bodyPr/>
                    <a:lstStyle/>
                    <a:p>
                      <a:pPr algn="just">
                        <a:lnSpc>
                          <a:spcPct val="200000"/>
                        </a:lnSpc>
                        <a:spcAft>
                          <a:spcPts val="800"/>
                        </a:spcAft>
                        <a:buNone/>
                      </a:pPr>
                      <a:r>
                        <a:rPr lang="en-PH" sz="1100" kern="100">
                          <a:effectLst/>
                        </a:rPr>
                        <a:t>4 (1.00)</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9265" marR="49265" marT="0" marB="0" anchor="b"/>
                </a:tc>
                <a:tc>
                  <a:txBody>
                    <a:bodyPr/>
                    <a:lstStyle/>
                    <a:p>
                      <a:pPr algn="just">
                        <a:lnSpc>
                          <a:spcPct val="200000"/>
                        </a:lnSpc>
                        <a:spcAft>
                          <a:spcPts val="800"/>
                        </a:spcAft>
                        <a:buNone/>
                      </a:pPr>
                      <a:r>
                        <a:rPr lang="en-PH" sz="1100" kern="100">
                          <a:effectLst/>
                        </a:rPr>
                        <a:t>3 (0.75)</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9265" marR="49265" marT="0" marB="0" anchor="b"/>
                </a:tc>
                <a:extLst>
                  <a:ext uri="{0D108BD9-81ED-4DB2-BD59-A6C34878D82A}">
                    <a16:rowId xmlns:a16="http://schemas.microsoft.com/office/drawing/2014/main" val="1482981412"/>
                  </a:ext>
                </a:extLst>
              </a:tr>
              <a:tr h="611579">
                <a:tc>
                  <a:txBody>
                    <a:bodyPr/>
                    <a:lstStyle/>
                    <a:p>
                      <a:pPr algn="just">
                        <a:lnSpc>
                          <a:spcPct val="200000"/>
                        </a:lnSpc>
                        <a:spcAft>
                          <a:spcPts val="800"/>
                        </a:spcAft>
                        <a:buNone/>
                      </a:pPr>
                      <a:r>
                        <a:rPr lang="en-PH" sz="1100" kern="100">
                          <a:effectLst/>
                        </a:rPr>
                        <a:t>Operational (20%)</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9265" marR="49265" marT="0" marB="0" anchor="b"/>
                </a:tc>
                <a:tc>
                  <a:txBody>
                    <a:bodyPr/>
                    <a:lstStyle/>
                    <a:p>
                      <a:pPr algn="just">
                        <a:lnSpc>
                          <a:spcPct val="200000"/>
                        </a:lnSpc>
                        <a:spcAft>
                          <a:spcPts val="800"/>
                        </a:spcAft>
                        <a:buNone/>
                      </a:pPr>
                      <a:r>
                        <a:rPr lang="en-PH" sz="1100" kern="100">
                          <a:effectLst/>
                        </a:rPr>
                        <a:t>0.2</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9265" marR="49265" marT="0" marB="0" anchor="b"/>
                </a:tc>
                <a:tc>
                  <a:txBody>
                    <a:bodyPr/>
                    <a:lstStyle/>
                    <a:p>
                      <a:pPr algn="just">
                        <a:lnSpc>
                          <a:spcPct val="200000"/>
                        </a:lnSpc>
                        <a:spcAft>
                          <a:spcPts val="800"/>
                        </a:spcAft>
                        <a:buNone/>
                      </a:pPr>
                      <a:r>
                        <a:rPr lang="en-PH" sz="1100" kern="100">
                          <a:effectLst/>
                        </a:rPr>
                        <a:t>4 (0.80)</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9265" marR="49265" marT="0" marB="0" anchor="b"/>
                </a:tc>
                <a:tc>
                  <a:txBody>
                    <a:bodyPr/>
                    <a:lstStyle/>
                    <a:p>
                      <a:pPr algn="just">
                        <a:lnSpc>
                          <a:spcPct val="200000"/>
                        </a:lnSpc>
                        <a:spcAft>
                          <a:spcPts val="800"/>
                        </a:spcAft>
                        <a:buNone/>
                      </a:pPr>
                      <a:r>
                        <a:rPr lang="en-PH" sz="1100" kern="100">
                          <a:effectLst/>
                        </a:rPr>
                        <a:t>4 (0.80)</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9265" marR="49265" marT="0" marB="0" anchor="b"/>
                </a:tc>
                <a:tc>
                  <a:txBody>
                    <a:bodyPr/>
                    <a:lstStyle/>
                    <a:p>
                      <a:pPr algn="just">
                        <a:lnSpc>
                          <a:spcPct val="200000"/>
                        </a:lnSpc>
                        <a:spcAft>
                          <a:spcPts val="800"/>
                        </a:spcAft>
                        <a:buNone/>
                      </a:pPr>
                      <a:r>
                        <a:rPr lang="en-PH" sz="1100" kern="100">
                          <a:effectLst/>
                        </a:rPr>
                        <a:t>4 (0.80)</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9265" marR="49265" marT="0" marB="0" anchor="b"/>
                </a:tc>
                <a:extLst>
                  <a:ext uri="{0D108BD9-81ED-4DB2-BD59-A6C34878D82A}">
                    <a16:rowId xmlns:a16="http://schemas.microsoft.com/office/drawing/2014/main" val="777823699"/>
                  </a:ext>
                </a:extLst>
              </a:tr>
              <a:tr h="521261">
                <a:tc>
                  <a:txBody>
                    <a:bodyPr/>
                    <a:lstStyle/>
                    <a:p>
                      <a:pPr algn="just">
                        <a:lnSpc>
                          <a:spcPct val="200000"/>
                        </a:lnSpc>
                        <a:spcAft>
                          <a:spcPts val="800"/>
                        </a:spcAft>
                        <a:buNone/>
                      </a:pPr>
                      <a:r>
                        <a:rPr lang="en-PH" sz="1100" kern="100">
                          <a:effectLst/>
                        </a:rPr>
                        <a:t>Schedule (20%)</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9265" marR="49265" marT="0" marB="0" anchor="b"/>
                </a:tc>
                <a:tc>
                  <a:txBody>
                    <a:bodyPr/>
                    <a:lstStyle/>
                    <a:p>
                      <a:pPr algn="just">
                        <a:lnSpc>
                          <a:spcPct val="200000"/>
                        </a:lnSpc>
                        <a:spcAft>
                          <a:spcPts val="800"/>
                        </a:spcAft>
                        <a:buNone/>
                      </a:pPr>
                      <a:r>
                        <a:rPr lang="en-PH" sz="1100" kern="100">
                          <a:effectLst/>
                        </a:rPr>
                        <a:t>0.2</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9265" marR="49265" marT="0" marB="0" anchor="b"/>
                </a:tc>
                <a:tc>
                  <a:txBody>
                    <a:bodyPr/>
                    <a:lstStyle/>
                    <a:p>
                      <a:pPr algn="just">
                        <a:lnSpc>
                          <a:spcPct val="200000"/>
                        </a:lnSpc>
                        <a:spcAft>
                          <a:spcPts val="800"/>
                        </a:spcAft>
                        <a:buNone/>
                      </a:pPr>
                      <a:r>
                        <a:rPr lang="en-PH" sz="1100" kern="100">
                          <a:effectLst/>
                        </a:rPr>
                        <a:t>5 (1.00)</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9265" marR="49265" marT="0" marB="0" anchor="b"/>
                </a:tc>
                <a:tc>
                  <a:txBody>
                    <a:bodyPr/>
                    <a:lstStyle/>
                    <a:p>
                      <a:pPr algn="just">
                        <a:lnSpc>
                          <a:spcPct val="200000"/>
                        </a:lnSpc>
                        <a:spcAft>
                          <a:spcPts val="800"/>
                        </a:spcAft>
                        <a:buNone/>
                      </a:pPr>
                      <a:r>
                        <a:rPr lang="en-PH" sz="1100" kern="100">
                          <a:effectLst/>
                        </a:rPr>
                        <a:t>4 (0.80)</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9265" marR="49265" marT="0" marB="0" anchor="b"/>
                </a:tc>
                <a:tc>
                  <a:txBody>
                    <a:bodyPr/>
                    <a:lstStyle/>
                    <a:p>
                      <a:pPr algn="just">
                        <a:lnSpc>
                          <a:spcPct val="200000"/>
                        </a:lnSpc>
                        <a:spcAft>
                          <a:spcPts val="800"/>
                        </a:spcAft>
                        <a:buNone/>
                      </a:pPr>
                      <a:r>
                        <a:rPr lang="en-PH" sz="1100" kern="100">
                          <a:effectLst/>
                        </a:rPr>
                        <a:t>3 (0.60)</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9265" marR="49265" marT="0" marB="0" anchor="b"/>
                </a:tc>
                <a:extLst>
                  <a:ext uri="{0D108BD9-81ED-4DB2-BD59-A6C34878D82A}">
                    <a16:rowId xmlns:a16="http://schemas.microsoft.com/office/drawing/2014/main" val="990771453"/>
                  </a:ext>
                </a:extLst>
              </a:tr>
              <a:tr h="623185">
                <a:tc>
                  <a:txBody>
                    <a:bodyPr/>
                    <a:lstStyle/>
                    <a:p>
                      <a:pPr algn="just">
                        <a:lnSpc>
                          <a:spcPct val="200000"/>
                        </a:lnSpc>
                        <a:spcAft>
                          <a:spcPts val="800"/>
                        </a:spcAft>
                        <a:buNone/>
                      </a:pPr>
                      <a:r>
                        <a:rPr lang="en-PH" sz="1100" kern="100">
                          <a:effectLst/>
                        </a:rPr>
                        <a:t>Legal/Security (15%)</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9265" marR="49265" marT="0" marB="0" anchor="b"/>
                </a:tc>
                <a:tc>
                  <a:txBody>
                    <a:bodyPr/>
                    <a:lstStyle/>
                    <a:p>
                      <a:pPr algn="just">
                        <a:lnSpc>
                          <a:spcPct val="200000"/>
                        </a:lnSpc>
                        <a:spcAft>
                          <a:spcPts val="800"/>
                        </a:spcAft>
                        <a:buNone/>
                      </a:pPr>
                      <a:r>
                        <a:rPr lang="en-PH" sz="1100" kern="100">
                          <a:effectLst/>
                        </a:rPr>
                        <a:t>0.15</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9265" marR="49265" marT="0" marB="0" anchor="b"/>
                </a:tc>
                <a:tc>
                  <a:txBody>
                    <a:bodyPr/>
                    <a:lstStyle/>
                    <a:p>
                      <a:pPr algn="just">
                        <a:lnSpc>
                          <a:spcPct val="200000"/>
                        </a:lnSpc>
                        <a:spcAft>
                          <a:spcPts val="800"/>
                        </a:spcAft>
                        <a:buNone/>
                      </a:pPr>
                      <a:r>
                        <a:rPr lang="en-PH" sz="1100" kern="100">
                          <a:effectLst/>
                        </a:rPr>
                        <a:t>2 (0.30)</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9265" marR="49265" marT="0" marB="0" anchor="b"/>
                </a:tc>
                <a:tc>
                  <a:txBody>
                    <a:bodyPr/>
                    <a:lstStyle/>
                    <a:p>
                      <a:pPr algn="just">
                        <a:lnSpc>
                          <a:spcPct val="200000"/>
                        </a:lnSpc>
                        <a:spcAft>
                          <a:spcPts val="800"/>
                        </a:spcAft>
                        <a:buNone/>
                      </a:pPr>
                      <a:r>
                        <a:rPr lang="en-PH" sz="1100" kern="100">
                          <a:effectLst/>
                        </a:rPr>
                        <a:t>3 (0.45)</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9265" marR="49265" marT="0" marB="0" anchor="b"/>
                </a:tc>
                <a:tc>
                  <a:txBody>
                    <a:bodyPr/>
                    <a:lstStyle/>
                    <a:p>
                      <a:pPr algn="just">
                        <a:lnSpc>
                          <a:spcPct val="200000"/>
                        </a:lnSpc>
                        <a:spcAft>
                          <a:spcPts val="800"/>
                        </a:spcAft>
                        <a:buNone/>
                      </a:pPr>
                      <a:r>
                        <a:rPr lang="en-PH" sz="1100" kern="100">
                          <a:effectLst/>
                        </a:rPr>
                        <a:t>5 (0.75)</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9265" marR="49265" marT="0" marB="0" anchor="b"/>
                </a:tc>
                <a:extLst>
                  <a:ext uri="{0D108BD9-81ED-4DB2-BD59-A6C34878D82A}">
                    <a16:rowId xmlns:a16="http://schemas.microsoft.com/office/drawing/2014/main" val="421796612"/>
                  </a:ext>
                </a:extLst>
              </a:tr>
              <a:tr h="802144">
                <a:tc>
                  <a:txBody>
                    <a:bodyPr/>
                    <a:lstStyle/>
                    <a:p>
                      <a:pPr algn="just">
                        <a:lnSpc>
                          <a:spcPct val="200000"/>
                        </a:lnSpc>
                        <a:spcAft>
                          <a:spcPts val="800"/>
                        </a:spcAft>
                        <a:buNone/>
                      </a:pPr>
                      <a:r>
                        <a:rPr lang="en-PH" sz="1100" kern="100">
                          <a:effectLst/>
                        </a:rPr>
                        <a:t>Total Weighted Score</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9265" marR="49265" marT="0" marB="0" anchor="b"/>
                </a:tc>
                <a:tc>
                  <a:txBody>
                    <a:bodyPr/>
                    <a:lstStyle/>
                    <a:p>
                      <a:pPr algn="just">
                        <a:lnSpc>
                          <a:spcPct val="200000"/>
                        </a:lnSpc>
                        <a:spcAft>
                          <a:spcPts val="800"/>
                        </a:spcAft>
                        <a:buNone/>
                      </a:pPr>
                      <a:r>
                        <a:rPr lang="en-PH" sz="1100" kern="100">
                          <a:effectLst/>
                        </a:rPr>
                        <a:t>1</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9265" marR="49265" marT="0" marB="0" anchor="b"/>
                </a:tc>
                <a:tc>
                  <a:txBody>
                    <a:bodyPr/>
                    <a:lstStyle/>
                    <a:p>
                      <a:pPr algn="just">
                        <a:lnSpc>
                          <a:spcPct val="200000"/>
                        </a:lnSpc>
                        <a:spcAft>
                          <a:spcPts val="800"/>
                        </a:spcAft>
                        <a:buNone/>
                      </a:pPr>
                      <a:r>
                        <a:rPr lang="en-PH" sz="1100" kern="100">
                          <a:effectLst/>
                        </a:rPr>
                        <a:t>3.95</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9265" marR="49265" marT="0" marB="0" anchor="b"/>
                </a:tc>
                <a:tc>
                  <a:txBody>
                    <a:bodyPr/>
                    <a:lstStyle/>
                    <a:p>
                      <a:pPr algn="just">
                        <a:lnSpc>
                          <a:spcPct val="200000"/>
                        </a:lnSpc>
                        <a:spcAft>
                          <a:spcPts val="800"/>
                        </a:spcAft>
                        <a:buNone/>
                      </a:pPr>
                      <a:r>
                        <a:rPr lang="en-PH" sz="1100" kern="100">
                          <a:effectLst/>
                        </a:rPr>
                        <a:t>3.85</a:t>
                      </a:r>
                      <a:endParaRPr lang="en-PH"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9265" marR="49265" marT="0" marB="0" anchor="b"/>
                </a:tc>
                <a:tc>
                  <a:txBody>
                    <a:bodyPr/>
                    <a:lstStyle/>
                    <a:p>
                      <a:pPr algn="just">
                        <a:lnSpc>
                          <a:spcPct val="200000"/>
                        </a:lnSpc>
                        <a:spcAft>
                          <a:spcPts val="800"/>
                        </a:spcAft>
                        <a:buNone/>
                      </a:pPr>
                      <a:r>
                        <a:rPr lang="en-PH" sz="1100" kern="100" dirty="0">
                          <a:effectLst/>
                        </a:rPr>
                        <a:t>3.7</a:t>
                      </a:r>
                      <a:endParaRPr lang="en-PH"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9265" marR="49265" marT="0" marB="0" anchor="b"/>
                </a:tc>
                <a:extLst>
                  <a:ext uri="{0D108BD9-81ED-4DB2-BD59-A6C34878D82A}">
                    <a16:rowId xmlns:a16="http://schemas.microsoft.com/office/drawing/2014/main" val="769927143"/>
                  </a:ext>
                </a:extLst>
              </a:tr>
            </a:tbl>
          </a:graphicData>
        </a:graphic>
      </p:graphicFrame>
    </p:spTree>
    <p:extLst>
      <p:ext uri="{BB962C8B-B14F-4D97-AF65-F5344CB8AC3E}">
        <p14:creationId xmlns:p14="http://schemas.microsoft.com/office/powerpoint/2010/main" val="282980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0C322-4871-5773-577F-136DC538D502}"/>
              </a:ext>
            </a:extLst>
          </p:cNvPr>
          <p:cNvSpPr>
            <a:spLocks noGrp="1"/>
          </p:cNvSpPr>
          <p:nvPr>
            <p:ph type="title"/>
          </p:nvPr>
        </p:nvSpPr>
        <p:spPr>
          <a:xfrm>
            <a:off x="1187076" y="754212"/>
            <a:ext cx="8761413" cy="706964"/>
          </a:xfrm>
        </p:spPr>
        <p:txBody>
          <a:bodyPr/>
          <a:lstStyle/>
          <a:p>
            <a:r>
              <a:rPr lang="en-PH" b="1" dirty="0"/>
              <a:t>FEASIBILITY ANALYSIS</a:t>
            </a:r>
            <a:endParaRPr lang="en-PH" dirty="0"/>
          </a:p>
        </p:txBody>
      </p:sp>
      <p:sp>
        <p:nvSpPr>
          <p:cNvPr id="3" name="Content Placeholder 2">
            <a:extLst>
              <a:ext uri="{FF2B5EF4-FFF2-40B4-BE49-F238E27FC236}">
                <a16:creationId xmlns:a16="http://schemas.microsoft.com/office/drawing/2014/main" id="{C974D998-BA68-A059-92FC-F398B251C94F}"/>
              </a:ext>
            </a:extLst>
          </p:cNvPr>
          <p:cNvSpPr>
            <a:spLocks noGrp="1"/>
          </p:cNvSpPr>
          <p:nvPr>
            <p:ph idx="1"/>
          </p:nvPr>
        </p:nvSpPr>
        <p:spPr/>
        <p:txBody>
          <a:bodyPr/>
          <a:lstStyle/>
          <a:p>
            <a:pPr marL="0" indent="0">
              <a:buNone/>
            </a:pPr>
            <a:r>
              <a:rPr lang="en-PH" b="1" dirty="0"/>
              <a:t>Ranking and Recommendations:</a:t>
            </a:r>
            <a:endParaRPr lang="en-PH" dirty="0"/>
          </a:p>
          <a:p>
            <a:r>
              <a:rPr lang="en-PH" b="1" dirty="0"/>
              <a:t>Rank 1:</a:t>
            </a:r>
            <a:r>
              <a:rPr lang="en-PH" dirty="0"/>
              <a:t> Continue Manual System (short-term only)</a:t>
            </a:r>
          </a:p>
          <a:p>
            <a:r>
              <a:rPr lang="en-PH" b="1" dirty="0"/>
              <a:t>Rank 2:</a:t>
            </a:r>
            <a:r>
              <a:rPr lang="en-PH" dirty="0"/>
              <a:t> Basic Website with FAQs</a:t>
            </a:r>
          </a:p>
          <a:p>
            <a:r>
              <a:rPr lang="en-PH" b="1" dirty="0"/>
              <a:t>Rank 3:</a:t>
            </a:r>
            <a:r>
              <a:rPr lang="en-PH" dirty="0"/>
              <a:t> EduGuide PH AI System – Recommended for long-term strategic value</a:t>
            </a:r>
          </a:p>
          <a:p>
            <a:pPr marL="0" indent="0" algn="just">
              <a:buNone/>
            </a:pPr>
            <a:r>
              <a:rPr lang="en-PH" b="1" dirty="0"/>
              <a:t>Conclusion:</a:t>
            </a:r>
            <a:r>
              <a:rPr lang="en-PH" dirty="0"/>
              <a:t> While the manual method has the best short-term viability, EduGuide PH is recommended because it solves the core issues of poor academic support, lack of career advising, and student involvement. Its AI capabilities, multilingual assistance, and mobile accessibility make it the best solution for Amigo School of </a:t>
            </a:r>
            <a:r>
              <a:rPr lang="en-PH" dirty="0" err="1"/>
              <a:t>Calinan</a:t>
            </a:r>
            <a:r>
              <a:rPr lang="en-PH" dirty="0"/>
              <a:t>.</a:t>
            </a:r>
          </a:p>
          <a:p>
            <a:endParaRPr lang="en-PH" dirty="0"/>
          </a:p>
        </p:txBody>
      </p:sp>
    </p:spTree>
    <p:extLst>
      <p:ext uri="{BB962C8B-B14F-4D97-AF65-F5344CB8AC3E}">
        <p14:creationId xmlns:p14="http://schemas.microsoft.com/office/powerpoint/2010/main" val="31792403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0869F-0D01-168F-A99C-37D8D1A37A0B}"/>
              </a:ext>
            </a:extLst>
          </p:cNvPr>
          <p:cNvSpPr>
            <a:spLocks noGrp="1"/>
          </p:cNvSpPr>
          <p:nvPr>
            <p:ph type="title"/>
          </p:nvPr>
        </p:nvSpPr>
        <p:spPr/>
        <p:txBody>
          <a:bodyPr/>
          <a:lstStyle/>
          <a:p>
            <a:r>
              <a:rPr lang="en-PH" b="1" dirty="0"/>
              <a:t>PROPOSED SOLUTION</a:t>
            </a:r>
            <a:br>
              <a:rPr lang="en-PH" b="1" dirty="0"/>
            </a:br>
            <a:endParaRPr lang="en-PH" dirty="0"/>
          </a:p>
        </p:txBody>
      </p:sp>
      <p:sp>
        <p:nvSpPr>
          <p:cNvPr id="3" name="Content Placeholder 2">
            <a:extLst>
              <a:ext uri="{FF2B5EF4-FFF2-40B4-BE49-F238E27FC236}">
                <a16:creationId xmlns:a16="http://schemas.microsoft.com/office/drawing/2014/main" id="{FB60DFC5-0E83-7B18-FCF9-6ADAEFE83338}"/>
              </a:ext>
            </a:extLst>
          </p:cNvPr>
          <p:cNvSpPr>
            <a:spLocks noGrp="1"/>
          </p:cNvSpPr>
          <p:nvPr>
            <p:ph idx="1"/>
          </p:nvPr>
        </p:nvSpPr>
        <p:spPr>
          <a:xfrm>
            <a:off x="1154954" y="2283460"/>
            <a:ext cx="10393918" cy="1520444"/>
          </a:xfrm>
        </p:spPr>
        <p:txBody>
          <a:bodyPr>
            <a:normAutofit/>
          </a:bodyPr>
          <a:lstStyle/>
          <a:p>
            <a:pPr marL="0" indent="0">
              <a:buNone/>
            </a:pPr>
            <a:r>
              <a:rPr lang="en-PH" b="1" dirty="0"/>
              <a:t>System Name:</a:t>
            </a:r>
            <a:r>
              <a:rPr lang="en-PH" dirty="0"/>
              <a:t> EduGuide PH</a:t>
            </a:r>
          </a:p>
          <a:p>
            <a:r>
              <a:rPr lang="en-PH" b="1" dirty="0"/>
              <a:t>Overview:</a:t>
            </a:r>
            <a:r>
              <a:rPr lang="en-PH" dirty="0"/>
              <a:t> A web-based AI study and career coach that enables students to receive individualized learning support. The system features an AI chatbot that can respond to academic questions, explain lessons, and recommend career paths based on user input</a:t>
            </a:r>
          </a:p>
        </p:txBody>
      </p:sp>
      <p:sp>
        <p:nvSpPr>
          <p:cNvPr id="4" name="Content Placeholder 2">
            <a:extLst>
              <a:ext uri="{FF2B5EF4-FFF2-40B4-BE49-F238E27FC236}">
                <a16:creationId xmlns:a16="http://schemas.microsoft.com/office/drawing/2014/main" id="{F0832AF6-8762-B099-CA00-CCF5E03B1C62}"/>
              </a:ext>
            </a:extLst>
          </p:cNvPr>
          <p:cNvSpPr txBox="1">
            <a:spLocks/>
          </p:cNvSpPr>
          <p:nvPr/>
        </p:nvSpPr>
        <p:spPr>
          <a:xfrm>
            <a:off x="1154954" y="3968496"/>
            <a:ext cx="5035534" cy="288950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0" indent="0">
              <a:buNone/>
            </a:pPr>
            <a:r>
              <a:rPr lang="en-PH" b="1" dirty="0"/>
              <a:t>Value Proposition:</a:t>
            </a:r>
            <a:endParaRPr lang="en-PH" dirty="0"/>
          </a:p>
          <a:p>
            <a:pPr lvl="1"/>
            <a:r>
              <a:rPr lang="en-PH" dirty="0"/>
              <a:t>24/7 personalized academic support.</a:t>
            </a:r>
          </a:p>
          <a:p>
            <a:pPr lvl="1"/>
            <a:r>
              <a:rPr lang="en-PH" dirty="0"/>
              <a:t>Multilingual support (English, Tagalog, Cebuano).</a:t>
            </a:r>
          </a:p>
          <a:p>
            <a:pPr lvl="1"/>
            <a:r>
              <a:rPr lang="en-PH" dirty="0"/>
              <a:t>Mobile-friendly for students in areas with limited internet.</a:t>
            </a:r>
          </a:p>
          <a:p>
            <a:pPr lvl="1"/>
            <a:r>
              <a:rPr lang="en-PH" dirty="0"/>
              <a:t>Automated career guidance to supplement counselor efforts.</a:t>
            </a:r>
          </a:p>
        </p:txBody>
      </p:sp>
    </p:spTree>
    <p:extLst>
      <p:ext uri="{BB962C8B-B14F-4D97-AF65-F5344CB8AC3E}">
        <p14:creationId xmlns:p14="http://schemas.microsoft.com/office/powerpoint/2010/main" val="30926851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32C51-463A-97F5-710C-0AEF0D99EAFF}"/>
              </a:ext>
            </a:extLst>
          </p:cNvPr>
          <p:cNvSpPr>
            <a:spLocks noGrp="1"/>
          </p:cNvSpPr>
          <p:nvPr>
            <p:ph type="title"/>
          </p:nvPr>
        </p:nvSpPr>
        <p:spPr/>
        <p:txBody>
          <a:bodyPr/>
          <a:lstStyle/>
          <a:p>
            <a:r>
              <a:rPr lang="en-PH" b="1" dirty="0"/>
              <a:t>FUNCTIONAL REQUIREMENTS</a:t>
            </a:r>
            <a:br>
              <a:rPr lang="en-PH" b="1" dirty="0"/>
            </a:br>
            <a:endParaRPr lang="en-PH" dirty="0"/>
          </a:p>
        </p:txBody>
      </p:sp>
      <p:graphicFrame>
        <p:nvGraphicFramePr>
          <p:cNvPr id="4" name="Content Placeholder 3">
            <a:extLst>
              <a:ext uri="{FF2B5EF4-FFF2-40B4-BE49-F238E27FC236}">
                <a16:creationId xmlns:a16="http://schemas.microsoft.com/office/drawing/2014/main" id="{0E54E540-EE76-0AD0-855B-1420D8F9C6CC}"/>
              </a:ext>
            </a:extLst>
          </p:cNvPr>
          <p:cNvGraphicFramePr>
            <a:graphicFrameLocks noGrp="1"/>
          </p:cNvGraphicFramePr>
          <p:nvPr>
            <p:ph idx="1"/>
            <p:extLst>
              <p:ext uri="{D42A27DB-BD31-4B8C-83A1-F6EECF244321}">
                <p14:modId xmlns:p14="http://schemas.microsoft.com/office/powerpoint/2010/main" val="3700962465"/>
              </p:ext>
            </p:extLst>
          </p:nvPr>
        </p:nvGraphicFramePr>
        <p:xfrm>
          <a:off x="1145286" y="2313432"/>
          <a:ext cx="9901428" cy="3995927"/>
        </p:xfrm>
        <a:graphic>
          <a:graphicData uri="http://schemas.openxmlformats.org/drawingml/2006/table">
            <a:tbl>
              <a:tblPr firstRow="1" firstCol="1" bandRow="1">
                <a:tableStyleId>{5C22544A-7EE6-4342-B048-85BDC9FD1C3A}</a:tableStyleId>
              </a:tblPr>
              <a:tblGrid>
                <a:gridCol w="891471">
                  <a:extLst>
                    <a:ext uri="{9D8B030D-6E8A-4147-A177-3AD203B41FA5}">
                      <a16:colId xmlns:a16="http://schemas.microsoft.com/office/drawing/2014/main" val="2431736016"/>
                    </a:ext>
                  </a:extLst>
                </a:gridCol>
                <a:gridCol w="1906854">
                  <a:extLst>
                    <a:ext uri="{9D8B030D-6E8A-4147-A177-3AD203B41FA5}">
                      <a16:colId xmlns:a16="http://schemas.microsoft.com/office/drawing/2014/main" val="1636412607"/>
                    </a:ext>
                  </a:extLst>
                </a:gridCol>
                <a:gridCol w="1587903">
                  <a:extLst>
                    <a:ext uri="{9D8B030D-6E8A-4147-A177-3AD203B41FA5}">
                      <a16:colId xmlns:a16="http://schemas.microsoft.com/office/drawing/2014/main" val="3244124828"/>
                    </a:ext>
                  </a:extLst>
                </a:gridCol>
                <a:gridCol w="1462843">
                  <a:extLst>
                    <a:ext uri="{9D8B030D-6E8A-4147-A177-3AD203B41FA5}">
                      <a16:colId xmlns:a16="http://schemas.microsoft.com/office/drawing/2014/main" val="3361589802"/>
                    </a:ext>
                  </a:extLst>
                </a:gridCol>
                <a:gridCol w="1560368">
                  <a:extLst>
                    <a:ext uri="{9D8B030D-6E8A-4147-A177-3AD203B41FA5}">
                      <a16:colId xmlns:a16="http://schemas.microsoft.com/office/drawing/2014/main" val="2912941482"/>
                    </a:ext>
                  </a:extLst>
                </a:gridCol>
                <a:gridCol w="2491989">
                  <a:extLst>
                    <a:ext uri="{9D8B030D-6E8A-4147-A177-3AD203B41FA5}">
                      <a16:colId xmlns:a16="http://schemas.microsoft.com/office/drawing/2014/main" val="1757200898"/>
                    </a:ext>
                  </a:extLst>
                </a:gridCol>
              </a:tblGrid>
              <a:tr h="268155">
                <a:tc>
                  <a:txBody>
                    <a:bodyPr/>
                    <a:lstStyle/>
                    <a:p>
                      <a:pPr algn="just">
                        <a:lnSpc>
                          <a:spcPct val="200000"/>
                        </a:lnSpc>
                        <a:spcAft>
                          <a:spcPts val="800"/>
                        </a:spcAft>
                        <a:buNone/>
                      </a:pPr>
                      <a:r>
                        <a:rPr lang="en-PH" sz="800" kern="100" dirty="0">
                          <a:effectLst/>
                        </a:rPr>
                        <a:t>ID</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tc>
                  <a:txBody>
                    <a:bodyPr/>
                    <a:lstStyle/>
                    <a:p>
                      <a:pPr algn="just">
                        <a:lnSpc>
                          <a:spcPct val="200000"/>
                        </a:lnSpc>
                        <a:spcAft>
                          <a:spcPts val="800"/>
                        </a:spcAft>
                        <a:buNone/>
                      </a:pPr>
                      <a:r>
                        <a:rPr lang="en-PH" sz="800" kern="100">
                          <a:effectLst/>
                        </a:rPr>
                        <a:t>Requirement</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tc>
                  <a:txBody>
                    <a:bodyPr/>
                    <a:lstStyle/>
                    <a:p>
                      <a:pPr algn="just">
                        <a:lnSpc>
                          <a:spcPct val="200000"/>
                        </a:lnSpc>
                        <a:spcAft>
                          <a:spcPts val="800"/>
                        </a:spcAft>
                        <a:buNone/>
                      </a:pPr>
                      <a:r>
                        <a:rPr lang="en-PH" sz="800" kern="100">
                          <a:effectLst/>
                        </a:rPr>
                        <a:t>User Role</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tc>
                  <a:txBody>
                    <a:bodyPr/>
                    <a:lstStyle/>
                    <a:p>
                      <a:pPr algn="just">
                        <a:lnSpc>
                          <a:spcPct val="200000"/>
                        </a:lnSpc>
                        <a:spcAft>
                          <a:spcPts val="800"/>
                        </a:spcAft>
                        <a:buNone/>
                      </a:pPr>
                      <a:r>
                        <a:rPr lang="en-PH" sz="800" kern="100">
                          <a:effectLst/>
                        </a:rPr>
                        <a:t>Input</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tc>
                  <a:txBody>
                    <a:bodyPr/>
                    <a:lstStyle/>
                    <a:p>
                      <a:pPr algn="just">
                        <a:lnSpc>
                          <a:spcPct val="200000"/>
                        </a:lnSpc>
                        <a:spcAft>
                          <a:spcPts val="800"/>
                        </a:spcAft>
                        <a:buNone/>
                      </a:pPr>
                      <a:r>
                        <a:rPr lang="en-PH" sz="800" kern="100">
                          <a:effectLst/>
                        </a:rPr>
                        <a:t>Output</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tc>
                  <a:txBody>
                    <a:bodyPr/>
                    <a:lstStyle/>
                    <a:p>
                      <a:pPr algn="just">
                        <a:lnSpc>
                          <a:spcPct val="200000"/>
                        </a:lnSpc>
                        <a:spcAft>
                          <a:spcPts val="800"/>
                        </a:spcAft>
                        <a:buNone/>
                      </a:pPr>
                      <a:r>
                        <a:rPr lang="en-PH" sz="800" kern="100">
                          <a:effectLst/>
                        </a:rPr>
                        <a:t>Validation Rules</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extLst>
                  <a:ext uri="{0D108BD9-81ED-4DB2-BD59-A6C34878D82A}">
                    <a16:rowId xmlns:a16="http://schemas.microsoft.com/office/drawing/2014/main" val="2829134676"/>
                  </a:ext>
                </a:extLst>
              </a:tr>
              <a:tr h="581586">
                <a:tc>
                  <a:txBody>
                    <a:bodyPr/>
                    <a:lstStyle/>
                    <a:p>
                      <a:pPr algn="just">
                        <a:lnSpc>
                          <a:spcPct val="200000"/>
                        </a:lnSpc>
                        <a:spcAft>
                          <a:spcPts val="800"/>
                        </a:spcAft>
                        <a:buNone/>
                      </a:pPr>
                      <a:r>
                        <a:rPr lang="en-PH" sz="800" kern="100">
                          <a:effectLst/>
                        </a:rPr>
                        <a:t>FR-01</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tc>
                  <a:txBody>
                    <a:bodyPr/>
                    <a:lstStyle/>
                    <a:p>
                      <a:pPr algn="just">
                        <a:lnSpc>
                          <a:spcPct val="200000"/>
                        </a:lnSpc>
                        <a:spcAft>
                          <a:spcPts val="800"/>
                        </a:spcAft>
                        <a:buNone/>
                      </a:pPr>
                      <a:r>
                        <a:rPr lang="en-PH" sz="800" kern="100" dirty="0">
                          <a:effectLst/>
                        </a:rPr>
                        <a:t>User Login and Access Control</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tc>
                  <a:txBody>
                    <a:bodyPr/>
                    <a:lstStyle/>
                    <a:p>
                      <a:pPr algn="just">
                        <a:lnSpc>
                          <a:spcPct val="200000"/>
                        </a:lnSpc>
                        <a:spcAft>
                          <a:spcPts val="800"/>
                        </a:spcAft>
                        <a:buNone/>
                      </a:pPr>
                      <a:r>
                        <a:rPr lang="en-PH" sz="800" kern="100">
                          <a:effectLst/>
                        </a:rPr>
                        <a:t>Student, Teacher, Admin</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tc>
                  <a:txBody>
                    <a:bodyPr/>
                    <a:lstStyle/>
                    <a:p>
                      <a:pPr algn="just">
                        <a:lnSpc>
                          <a:spcPct val="200000"/>
                        </a:lnSpc>
                        <a:spcAft>
                          <a:spcPts val="800"/>
                        </a:spcAft>
                        <a:buNone/>
                      </a:pPr>
                      <a:r>
                        <a:rPr lang="en-PH" sz="800" kern="100">
                          <a:effectLst/>
                        </a:rPr>
                        <a:t>Username, Password</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tc>
                  <a:txBody>
                    <a:bodyPr/>
                    <a:lstStyle/>
                    <a:p>
                      <a:pPr algn="just">
                        <a:lnSpc>
                          <a:spcPct val="200000"/>
                        </a:lnSpc>
                        <a:spcAft>
                          <a:spcPts val="800"/>
                        </a:spcAft>
                        <a:buNone/>
                      </a:pPr>
                      <a:r>
                        <a:rPr lang="en-PH" sz="800" kern="100">
                          <a:effectLst/>
                        </a:rPr>
                        <a:t>Authenticated session; role-based dashboard</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tc>
                  <a:txBody>
                    <a:bodyPr/>
                    <a:lstStyle/>
                    <a:p>
                      <a:pPr algn="just">
                        <a:lnSpc>
                          <a:spcPct val="200000"/>
                        </a:lnSpc>
                        <a:spcAft>
                          <a:spcPts val="800"/>
                        </a:spcAft>
                        <a:buNone/>
                      </a:pPr>
                      <a:r>
                        <a:rPr lang="en-PH" sz="800" kern="100">
                          <a:effectLst/>
                        </a:rPr>
                        <a:t>Credentials must match database</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extLst>
                  <a:ext uri="{0D108BD9-81ED-4DB2-BD59-A6C34878D82A}">
                    <a16:rowId xmlns:a16="http://schemas.microsoft.com/office/drawing/2014/main" val="1953410339"/>
                  </a:ext>
                </a:extLst>
              </a:tr>
              <a:tr h="581586">
                <a:tc>
                  <a:txBody>
                    <a:bodyPr/>
                    <a:lstStyle/>
                    <a:p>
                      <a:pPr algn="just">
                        <a:lnSpc>
                          <a:spcPct val="200000"/>
                        </a:lnSpc>
                        <a:spcAft>
                          <a:spcPts val="800"/>
                        </a:spcAft>
                        <a:buNone/>
                      </a:pPr>
                      <a:r>
                        <a:rPr lang="en-PH" sz="800" kern="100">
                          <a:effectLst/>
                        </a:rPr>
                        <a:t>FR-02</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tc>
                  <a:txBody>
                    <a:bodyPr/>
                    <a:lstStyle/>
                    <a:p>
                      <a:pPr algn="just">
                        <a:lnSpc>
                          <a:spcPct val="200000"/>
                        </a:lnSpc>
                        <a:spcAft>
                          <a:spcPts val="800"/>
                        </a:spcAft>
                        <a:buNone/>
                      </a:pPr>
                      <a:r>
                        <a:rPr lang="en-PH" sz="800" kern="100">
                          <a:effectLst/>
                        </a:rPr>
                        <a:t>AI Chatbot for Academic Questions</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tc>
                  <a:txBody>
                    <a:bodyPr/>
                    <a:lstStyle/>
                    <a:p>
                      <a:pPr algn="just">
                        <a:lnSpc>
                          <a:spcPct val="200000"/>
                        </a:lnSpc>
                        <a:spcAft>
                          <a:spcPts val="800"/>
                        </a:spcAft>
                        <a:buNone/>
                      </a:pPr>
                      <a:r>
                        <a:rPr lang="en-PH" sz="800" kern="100">
                          <a:effectLst/>
                        </a:rPr>
                        <a:t>Student</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tc>
                  <a:txBody>
                    <a:bodyPr/>
                    <a:lstStyle/>
                    <a:p>
                      <a:pPr algn="just">
                        <a:lnSpc>
                          <a:spcPct val="200000"/>
                        </a:lnSpc>
                        <a:spcAft>
                          <a:spcPts val="800"/>
                        </a:spcAft>
                        <a:buNone/>
                      </a:pPr>
                      <a:r>
                        <a:rPr lang="en-PH" sz="800" kern="100">
                          <a:effectLst/>
                        </a:rPr>
                        <a:t>Text question (English, Tagalog, Cebuano)</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tc>
                  <a:txBody>
                    <a:bodyPr/>
                    <a:lstStyle/>
                    <a:p>
                      <a:pPr algn="just">
                        <a:lnSpc>
                          <a:spcPct val="200000"/>
                        </a:lnSpc>
                        <a:spcAft>
                          <a:spcPts val="800"/>
                        </a:spcAft>
                        <a:buNone/>
                      </a:pPr>
                      <a:r>
                        <a:rPr lang="en-PH" sz="800" kern="100">
                          <a:effectLst/>
                        </a:rPr>
                        <a:t>AI-generated explanation</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tc>
                  <a:txBody>
                    <a:bodyPr/>
                    <a:lstStyle/>
                    <a:p>
                      <a:pPr algn="just">
                        <a:lnSpc>
                          <a:spcPct val="200000"/>
                        </a:lnSpc>
                        <a:spcAft>
                          <a:spcPts val="800"/>
                        </a:spcAft>
                        <a:buNone/>
                      </a:pPr>
                      <a:r>
                        <a:rPr lang="en-PH" sz="800" kern="100">
                          <a:effectLst/>
                        </a:rPr>
                        <a:t>Question must be non-empty</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extLst>
                  <a:ext uri="{0D108BD9-81ED-4DB2-BD59-A6C34878D82A}">
                    <a16:rowId xmlns:a16="http://schemas.microsoft.com/office/drawing/2014/main" val="2151950571"/>
                  </a:ext>
                </a:extLst>
              </a:tr>
              <a:tr h="703794">
                <a:tc>
                  <a:txBody>
                    <a:bodyPr/>
                    <a:lstStyle/>
                    <a:p>
                      <a:pPr algn="just">
                        <a:lnSpc>
                          <a:spcPct val="200000"/>
                        </a:lnSpc>
                        <a:spcAft>
                          <a:spcPts val="800"/>
                        </a:spcAft>
                        <a:buNone/>
                      </a:pPr>
                      <a:r>
                        <a:rPr lang="en-PH" sz="800" kern="100" dirty="0">
                          <a:effectLst/>
                        </a:rPr>
                        <a:t>FR-03</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tc>
                  <a:txBody>
                    <a:bodyPr/>
                    <a:lstStyle/>
                    <a:p>
                      <a:pPr algn="just">
                        <a:lnSpc>
                          <a:spcPct val="200000"/>
                        </a:lnSpc>
                        <a:spcAft>
                          <a:spcPts val="800"/>
                        </a:spcAft>
                        <a:buNone/>
                      </a:pPr>
                      <a:r>
                        <a:rPr lang="en-PH" sz="800" kern="100">
                          <a:effectLst/>
                        </a:rPr>
                        <a:t>Career Path Suggestions</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tc>
                  <a:txBody>
                    <a:bodyPr/>
                    <a:lstStyle/>
                    <a:p>
                      <a:pPr algn="just">
                        <a:lnSpc>
                          <a:spcPct val="200000"/>
                        </a:lnSpc>
                        <a:spcAft>
                          <a:spcPts val="800"/>
                        </a:spcAft>
                        <a:buNone/>
                      </a:pPr>
                      <a:r>
                        <a:rPr lang="en-PH" sz="800" kern="100">
                          <a:effectLst/>
                        </a:rPr>
                        <a:t>Student</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tc>
                  <a:txBody>
                    <a:bodyPr/>
                    <a:lstStyle/>
                    <a:p>
                      <a:pPr algn="just">
                        <a:lnSpc>
                          <a:spcPct val="200000"/>
                        </a:lnSpc>
                        <a:spcAft>
                          <a:spcPts val="800"/>
                        </a:spcAft>
                        <a:buNone/>
                      </a:pPr>
                      <a:r>
                        <a:rPr lang="en-PH" sz="800" kern="100">
                          <a:effectLst/>
                        </a:rPr>
                        <a:t>Interests, grade level, strengths</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tc>
                  <a:txBody>
                    <a:bodyPr/>
                    <a:lstStyle/>
                    <a:p>
                      <a:pPr algn="just">
                        <a:lnSpc>
                          <a:spcPct val="200000"/>
                        </a:lnSpc>
                        <a:spcAft>
                          <a:spcPts val="800"/>
                        </a:spcAft>
                        <a:buNone/>
                      </a:pPr>
                      <a:r>
                        <a:rPr lang="en-PH" sz="800" kern="100">
                          <a:effectLst/>
                        </a:rPr>
                        <a:t>List of suggested careers with descriptions</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tc>
                  <a:txBody>
                    <a:bodyPr/>
                    <a:lstStyle/>
                    <a:p>
                      <a:pPr algn="just">
                        <a:lnSpc>
                          <a:spcPct val="200000"/>
                        </a:lnSpc>
                        <a:spcAft>
                          <a:spcPts val="800"/>
                        </a:spcAft>
                        <a:buNone/>
                      </a:pPr>
                      <a:r>
                        <a:rPr lang="en-PH" sz="800" kern="100" dirty="0">
                          <a:effectLst/>
                        </a:rPr>
                        <a:t>Input must be valid</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extLst>
                  <a:ext uri="{0D108BD9-81ED-4DB2-BD59-A6C34878D82A}">
                    <a16:rowId xmlns:a16="http://schemas.microsoft.com/office/drawing/2014/main" val="1682210864"/>
                  </a:ext>
                </a:extLst>
              </a:tr>
              <a:tr h="505451">
                <a:tc>
                  <a:txBody>
                    <a:bodyPr/>
                    <a:lstStyle/>
                    <a:p>
                      <a:pPr algn="just">
                        <a:lnSpc>
                          <a:spcPct val="200000"/>
                        </a:lnSpc>
                        <a:spcAft>
                          <a:spcPts val="800"/>
                        </a:spcAft>
                        <a:buNone/>
                      </a:pPr>
                      <a:r>
                        <a:rPr lang="en-PH" sz="800" kern="100" dirty="0">
                          <a:effectLst/>
                        </a:rPr>
                        <a:t>FR-04</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tc>
                  <a:txBody>
                    <a:bodyPr/>
                    <a:lstStyle/>
                    <a:p>
                      <a:pPr algn="just">
                        <a:lnSpc>
                          <a:spcPct val="200000"/>
                        </a:lnSpc>
                        <a:spcAft>
                          <a:spcPts val="800"/>
                        </a:spcAft>
                        <a:buNone/>
                      </a:pPr>
                      <a:r>
                        <a:rPr lang="en-PH" sz="800" kern="100">
                          <a:effectLst/>
                        </a:rPr>
                        <a:t>Suggested Prompts</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tc>
                  <a:txBody>
                    <a:bodyPr/>
                    <a:lstStyle/>
                    <a:p>
                      <a:pPr algn="just">
                        <a:lnSpc>
                          <a:spcPct val="200000"/>
                        </a:lnSpc>
                        <a:spcAft>
                          <a:spcPts val="800"/>
                        </a:spcAft>
                        <a:buNone/>
                      </a:pPr>
                      <a:r>
                        <a:rPr lang="en-PH" sz="800" kern="100">
                          <a:effectLst/>
                        </a:rPr>
                        <a:t>Student</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tc>
                  <a:txBody>
                    <a:bodyPr/>
                    <a:lstStyle/>
                    <a:p>
                      <a:pPr algn="just">
                        <a:lnSpc>
                          <a:spcPct val="200000"/>
                        </a:lnSpc>
                        <a:spcAft>
                          <a:spcPts val="800"/>
                        </a:spcAft>
                        <a:buNone/>
                      </a:pPr>
                      <a:r>
                        <a:rPr lang="en-PH" sz="800" kern="100">
                          <a:effectLst/>
                        </a:rPr>
                        <a:t>None</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tc>
                  <a:txBody>
                    <a:bodyPr/>
                    <a:lstStyle/>
                    <a:p>
                      <a:pPr algn="just">
                        <a:lnSpc>
                          <a:spcPct val="200000"/>
                        </a:lnSpc>
                        <a:spcAft>
                          <a:spcPts val="800"/>
                        </a:spcAft>
                        <a:buNone/>
                      </a:pPr>
                      <a:r>
                        <a:rPr lang="en-PH" sz="800" kern="100">
                          <a:effectLst/>
                        </a:rPr>
                        <a:t>List of common academic topics</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tc>
                  <a:txBody>
                    <a:bodyPr/>
                    <a:lstStyle/>
                    <a:p>
                      <a:pPr algn="just">
                        <a:lnSpc>
                          <a:spcPct val="200000"/>
                        </a:lnSpc>
                        <a:spcAft>
                          <a:spcPts val="800"/>
                        </a:spcAft>
                        <a:buNone/>
                      </a:pPr>
                      <a:r>
                        <a:rPr lang="en-PH" sz="800" kern="100" dirty="0">
                          <a:effectLst/>
                        </a:rPr>
                        <a:t>Display predefined list</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extLst>
                  <a:ext uri="{0D108BD9-81ED-4DB2-BD59-A6C34878D82A}">
                    <a16:rowId xmlns:a16="http://schemas.microsoft.com/office/drawing/2014/main" val="3208869673"/>
                  </a:ext>
                </a:extLst>
              </a:tr>
              <a:tr h="268318">
                <a:tc>
                  <a:txBody>
                    <a:bodyPr/>
                    <a:lstStyle/>
                    <a:p>
                      <a:pPr algn="just">
                        <a:lnSpc>
                          <a:spcPct val="200000"/>
                        </a:lnSpc>
                        <a:spcAft>
                          <a:spcPts val="800"/>
                        </a:spcAft>
                        <a:buNone/>
                      </a:pPr>
                      <a:r>
                        <a:rPr lang="en-PH" sz="800" kern="100" dirty="0">
                          <a:effectLst/>
                        </a:rPr>
                        <a:t>FR-05</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tc>
                  <a:txBody>
                    <a:bodyPr/>
                    <a:lstStyle/>
                    <a:p>
                      <a:pPr algn="just">
                        <a:lnSpc>
                          <a:spcPct val="200000"/>
                        </a:lnSpc>
                        <a:spcAft>
                          <a:spcPts val="800"/>
                        </a:spcAft>
                        <a:buNone/>
                      </a:pPr>
                      <a:r>
                        <a:rPr lang="en-PH" sz="800" kern="100">
                          <a:effectLst/>
                        </a:rPr>
                        <a:t>Voice Input</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tc>
                  <a:txBody>
                    <a:bodyPr/>
                    <a:lstStyle/>
                    <a:p>
                      <a:pPr algn="just">
                        <a:lnSpc>
                          <a:spcPct val="200000"/>
                        </a:lnSpc>
                        <a:spcAft>
                          <a:spcPts val="800"/>
                        </a:spcAft>
                        <a:buNone/>
                      </a:pPr>
                      <a:r>
                        <a:rPr lang="en-PH" sz="800" kern="100">
                          <a:effectLst/>
                        </a:rPr>
                        <a:t>Student</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tc>
                  <a:txBody>
                    <a:bodyPr/>
                    <a:lstStyle/>
                    <a:p>
                      <a:pPr algn="just">
                        <a:lnSpc>
                          <a:spcPct val="200000"/>
                        </a:lnSpc>
                        <a:spcAft>
                          <a:spcPts val="800"/>
                        </a:spcAft>
                        <a:buNone/>
                      </a:pPr>
                      <a:r>
                        <a:rPr lang="en-PH" sz="800" kern="100">
                          <a:effectLst/>
                        </a:rPr>
                        <a:t>Audio recording</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tc>
                  <a:txBody>
                    <a:bodyPr/>
                    <a:lstStyle/>
                    <a:p>
                      <a:pPr algn="just">
                        <a:lnSpc>
                          <a:spcPct val="200000"/>
                        </a:lnSpc>
                        <a:spcAft>
                          <a:spcPts val="800"/>
                        </a:spcAft>
                        <a:buNone/>
                      </a:pPr>
                      <a:r>
                        <a:rPr lang="en-PH" sz="800" kern="100">
                          <a:effectLst/>
                        </a:rPr>
                        <a:t>Converted text query</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tc>
                  <a:txBody>
                    <a:bodyPr/>
                    <a:lstStyle/>
                    <a:p>
                      <a:pPr algn="just">
                        <a:lnSpc>
                          <a:spcPct val="200000"/>
                        </a:lnSpc>
                        <a:spcAft>
                          <a:spcPts val="800"/>
                        </a:spcAft>
                        <a:buNone/>
                      </a:pPr>
                      <a:r>
                        <a:rPr lang="en-PH" sz="800" kern="100">
                          <a:effectLst/>
                        </a:rPr>
                        <a:t>Microphone permission required</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extLst>
                  <a:ext uri="{0D108BD9-81ED-4DB2-BD59-A6C34878D82A}">
                    <a16:rowId xmlns:a16="http://schemas.microsoft.com/office/drawing/2014/main" val="2549701759"/>
                  </a:ext>
                </a:extLst>
              </a:tr>
              <a:tr h="581586">
                <a:tc>
                  <a:txBody>
                    <a:bodyPr/>
                    <a:lstStyle/>
                    <a:p>
                      <a:pPr algn="just">
                        <a:lnSpc>
                          <a:spcPct val="200000"/>
                        </a:lnSpc>
                        <a:spcAft>
                          <a:spcPts val="800"/>
                        </a:spcAft>
                        <a:buNone/>
                      </a:pPr>
                      <a:r>
                        <a:rPr lang="en-PH" sz="800" kern="100" dirty="0">
                          <a:effectLst/>
                        </a:rPr>
                        <a:t>FR-06</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tc>
                  <a:txBody>
                    <a:bodyPr/>
                    <a:lstStyle/>
                    <a:p>
                      <a:pPr algn="just">
                        <a:lnSpc>
                          <a:spcPct val="200000"/>
                        </a:lnSpc>
                        <a:spcAft>
                          <a:spcPts val="800"/>
                        </a:spcAft>
                        <a:buNone/>
                      </a:pPr>
                      <a:r>
                        <a:rPr lang="en-PH" sz="800" kern="100">
                          <a:effectLst/>
                        </a:rPr>
                        <a:t>File Attachment</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tc>
                  <a:txBody>
                    <a:bodyPr/>
                    <a:lstStyle/>
                    <a:p>
                      <a:pPr algn="just">
                        <a:lnSpc>
                          <a:spcPct val="200000"/>
                        </a:lnSpc>
                        <a:spcAft>
                          <a:spcPts val="800"/>
                        </a:spcAft>
                        <a:buNone/>
                      </a:pPr>
                      <a:r>
                        <a:rPr lang="en-PH" sz="800" kern="100">
                          <a:effectLst/>
                        </a:rPr>
                        <a:t>Student</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tc>
                  <a:txBody>
                    <a:bodyPr/>
                    <a:lstStyle/>
                    <a:p>
                      <a:pPr algn="just">
                        <a:lnSpc>
                          <a:spcPct val="200000"/>
                        </a:lnSpc>
                        <a:spcAft>
                          <a:spcPts val="800"/>
                        </a:spcAft>
                        <a:buNone/>
                      </a:pPr>
                      <a:r>
                        <a:rPr lang="en-PH" sz="800" kern="100">
                          <a:effectLst/>
                        </a:rPr>
                        <a:t>Image or document</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tc>
                  <a:txBody>
                    <a:bodyPr/>
                    <a:lstStyle/>
                    <a:p>
                      <a:pPr algn="just">
                        <a:lnSpc>
                          <a:spcPct val="200000"/>
                        </a:lnSpc>
                        <a:spcAft>
                          <a:spcPts val="800"/>
                        </a:spcAft>
                        <a:buNone/>
                      </a:pPr>
                      <a:r>
                        <a:rPr lang="en-PH" sz="800" kern="100">
                          <a:effectLst/>
                        </a:rPr>
                        <a:t>AI-assisted response based on attachment</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tc>
                  <a:txBody>
                    <a:bodyPr/>
                    <a:lstStyle/>
                    <a:p>
                      <a:pPr algn="just">
                        <a:lnSpc>
                          <a:spcPct val="200000"/>
                        </a:lnSpc>
                        <a:spcAft>
                          <a:spcPts val="800"/>
                        </a:spcAft>
                        <a:buNone/>
                      </a:pPr>
                      <a:r>
                        <a:rPr lang="en-PH" sz="800" kern="100">
                          <a:effectLst/>
                        </a:rPr>
                        <a:t>File size ≤ 5MB</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extLst>
                  <a:ext uri="{0D108BD9-81ED-4DB2-BD59-A6C34878D82A}">
                    <a16:rowId xmlns:a16="http://schemas.microsoft.com/office/drawing/2014/main" val="2524267726"/>
                  </a:ext>
                </a:extLst>
              </a:tr>
              <a:tr h="505451">
                <a:tc>
                  <a:txBody>
                    <a:bodyPr/>
                    <a:lstStyle/>
                    <a:p>
                      <a:pPr algn="just">
                        <a:lnSpc>
                          <a:spcPct val="200000"/>
                        </a:lnSpc>
                        <a:spcAft>
                          <a:spcPts val="800"/>
                        </a:spcAft>
                        <a:buNone/>
                      </a:pPr>
                      <a:r>
                        <a:rPr lang="en-PH" sz="800" kern="100" dirty="0">
                          <a:effectLst/>
                        </a:rPr>
                        <a:t>FR-07</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tc>
                  <a:txBody>
                    <a:bodyPr/>
                    <a:lstStyle/>
                    <a:p>
                      <a:pPr algn="just">
                        <a:lnSpc>
                          <a:spcPct val="200000"/>
                        </a:lnSpc>
                        <a:spcAft>
                          <a:spcPts val="800"/>
                        </a:spcAft>
                        <a:buNone/>
                      </a:pPr>
                      <a:r>
                        <a:rPr lang="en-PH" sz="800" kern="100">
                          <a:effectLst/>
                        </a:rPr>
                        <a:t>Multilingual Support</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tc>
                  <a:txBody>
                    <a:bodyPr/>
                    <a:lstStyle/>
                    <a:p>
                      <a:pPr algn="just">
                        <a:lnSpc>
                          <a:spcPct val="200000"/>
                        </a:lnSpc>
                        <a:spcAft>
                          <a:spcPts val="800"/>
                        </a:spcAft>
                        <a:buNone/>
                      </a:pPr>
                      <a:r>
                        <a:rPr lang="en-PH" sz="800" kern="100">
                          <a:effectLst/>
                        </a:rPr>
                        <a:t>Student</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tc>
                  <a:txBody>
                    <a:bodyPr/>
                    <a:lstStyle/>
                    <a:p>
                      <a:pPr algn="just">
                        <a:lnSpc>
                          <a:spcPct val="200000"/>
                        </a:lnSpc>
                        <a:spcAft>
                          <a:spcPts val="800"/>
                        </a:spcAft>
                        <a:buNone/>
                      </a:pPr>
                      <a:r>
                        <a:rPr lang="en-PH" sz="800" kern="100">
                          <a:effectLst/>
                        </a:rPr>
                        <a:t>Language selection</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tc>
                  <a:txBody>
                    <a:bodyPr/>
                    <a:lstStyle/>
                    <a:p>
                      <a:pPr algn="just">
                        <a:lnSpc>
                          <a:spcPct val="200000"/>
                        </a:lnSpc>
                        <a:spcAft>
                          <a:spcPts val="800"/>
                        </a:spcAft>
                        <a:buNone/>
                      </a:pPr>
                      <a:r>
                        <a:rPr lang="en-PH" sz="800" kern="100">
                          <a:effectLst/>
                        </a:rPr>
                        <a:t>Responses in chosen language</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tc>
                  <a:txBody>
                    <a:bodyPr/>
                    <a:lstStyle/>
                    <a:p>
                      <a:pPr algn="just">
                        <a:lnSpc>
                          <a:spcPct val="200000"/>
                        </a:lnSpc>
                        <a:spcAft>
                          <a:spcPts val="800"/>
                        </a:spcAft>
                        <a:buNone/>
                      </a:pPr>
                      <a:r>
                        <a:rPr lang="en-PH" sz="800" kern="100" dirty="0">
                          <a:effectLst/>
                        </a:rPr>
                        <a:t>Supports English, Tagalog, Cebuano</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245" marR="16245" marT="0" marB="0" anchor="b"/>
                </a:tc>
                <a:extLst>
                  <a:ext uri="{0D108BD9-81ED-4DB2-BD59-A6C34878D82A}">
                    <a16:rowId xmlns:a16="http://schemas.microsoft.com/office/drawing/2014/main" val="3441488083"/>
                  </a:ext>
                </a:extLst>
              </a:tr>
            </a:tbl>
          </a:graphicData>
        </a:graphic>
      </p:graphicFrame>
    </p:spTree>
    <p:extLst>
      <p:ext uri="{BB962C8B-B14F-4D97-AF65-F5344CB8AC3E}">
        <p14:creationId xmlns:p14="http://schemas.microsoft.com/office/powerpoint/2010/main" val="3170825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C9467-3A34-08EB-7EE9-420D0E7BC53B}"/>
              </a:ext>
            </a:extLst>
          </p:cNvPr>
          <p:cNvSpPr>
            <a:spLocks noGrp="1"/>
          </p:cNvSpPr>
          <p:nvPr>
            <p:ph type="title"/>
          </p:nvPr>
        </p:nvSpPr>
        <p:spPr/>
        <p:txBody>
          <a:bodyPr/>
          <a:lstStyle/>
          <a:p>
            <a:r>
              <a:rPr lang="en-PH" b="1" dirty="0"/>
              <a:t>USE CASE DIAGRAM</a:t>
            </a:r>
            <a:br>
              <a:rPr lang="en-PH" b="1" dirty="0"/>
            </a:br>
            <a:endParaRPr lang="en-PH" dirty="0"/>
          </a:p>
        </p:txBody>
      </p:sp>
      <p:pic>
        <p:nvPicPr>
          <p:cNvPr id="5" name="Content Placeholder 4">
            <a:extLst>
              <a:ext uri="{FF2B5EF4-FFF2-40B4-BE49-F238E27FC236}">
                <a16:creationId xmlns:a16="http://schemas.microsoft.com/office/drawing/2014/main" id="{9D56D561-6343-3248-AA20-BD907C670CF4}"/>
              </a:ext>
            </a:extLst>
          </p:cNvPr>
          <p:cNvPicPr>
            <a:picLocks noGrp="1" noChangeAspect="1"/>
          </p:cNvPicPr>
          <p:nvPr>
            <p:ph idx="1"/>
          </p:nvPr>
        </p:nvPicPr>
        <p:blipFill>
          <a:blip r:embed="rId2"/>
          <a:stretch>
            <a:fillRect/>
          </a:stretch>
        </p:blipFill>
        <p:spPr>
          <a:xfrm>
            <a:off x="2843785" y="2603500"/>
            <a:ext cx="5550408" cy="3705484"/>
          </a:xfrm>
          <a:prstGeom prst="rect">
            <a:avLst/>
          </a:prstGeom>
        </p:spPr>
      </p:pic>
    </p:spTree>
    <p:extLst>
      <p:ext uri="{BB962C8B-B14F-4D97-AF65-F5344CB8AC3E}">
        <p14:creationId xmlns:p14="http://schemas.microsoft.com/office/powerpoint/2010/main" val="30182789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1527D-E625-4CC7-20D2-ADF48DF12621}"/>
              </a:ext>
            </a:extLst>
          </p:cNvPr>
          <p:cNvSpPr>
            <a:spLocks noGrp="1"/>
          </p:cNvSpPr>
          <p:nvPr>
            <p:ph type="title"/>
          </p:nvPr>
        </p:nvSpPr>
        <p:spPr/>
        <p:txBody>
          <a:bodyPr/>
          <a:lstStyle/>
          <a:p>
            <a:r>
              <a:rPr lang="en-PH" b="1" dirty="0"/>
              <a:t>Proposed System Architecture</a:t>
            </a:r>
            <a:br>
              <a:rPr lang="en-PH" b="1" dirty="0"/>
            </a:br>
            <a:endParaRPr lang="en-PH" dirty="0"/>
          </a:p>
        </p:txBody>
      </p:sp>
      <p:sp>
        <p:nvSpPr>
          <p:cNvPr id="3" name="Content Placeholder 2">
            <a:extLst>
              <a:ext uri="{FF2B5EF4-FFF2-40B4-BE49-F238E27FC236}">
                <a16:creationId xmlns:a16="http://schemas.microsoft.com/office/drawing/2014/main" id="{E628F866-B18E-079F-8B6A-6ACFBDA07A63}"/>
              </a:ext>
            </a:extLst>
          </p:cNvPr>
          <p:cNvSpPr>
            <a:spLocks noGrp="1"/>
          </p:cNvSpPr>
          <p:nvPr>
            <p:ph idx="1"/>
          </p:nvPr>
        </p:nvSpPr>
        <p:spPr>
          <a:xfrm>
            <a:off x="963168" y="2256028"/>
            <a:ext cx="10110216" cy="4483100"/>
          </a:xfrm>
        </p:spPr>
        <p:txBody>
          <a:bodyPr>
            <a:normAutofit fontScale="77500" lnSpcReduction="20000"/>
          </a:bodyPr>
          <a:lstStyle/>
          <a:p>
            <a:r>
              <a:rPr lang="en-PH" b="1" dirty="0"/>
              <a:t>Context Diagram:</a:t>
            </a:r>
            <a:endParaRPr lang="en-PH" dirty="0"/>
          </a:p>
          <a:p>
            <a:pPr lvl="1"/>
            <a:r>
              <a:rPr lang="en-PH" b="1" dirty="0"/>
              <a:t>External Entities:</a:t>
            </a:r>
            <a:r>
              <a:rPr lang="en-PH" dirty="0"/>
              <a:t> Student</a:t>
            </a:r>
          </a:p>
          <a:p>
            <a:pPr lvl="1"/>
            <a:r>
              <a:rPr lang="en-PH" b="1" dirty="0"/>
              <a:t>Process:</a:t>
            </a:r>
            <a:r>
              <a:rPr lang="en-PH" dirty="0"/>
              <a:t> EduGuide PH System</a:t>
            </a:r>
          </a:p>
          <a:p>
            <a:pPr lvl="1"/>
            <a:r>
              <a:rPr lang="en-PH" b="1" dirty="0"/>
              <a:t>Data Flows:</a:t>
            </a:r>
            <a:r>
              <a:rPr lang="en-PH" dirty="0"/>
              <a:t> Student inputs (questions, career interests, file attachments) -&gt; System; Outputs (AI responses, career suggestions) -&gt; Student</a:t>
            </a:r>
          </a:p>
          <a:p>
            <a:r>
              <a:rPr lang="en-PH" b="1" dirty="0"/>
              <a:t>Data Flow Diagram (DFD Level 1):</a:t>
            </a:r>
            <a:endParaRPr lang="en-PH" dirty="0"/>
          </a:p>
          <a:p>
            <a:pPr lvl="1"/>
            <a:r>
              <a:rPr lang="en-PH" dirty="0"/>
              <a:t>Student interacts with the </a:t>
            </a:r>
            <a:r>
              <a:rPr lang="en-PH" b="1" dirty="0"/>
              <a:t>User Interface</a:t>
            </a:r>
            <a:r>
              <a:rPr lang="en-PH" dirty="0"/>
              <a:t>.</a:t>
            </a:r>
          </a:p>
          <a:p>
            <a:pPr lvl="1"/>
            <a:r>
              <a:rPr lang="en-PH" dirty="0"/>
              <a:t>The </a:t>
            </a:r>
            <a:r>
              <a:rPr lang="en-PH" b="1" dirty="0"/>
              <a:t>Authentication Module</a:t>
            </a:r>
            <a:r>
              <a:rPr lang="en-PH" dirty="0"/>
              <a:t> validates credentials.</a:t>
            </a:r>
          </a:p>
          <a:p>
            <a:pPr lvl="1"/>
            <a:r>
              <a:rPr lang="en-PH" dirty="0"/>
              <a:t>The </a:t>
            </a:r>
            <a:r>
              <a:rPr lang="en-PH" b="1" dirty="0"/>
              <a:t>AI Processing Module</a:t>
            </a:r>
            <a:r>
              <a:rPr lang="en-PH" dirty="0"/>
              <a:t> communicates with the Google Gemini API to generate responses.</a:t>
            </a:r>
          </a:p>
          <a:p>
            <a:pPr lvl="1"/>
            <a:r>
              <a:rPr lang="en-PH" dirty="0"/>
              <a:t>The </a:t>
            </a:r>
            <a:r>
              <a:rPr lang="en-PH" b="1" dirty="0"/>
              <a:t>Career Guidance Module</a:t>
            </a:r>
            <a:r>
              <a:rPr lang="en-PH" dirty="0"/>
              <a:t> processes student inputs to suggest careers.</a:t>
            </a:r>
          </a:p>
          <a:p>
            <a:pPr lvl="1"/>
            <a:r>
              <a:rPr lang="en-PH" dirty="0"/>
              <a:t>The </a:t>
            </a:r>
            <a:r>
              <a:rPr lang="en-PH" b="1" dirty="0"/>
              <a:t>Database</a:t>
            </a:r>
            <a:r>
              <a:rPr lang="en-PH" dirty="0"/>
              <a:t> (</a:t>
            </a:r>
            <a:r>
              <a:rPr lang="en-PH" dirty="0" err="1"/>
              <a:t>Supabase</a:t>
            </a:r>
            <a:r>
              <a:rPr lang="en-PH" dirty="0"/>
              <a:t> PostgreSQL) stores user profiles, query history, and career preferences.</a:t>
            </a:r>
          </a:p>
          <a:p>
            <a:r>
              <a:rPr lang="en-PH" b="1" dirty="0"/>
              <a:t>Entity Relationship Diagram (ERD):</a:t>
            </a:r>
            <a:endParaRPr lang="en-PH" dirty="0"/>
          </a:p>
          <a:p>
            <a:pPr lvl="1"/>
            <a:r>
              <a:rPr lang="en-PH" b="1" dirty="0"/>
              <a:t>Entities:</a:t>
            </a:r>
            <a:r>
              <a:rPr lang="en-PH" dirty="0"/>
              <a:t> students, queries, </a:t>
            </a:r>
            <a:r>
              <a:rPr lang="en-PH" dirty="0" err="1"/>
              <a:t>career_preferences</a:t>
            </a:r>
            <a:r>
              <a:rPr lang="en-PH" dirty="0"/>
              <a:t>, sessions</a:t>
            </a:r>
          </a:p>
          <a:p>
            <a:pPr lvl="1"/>
            <a:r>
              <a:rPr lang="en-PH" b="1" dirty="0"/>
              <a:t>Relationships:</a:t>
            </a:r>
            <a:endParaRPr lang="en-PH" dirty="0"/>
          </a:p>
          <a:p>
            <a:pPr lvl="2"/>
            <a:r>
              <a:rPr lang="en-PH" dirty="0"/>
              <a:t>One student can have many queries.</a:t>
            </a:r>
          </a:p>
          <a:p>
            <a:pPr lvl="2"/>
            <a:r>
              <a:rPr lang="en-PH" dirty="0"/>
              <a:t>One student can have one </a:t>
            </a:r>
            <a:r>
              <a:rPr lang="en-PH" dirty="0" err="1"/>
              <a:t>career_preference</a:t>
            </a:r>
            <a:r>
              <a:rPr lang="en-PH" dirty="0"/>
              <a:t>.</a:t>
            </a:r>
          </a:p>
        </p:txBody>
      </p:sp>
    </p:spTree>
    <p:extLst>
      <p:ext uri="{BB962C8B-B14F-4D97-AF65-F5344CB8AC3E}">
        <p14:creationId xmlns:p14="http://schemas.microsoft.com/office/powerpoint/2010/main" val="42771235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DD509-CE5D-ED25-0CAA-F9F1714063CE}"/>
              </a:ext>
            </a:extLst>
          </p:cNvPr>
          <p:cNvSpPr>
            <a:spLocks noGrp="1"/>
          </p:cNvSpPr>
          <p:nvPr>
            <p:ph type="title"/>
          </p:nvPr>
        </p:nvSpPr>
        <p:spPr/>
        <p:txBody>
          <a:bodyPr/>
          <a:lstStyle/>
          <a:p>
            <a:r>
              <a:rPr lang="en-PH" b="1" dirty="0"/>
              <a:t>Database Design</a:t>
            </a:r>
            <a:br>
              <a:rPr lang="en-PH" b="1" dirty="0"/>
            </a:br>
            <a:endParaRPr lang="en-PH" dirty="0"/>
          </a:p>
        </p:txBody>
      </p:sp>
      <p:sp>
        <p:nvSpPr>
          <p:cNvPr id="3" name="Content Placeholder 2">
            <a:extLst>
              <a:ext uri="{FF2B5EF4-FFF2-40B4-BE49-F238E27FC236}">
                <a16:creationId xmlns:a16="http://schemas.microsoft.com/office/drawing/2014/main" id="{3D86DFEB-8DF5-9170-215E-E7BA11BBD7AB}"/>
              </a:ext>
            </a:extLst>
          </p:cNvPr>
          <p:cNvSpPr>
            <a:spLocks noGrp="1"/>
          </p:cNvSpPr>
          <p:nvPr>
            <p:ph idx="1"/>
          </p:nvPr>
        </p:nvSpPr>
        <p:spPr/>
        <p:txBody>
          <a:bodyPr>
            <a:normAutofit fontScale="77500" lnSpcReduction="20000"/>
          </a:bodyPr>
          <a:lstStyle/>
          <a:p>
            <a:pPr marL="0" indent="0">
              <a:buNone/>
            </a:pPr>
            <a:r>
              <a:rPr lang="en-PH" b="1" dirty="0"/>
              <a:t>Entities:</a:t>
            </a:r>
            <a:endParaRPr lang="en-PH" dirty="0"/>
          </a:p>
          <a:p>
            <a:pPr lvl="1"/>
            <a:r>
              <a:rPr lang="en-PH" dirty="0"/>
              <a:t>students (</a:t>
            </a:r>
            <a:r>
              <a:rPr lang="en-PH" dirty="0" err="1"/>
              <a:t>student_id</a:t>
            </a:r>
            <a:r>
              <a:rPr lang="en-PH" dirty="0"/>
              <a:t>, </a:t>
            </a:r>
            <a:r>
              <a:rPr lang="en-PH" dirty="0" err="1"/>
              <a:t>full_name</a:t>
            </a:r>
            <a:r>
              <a:rPr lang="en-PH" dirty="0"/>
              <a:t>, </a:t>
            </a:r>
            <a:r>
              <a:rPr lang="en-PH" dirty="0" err="1"/>
              <a:t>grade_level</a:t>
            </a:r>
            <a:r>
              <a:rPr lang="en-PH" dirty="0"/>
              <a:t>, email, </a:t>
            </a:r>
            <a:r>
              <a:rPr lang="en-PH" dirty="0" err="1"/>
              <a:t>password_hash</a:t>
            </a:r>
            <a:r>
              <a:rPr lang="en-PH" dirty="0"/>
              <a:t>, </a:t>
            </a:r>
            <a:r>
              <a:rPr lang="en-PH" dirty="0" err="1"/>
              <a:t>created_at</a:t>
            </a:r>
            <a:r>
              <a:rPr lang="en-PH" dirty="0"/>
              <a:t>)</a:t>
            </a:r>
          </a:p>
          <a:p>
            <a:pPr lvl="1"/>
            <a:r>
              <a:rPr lang="en-PH" dirty="0"/>
              <a:t>queries (</a:t>
            </a:r>
            <a:r>
              <a:rPr lang="en-PH" dirty="0" err="1"/>
              <a:t>query_id</a:t>
            </a:r>
            <a:r>
              <a:rPr lang="en-PH" dirty="0"/>
              <a:t>, </a:t>
            </a:r>
            <a:r>
              <a:rPr lang="en-PH" dirty="0" err="1"/>
              <a:t>student_id</a:t>
            </a:r>
            <a:r>
              <a:rPr lang="en-PH" dirty="0"/>
              <a:t>, question, language, response, timestamp)</a:t>
            </a:r>
          </a:p>
          <a:p>
            <a:pPr lvl="1"/>
            <a:r>
              <a:rPr lang="en-PH" dirty="0" err="1"/>
              <a:t>career_preferences</a:t>
            </a:r>
            <a:r>
              <a:rPr lang="en-PH" dirty="0"/>
              <a:t> (</a:t>
            </a:r>
            <a:r>
              <a:rPr lang="en-PH" dirty="0" err="1"/>
              <a:t>preference_id</a:t>
            </a:r>
            <a:r>
              <a:rPr lang="en-PH" dirty="0"/>
              <a:t>, </a:t>
            </a:r>
            <a:r>
              <a:rPr lang="en-PH" dirty="0" err="1"/>
              <a:t>student_id</a:t>
            </a:r>
            <a:r>
              <a:rPr lang="en-PH" dirty="0"/>
              <a:t>, interests, strengths, </a:t>
            </a:r>
            <a:r>
              <a:rPr lang="en-PH" dirty="0" err="1"/>
              <a:t>suggested_careers</a:t>
            </a:r>
            <a:r>
              <a:rPr lang="en-PH" dirty="0"/>
              <a:t>, </a:t>
            </a:r>
            <a:r>
              <a:rPr lang="en-PH" dirty="0" err="1"/>
              <a:t>saved_at</a:t>
            </a:r>
            <a:r>
              <a:rPr lang="en-PH" dirty="0"/>
              <a:t>)</a:t>
            </a:r>
          </a:p>
          <a:p>
            <a:pPr lvl="1"/>
            <a:r>
              <a:rPr lang="en-PH" dirty="0"/>
              <a:t>sessions (</a:t>
            </a:r>
            <a:r>
              <a:rPr lang="en-PH" dirty="0" err="1"/>
              <a:t>session_id</a:t>
            </a:r>
            <a:r>
              <a:rPr lang="en-PH" dirty="0"/>
              <a:t>, </a:t>
            </a:r>
            <a:r>
              <a:rPr lang="en-PH" dirty="0" err="1"/>
              <a:t>student_id</a:t>
            </a:r>
            <a:r>
              <a:rPr lang="en-PH" dirty="0"/>
              <a:t>, token, </a:t>
            </a:r>
            <a:r>
              <a:rPr lang="en-PH" dirty="0" err="1"/>
              <a:t>created_at</a:t>
            </a:r>
            <a:r>
              <a:rPr lang="en-PH" dirty="0"/>
              <a:t>, </a:t>
            </a:r>
            <a:r>
              <a:rPr lang="en-PH" dirty="0" err="1"/>
              <a:t>expires_at</a:t>
            </a:r>
            <a:r>
              <a:rPr lang="en-PH" dirty="0"/>
              <a:t>)</a:t>
            </a:r>
          </a:p>
          <a:p>
            <a:pPr marL="0" indent="0">
              <a:buNone/>
            </a:pPr>
            <a:r>
              <a:rPr lang="en-PH" b="1" dirty="0"/>
              <a:t>Data Dictionary Summary:</a:t>
            </a:r>
            <a:endParaRPr lang="en-PH" dirty="0"/>
          </a:p>
          <a:p>
            <a:pPr lvl="1"/>
            <a:r>
              <a:rPr lang="en-PH" dirty="0" err="1"/>
              <a:t>students.student_id</a:t>
            </a:r>
            <a:r>
              <a:rPr lang="en-PH" dirty="0"/>
              <a:t>: UUID (Primary Key)</a:t>
            </a:r>
          </a:p>
          <a:p>
            <a:pPr lvl="1"/>
            <a:r>
              <a:rPr lang="en-PH" dirty="0" err="1"/>
              <a:t>students.email</a:t>
            </a:r>
            <a:r>
              <a:rPr lang="en-PH" dirty="0"/>
              <a:t>: VARCHAR, Unique</a:t>
            </a:r>
          </a:p>
          <a:p>
            <a:pPr lvl="1"/>
            <a:r>
              <a:rPr lang="en-PH" dirty="0" err="1"/>
              <a:t>queries.question</a:t>
            </a:r>
            <a:r>
              <a:rPr lang="en-PH" dirty="0"/>
              <a:t>: TEXT, Non-empty</a:t>
            </a:r>
          </a:p>
          <a:p>
            <a:pPr lvl="1"/>
            <a:r>
              <a:rPr lang="en-PH" dirty="0" err="1"/>
              <a:t>queries.language</a:t>
            </a:r>
            <a:r>
              <a:rPr lang="en-PH" dirty="0"/>
              <a:t>: ENUM ('English', 'Tagalog', 'Cebuano')</a:t>
            </a:r>
          </a:p>
          <a:p>
            <a:pPr lvl="1"/>
            <a:r>
              <a:rPr lang="en-PH" dirty="0" err="1"/>
              <a:t>career_preferences.interests</a:t>
            </a:r>
            <a:r>
              <a:rPr lang="en-PH" dirty="0"/>
              <a:t>: TEXT Array</a:t>
            </a:r>
          </a:p>
          <a:p>
            <a:endParaRPr lang="en-PH" dirty="0"/>
          </a:p>
        </p:txBody>
      </p:sp>
    </p:spTree>
    <p:extLst>
      <p:ext uri="{BB962C8B-B14F-4D97-AF65-F5344CB8AC3E}">
        <p14:creationId xmlns:p14="http://schemas.microsoft.com/office/powerpoint/2010/main" val="42675197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AB8BC-9146-5BB3-5051-4E5CB671DB66}"/>
              </a:ext>
            </a:extLst>
          </p:cNvPr>
          <p:cNvSpPr>
            <a:spLocks noGrp="1"/>
          </p:cNvSpPr>
          <p:nvPr>
            <p:ph type="title"/>
          </p:nvPr>
        </p:nvSpPr>
        <p:spPr/>
        <p:txBody>
          <a:bodyPr/>
          <a:lstStyle/>
          <a:p>
            <a:r>
              <a:rPr lang="en-PH" b="1" dirty="0"/>
              <a:t>Technology Stack</a:t>
            </a:r>
            <a:br>
              <a:rPr lang="en-PH" b="1" dirty="0"/>
            </a:br>
            <a:endParaRPr lang="en-PH" dirty="0"/>
          </a:p>
        </p:txBody>
      </p:sp>
      <p:graphicFrame>
        <p:nvGraphicFramePr>
          <p:cNvPr id="4" name="Content Placeholder 3">
            <a:extLst>
              <a:ext uri="{FF2B5EF4-FFF2-40B4-BE49-F238E27FC236}">
                <a16:creationId xmlns:a16="http://schemas.microsoft.com/office/drawing/2014/main" id="{718079B3-5B3A-AD80-9EB7-56D37942002D}"/>
              </a:ext>
            </a:extLst>
          </p:cNvPr>
          <p:cNvGraphicFramePr>
            <a:graphicFrameLocks noGrp="1"/>
          </p:cNvGraphicFramePr>
          <p:nvPr>
            <p:ph idx="1"/>
            <p:extLst>
              <p:ext uri="{D42A27DB-BD31-4B8C-83A1-F6EECF244321}">
                <p14:modId xmlns:p14="http://schemas.microsoft.com/office/powerpoint/2010/main" val="1737980350"/>
              </p:ext>
            </p:extLst>
          </p:nvPr>
        </p:nvGraphicFramePr>
        <p:xfrm>
          <a:off x="1993392" y="2478024"/>
          <a:ext cx="7671815" cy="3602735"/>
        </p:xfrm>
        <a:graphic>
          <a:graphicData uri="http://schemas.openxmlformats.org/drawingml/2006/table">
            <a:tbl>
              <a:tblPr>
                <a:tableStyleId>{5C22544A-7EE6-4342-B048-85BDC9FD1C3A}</a:tableStyleId>
              </a:tblPr>
              <a:tblGrid>
                <a:gridCol w="1271070">
                  <a:extLst>
                    <a:ext uri="{9D8B030D-6E8A-4147-A177-3AD203B41FA5}">
                      <a16:colId xmlns:a16="http://schemas.microsoft.com/office/drawing/2014/main" val="4199557824"/>
                    </a:ext>
                  </a:extLst>
                </a:gridCol>
                <a:gridCol w="1876341">
                  <a:extLst>
                    <a:ext uri="{9D8B030D-6E8A-4147-A177-3AD203B41FA5}">
                      <a16:colId xmlns:a16="http://schemas.microsoft.com/office/drawing/2014/main" val="157614429"/>
                    </a:ext>
                  </a:extLst>
                </a:gridCol>
                <a:gridCol w="4524404">
                  <a:extLst>
                    <a:ext uri="{9D8B030D-6E8A-4147-A177-3AD203B41FA5}">
                      <a16:colId xmlns:a16="http://schemas.microsoft.com/office/drawing/2014/main" val="2532704321"/>
                    </a:ext>
                  </a:extLst>
                </a:gridCol>
              </a:tblGrid>
              <a:tr h="313827">
                <a:tc>
                  <a:txBody>
                    <a:bodyPr/>
                    <a:lstStyle/>
                    <a:p>
                      <a:pPr algn="l" fontAlgn="b">
                        <a:buNone/>
                      </a:pPr>
                      <a:r>
                        <a:rPr lang="en-PH" sz="1100" b="1" u="none" strike="noStrike" dirty="0">
                          <a:solidFill>
                            <a:schemeClr val="bg1"/>
                          </a:solidFill>
                          <a:effectLst/>
                        </a:rPr>
                        <a:t>Category</a:t>
                      </a:r>
                      <a:endParaRPr lang="en-PH" sz="1100" b="1" i="0" u="none" strike="noStrike" dirty="0">
                        <a:solidFill>
                          <a:schemeClr val="bg1"/>
                        </a:solidFill>
                        <a:effectLst/>
                        <a:latin typeface="Calibri" panose="020F0502020204030204" pitchFamily="34" charset="0"/>
                      </a:endParaRPr>
                    </a:p>
                  </a:txBody>
                  <a:tcPr marL="9525" marR="9525" marT="9525" marB="0" anchor="b">
                    <a:solidFill>
                      <a:schemeClr val="accent1"/>
                    </a:solidFill>
                  </a:tcPr>
                </a:tc>
                <a:tc>
                  <a:txBody>
                    <a:bodyPr/>
                    <a:lstStyle/>
                    <a:p>
                      <a:pPr algn="l" fontAlgn="b">
                        <a:buNone/>
                      </a:pPr>
                      <a:r>
                        <a:rPr lang="en-PH" sz="1100" b="1" u="none" strike="noStrike">
                          <a:solidFill>
                            <a:schemeClr val="bg1"/>
                          </a:solidFill>
                          <a:effectLst/>
                        </a:rPr>
                        <a:t>Technology Used</a:t>
                      </a:r>
                      <a:endParaRPr lang="en-PH" sz="1100" b="1" i="0" u="none" strike="noStrike">
                        <a:solidFill>
                          <a:schemeClr val="bg1"/>
                        </a:solidFill>
                        <a:effectLst/>
                        <a:latin typeface="Calibri" panose="020F0502020204030204" pitchFamily="34" charset="0"/>
                      </a:endParaRPr>
                    </a:p>
                  </a:txBody>
                  <a:tcPr marL="9525" marR="9525" marT="9525" marB="0" anchor="b">
                    <a:solidFill>
                      <a:schemeClr val="accent1"/>
                    </a:solidFill>
                  </a:tcPr>
                </a:tc>
                <a:tc>
                  <a:txBody>
                    <a:bodyPr/>
                    <a:lstStyle/>
                    <a:p>
                      <a:pPr algn="l" fontAlgn="b">
                        <a:buNone/>
                      </a:pPr>
                      <a:r>
                        <a:rPr lang="en-PH" sz="1100" b="1" u="none" strike="noStrike" dirty="0">
                          <a:solidFill>
                            <a:schemeClr val="bg1"/>
                          </a:solidFill>
                          <a:effectLst/>
                        </a:rPr>
                        <a:t>Purpose</a:t>
                      </a:r>
                      <a:endParaRPr lang="en-PH" sz="1100" b="1" i="0" u="none" strike="noStrike" dirty="0">
                        <a:solidFill>
                          <a:schemeClr val="bg1"/>
                        </a:solidFill>
                        <a:effectLst/>
                        <a:latin typeface="Calibri" panose="020F0502020204030204" pitchFamily="34" charset="0"/>
                      </a:endParaRPr>
                    </a:p>
                  </a:txBody>
                  <a:tcPr marL="9525" marR="9525" marT="9525" marB="0" anchor="b">
                    <a:solidFill>
                      <a:schemeClr val="accent1"/>
                    </a:solidFill>
                  </a:tcPr>
                </a:tc>
                <a:extLst>
                  <a:ext uri="{0D108BD9-81ED-4DB2-BD59-A6C34878D82A}">
                    <a16:rowId xmlns:a16="http://schemas.microsoft.com/office/drawing/2014/main" val="3042661155"/>
                  </a:ext>
                </a:extLst>
              </a:tr>
              <a:tr h="313827">
                <a:tc>
                  <a:txBody>
                    <a:bodyPr/>
                    <a:lstStyle/>
                    <a:p>
                      <a:pPr algn="l" fontAlgn="b">
                        <a:buNone/>
                      </a:pPr>
                      <a:r>
                        <a:rPr lang="en-PH" sz="1100" b="1" u="none" strike="noStrike" dirty="0">
                          <a:solidFill>
                            <a:schemeClr val="bg1"/>
                          </a:solidFill>
                          <a:effectLst/>
                        </a:rPr>
                        <a:t>Frontend</a:t>
                      </a:r>
                      <a:endParaRPr lang="en-PH" sz="1100" b="1" i="0" u="none" strike="noStrike" dirty="0">
                        <a:solidFill>
                          <a:schemeClr val="bg1"/>
                        </a:solidFill>
                        <a:effectLst/>
                        <a:latin typeface="Calibri" panose="020F0502020204030204" pitchFamily="34" charset="0"/>
                      </a:endParaRPr>
                    </a:p>
                  </a:txBody>
                  <a:tcPr marL="9525" marR="9525" marT="9525" marB="0" anchor="b">
                    <a:solidFill>
                      <a:schemeClr val="accent1"/>
                    </a:solidFill>
                  </a:tcPr>
                </a:tc>
                <a:tc>
                  <a:txBody>
                    <a:bodyPr/>
                    <a:lstStyle/>
                    <a:p>
                      <a:pPr algn="l" fontAlgn="b">
                        <a:buNone/>
                      </a:pPr>
                      <a:r>
                        <a:rPr lang="en-PH" sz="1100" u="none" strike="noStrike" dirty="0">
                          <a:solidFill>
                            <a:schemeClr val="bg1"/>
                          </a:solidFill>
                          <a:effectLst/>
                        </a:rPr>
                        <a:t>React</a:t>
                      </a:r>
                      <a:endParaRPr lang="en-PH" sz="1100" b="0" i="0" u="none" strike="noStrike" dirty="0">
                        <a:solidFill>
                          <a:schemeClr val="bg1"/>
                        </a:solidFill>
                        <a:effectLst/>
                        <a:latin typeface="Calibri" panose="020F0502020204030204" pitchFamily="34" charset="0"/>
                      </a:endParaRPr>
                    </a:p>
                  </a:txBody>
                  <a:tcPr marL="9525" marR="9525" marT="9525" marB="0" anchor="b">
                    <a:solidFill>
                      <a:schemeClr val="accent1">
                        <a:lumMod val="40000"/>
                        <a:lumOff val="60000"/>
                      </a:schemeClr>
                    </a:solidFill>
                  </a:tcPr>
                </a:tc>
                <a:tc>
                  <a:txBody>
                    <a:bodyPr/>
                    <a:lstStyle/>
                    <a:p>
                      <a:pPr algn="l" fontAlgn="b">
                        <a:buNone/>
                      </a:pPr>
                      <a:r>
                        <a:rPr lang="en-PH" sz="1100" u="none" strike="noStrike" dirty="0">
                          <a:solidFill>
                            <a:schemeClr val="bg1"/>
                          </a:solidFill>
                          <a:effectLst/>
                        </a:rPr>
                        <a:t>Dynamic, responsive, and user-friendly web interface</a:t>
                      </a:r>
                      <a:endParaRPr lang="en-PH" sz="1100" b="0" i="0" u="none" strike="noStrike" dirty="0">
                        <a:solidFill>
                          <a:schemeClr val="bg1"/>
                        </a:solidFill>
                        <a:effectLst/>
                        <a:latin typeface="Calibri" panose="020F0502020204030204" pitchFamily="34" charset="0"/>
                      </a:endParaRPr>
                    </a:p>
                  </a:txBody>
                  <a:tcPr marL="9525" marR="9525" marT="9525" marB="0" anchor="b">
                    <a:solidFill>
                      <a:schemeClr val="accent1">
                        <a:lumMod val="40000"/>
                        <a:lumOff val="60000"/>
                      </a:schemeClr>
                    </a:solidFill>
                  </a:tcPr>
                </a:tc>
                <a:extLst>
                  <a:ext uri="{0D108BD9-81ED-4DB2-BD59-A6C34878D82A}">
                    <a16:rowId xmlns:a16="http://schemas.microsoft.com/office/drawing/2014/main" val="3006066644"/>
                  </a:ext>
                </a:extLst>
              </a:tr>
              <a:tr h="313827">
                <a:tc>
                  <a:txBody>
                    <a:bodyPr/>
                    <a:lstStyle/>
                    <a:p>
                      <a:pPr algn="l" fontAlgn="b">
                        <a:buNone/>
                      </a:pPr>
                      <a:r>
                        <a:rPr lang="en-PH" sz="1100" b="1" u="none" strike="noStrike" dirty="0">
                          <a:solidFill>
                            <a:schemeClr val="bg1"/>
                          </a:solidFill>
                          <a:effectLst/>
                        </a:rPr>
                        <a:t>Backend</a:t>
                      </a:r>
                      <a:endParaRPr lang="en-PH" sz="1100" b="1" i="0" u="none" strike="noStrike" dirty="0">
                        <a:solidFill>
                          <a:schemeClr val="bg1"/>
                        </a:solidFill>
                        <a:effectLst/>
                        <a:latin typeface="Calibri" panose="020F0502020204030204" pitchFamily="34" charset="0"/>
                      </a:endParaRPr>
                    </a:p>
                  </a:txBody>
                  <a:tcPr marL="9525" marR="9525" marT="9525" marB="0" anchor="b">
                    <a:solidFill>
                      <a:schemeClr val="accent1"/>
                    </a:solidFill>
                  </a:tcPr>
                </a:tc>
                <a:tc>
                  <a:txBody>
                    <a:bodyPr/>
                    <a:lstStyle/>
                    <a:p>
                      <a:pPr algn="l" fontAlgn="b">
                        <a:buNone/>
                      </a:pPr>
                      <a:r>
                        <a:rPr lang="en-PH" sz="1100" u="none" strike="noStrike" dirty="0">
                          <a:solidFill>
                            <a:schemeClr val="bg1"/>
                          </a:solidFill>
                          <a:effectLst/>
                        </a:rPr>
                        <a:t>Node.js</a:t>
                      </a:r>
                      <a:endParaRPr lang="en-PH" sz="1100" b="0" i="0" u="none" strike="noStrike" dirty="0">
                        <a:solidFill>
                          <a:schemeClr val="bg1"/>
                        </a:solidFill>
                        <a:effectLst/>
                        <a:latin typeface="Calibri" panose="020F0502020204030204" pitchFamily="34" charset="0"/>
                      </a:endParaRPr>
                    </a:p>
                  </a:txBody>
                  <a:tcPr marL="9525" marR="9525" marT="9525" marB="0" anchor="b">
                    <a:solidFill>
                      <a:schemeClr val="accent1">
                        <a:lumMod val="40000"/>
                        <a:lumOff val="60000"/>
                      </a:schemeClr>
                    </a:solidFill>
                  </a:tcPr>
                </a:tc>
                <a:tc>
                  <a:txBody>
                    <a:bodyPr/>
                    <a:lstStyle/>
                    <a:p>
                      <a:pPr algn="l" fontAlgn="b">
                        <a:buNone/>
                      </a:pPr>
                      <a:r>
                        <a:rPr lang="en-PH" sz="1100" u="none" strike="noStrike" dirty="0">
                          <a:solidFill>
                            <a:schemeClr val="bg1"/>
                          </a:solidFill>
                          <a:effectLst/>
                        </a:rPr>
                        <a:t>Server-side logic and API development</a:t>
                      </a:r>
                      <a:endParaRPr lang="en-PH" sz="1100" b="0" i="0" u="none" strike="noStrike" dirty="0">
                        <a:solidFill>
                          <a:schemeClr val="bg1"/>
                        </a:solidFill>
                        <a:effectLst/>
                        <a:latin typeface="Calibri" panose="020F0502020204030204" pitchFamily="34" charset="0"/>
                      </a:endParaRPr>
                    </a:p>
                  </a:txBody>
                  <a:tcPr marL="9525" marR="9525" marT="9525" marB="0" anchor="b">
                    <a:solidFill>
                      <a:schemeClr val="accent1">
                        <a:lumMod val="40000"/>
                        <a:lumOff val="60000"/>
                      </a:schemeClr>
                    </a:solidFill>
                  </a:tcPr>
                </a:tc>
                <a:extLst>
                  <a:ext uri="{0D108BD9-81ED-4DB2-BD59-A6C34878D82A}">
                    <a16:rowId xmlns:a16="http://schemas.microsoft.com/office/drawing/2014/main" val="3630273752"/>
                  </a:ext>
                </a:extLst>
              </a:tr>
              <a:tr h="313827">
                <a:tc>
                  <a:txBody>
                    <a:bodyPr/>
                    <a:lstStyle/>
                    <a:p>
                      <a:pPr algn="l" fontAlgn="b">
                        <a:buNone/>
                      </a:pPr>
                      <a:r>
                        <a:rPr lang="en-PH" sz="1100" b="1" u="none" strike="noStrike" dirty="0">
                          <a:solidFill>
                            <a:schemeClr val="bg1"/>
                          </a:solidFill>
                          <a:effectLst/>
                        </a:rPr>
                        <a:t>Database</a:t>
                      </a:r>
                      <a:endParaRPr lang="en-PH" sz="1100" b="1" i="0" u="none" strike="noStrike" dirty="0">
                        <a:solidFill>
                          <a:schemeClr val="bg1"/>
                        </a:solidFill>
                        <a:effectLst/>
                        <a:latin typeface="Calibri" panose="020F0502020204030204" pitchFamily="34" charset="0"/>
                      </a:endParaRPr>
                    </a:p>
                  </a:txBody>
                  <a:tcPr marL="9525" marR="9525" marT="9525" marB="0" anchor="b">
                    <a:solidFill>
                      <a:schemeClr val="accent1"/>
                    </a:solidFill>
                  </a:tcPr>
                </a:tc>
                <a:tc>
                  <a:txBody>
                    <a:bodyPr/>
                    <a:lstStyle/>
                    <a:p>
                      <a:pPr algn="l" fontAlgn="b">
                        <a:buNone/>
                      </a:pPr>
                      <a:r>
                        <a:rPr lang="en-PH" sz="1100" u="none" strike="noStrike">
                          <a:solidFill>
                            <a:schemeClr val="bg1"/>
                          </a:solidFill>
                          <a:effectLst/>
                        </a:rPr>
                        <a:t>Supabase PostgreSQL</a:t>
                      </a:r>
                      <a:endParaRPr lang="en-PH" sz="1100" b="0" i="0" u="none" strike="noStrike">
                        <a:solidFill>
                          <a:schemeClr val="bg1"/>
                        </a:solidFill>
                        <a:effectLst/>
                        <a:latin typeface="Calibri" panose="020F0502020204030204" pitchFamily="34" charset="0"/>
                      </a:endParaRPr>
                    </a:p>
                  </a:txBody>
                  <a:tcPr marL="9525" marR="9525" marT="9525" marB="0" anchor="b">
                    <a:solidFill>
                      <a:schemeClr val="accent1">
                        <a:lumMod val="40000"/>
                        <a:lumOff val="60000"/>
                      </a:schemeClr>
                    </a:solidFill>
                  </a:tcPr>
                </a:tc>
                <a:tc>
                  <a:txBody>
                    <a:bodyPr/>
                    <a:lstStyle/>
                    <a:p>
                      <a:pPr algn="l" fontAlgn="b">
                        <a:buNone/>
                      </a:pPr>
                      <a:r>
                        <a:rPr lang="en-PH" sz="1100" u="none" strike="noStrike" dirty="0">
                          <a:solidFill>
                            <a:schemeClr val="bg1"/>
                          </a:solidFill>
                          <a:effectLst/>
                        </a:rPr>
                        <a:t>Store user accounts, queries, logs, and career info</a:t>
                      </a:r>
                      <a:endParaRPr lang="en-PH" sz="1100" b="0" i="0" u="none" strike="noStrike" dirty="0">
                        <a:solidFill>
                          <a:schemeClr val="bg1"/>
                        </a:solidFill>
                        <a:effectLst/>
                        <a:latin typeface="Calibri" panose="020F0502020204030204" pitchFamily="34" charset="0"/>
                      </a:endParaRPr>
                    </a:p>
                  </a:txBody>
                  <a:tcPr marL="9525" marR="9525" marT="9525" marB="0" anchor="b">
                    <a:solidFill>
                      <a:schemeClr val="accent1">
                        <a:lumMod val="40000"/>
                        <a:lumOff val="60000"/>
                      </a:schemeClr>
                    </a:solidFill>
                  </a:tcPr>
                </a:tc>
                <a:extLst>
                  <a:ext uri="{0D108BD9-81ED-4DB2-BD59-A6C34878D82A}">
                    <a16:rowId xmlns:a16="http://schemas.microsoft.com/office/drawing/2014/main" val="273218249"/>
                  </a:ext>
                </a:extLst>
              </a:tr>
              <a:tr h="568027">
                <a:tc>
                  <a:txBody>
                    <a:bodyPr/>
                    <a:lstStyle/>
                    <a:p>
                      <a:pPr algn="l" fontAlgn="b">
                        <a:buNone/>
                      </a:pPr>
                      <a:r>
                        <a:rPr lang="en-PH" sz="1100" b="1" u="none" strike="noStrike" dirty="0">
                          <a:solidFill>
                            <a:schemeClr val="bg1"/>
                          </a:solidFill>
                          <a:effectLst/>
                        </a:rPr>
                        <a:t>Authentication</a:t>
                      </a:r>
                      <a:endParaRPr lang="en-PH" sz="1100" b="1" i="0" u="none" strike="noStrike" dirty="0">
                        <a:solidFill>
                          <a:schemeClr val="bg1"/>
                        </a:solidFill>
                        <a:effectLst/>
                        <a:latin typeface="Calibri" panose="020F0502020204030204" pitchFamily="34" charset="0"/>
                      </a:endParaRPr>
                    </a:p>
                  </a:txBody>
                  <a:tcPr marL="9525" marR="9525" marT="9525" marB="0" anchor="b">
                    <a:solidFill>
                      <a:schemeClr val="accent1"/>
                    </a:solidFill>
                  </a:tcPr>
                </a:tc>
                <a:tc>
                  <a:txBody>
                    <a:bodyPr/>
                    <a:lstStyle/>
                    <a:p>
                      <a:pPr algn="l" fontAlgn="b">
                        <a:buNone/>
                      </a:pPr>
                      <a:r>
                        <a:rPr lang="en-PH" sz="1100" u="none" strike="noStrike" dirty="0" err="1">
                          <a:solidFill>
                            <a:schemeClr val="bg1"/>
                          </a:solidFill>
                          <a:effectLst/>
                        </a:rPr>
                        <a:t>Supabase</a:t>
                      </a:r>
                      <a:r>
                        <a:rPr lang="en-PH" sz="1100" u="none" strike="noStrike" dirty="0">
                          <a:solidFill>
                            <a:schemeClr val="bg1"/>
                          </a:solidFill>
                          <a:effectLst/>
                        </a:rPr>
                        <a:t> Authentication</a:t>
                      </a:r>
                      <a:endParaRPr lang="en-PH" sz="1100" b="0" i="0" u="none" strike="noStrike" dirty="0">
                        <a:solidFill>
                          <a:schemeClr val="bg1"/>
                        </a:solidFill>
                        <a:effectLst/>
                        <a:latin typeface="Calibri" panose="020F0502020204030204" pitchFamily="34" charset="0"/>
                      </a:endParaRPr>
                    </a:p>
                  </a:txBody>
                  <a:tcPr marL="9525" marR="9525" marT="9525" marB="0" anchor="b">
                    <a:solidFill>
                      <a:schemeClr val="accent1">
                        <a:lumMod val="40000"/>
                        <a:lumOff val="60000"/>
                      </a:schemeClr>
                    </a:solidFill>
                  </a:tcPr>
                </a:tc>
                <a:tc>
                  <a:txBody>
                    <a:bodyPr/>
                    <a:lstStyle/>
                    <a:p>
                      <a:pPr algn="l" fontAlgn="b">
                        <a:buNone/>
                      </a:pPr>
                      <a:r>
                        <a:rPr lang="en-PH" sz="1100" u="none" strike="noStrike" dirty="0">
                          <a:solidFill>
                            <a:schemeClr val="bg1"/>
                          </a:solidFill>
                          <a:effectLst/>
                        </a:rPr>
                        <a:t>Secure user registration and login</a:t>
                      </a:r>
                      <a:endParaRPr lang="en-PH" sz="1100" b="0" i="0" u="none" strike="noStrike" dirty="0">
                        <a:solidFill>
                          <a:schemeClr val="bg1"/>
                        </a:solidFill>
                        <a:effectLst/>
                        <a:latin typeface="Calibri" panose="020F0502020204030204" pitchFamily="34" charset="0"/>
                      </a:endParaRPr>
                    </a:p>
                  </a:txBody>
                  <a:tcPr marL="9525" marR="9525" marT="9525" marB="0" anchor="b">
                    <a:solidFill>
                      <a:schemeClr val="accent1">
                        <a:lumMod val="40000"/>
                        <a:lumOff val="60000"/>
                      </a:schemeClr>
                    </a:solidFill>
                  </a:tcPr>
                </a:tc>
                <a:extLst>
                  <a:ext uri="{0D108BD9-81ED-4DB2-BD59-A6C34878D82A}">
                    <a16:rowId xmlns:a16="http://schemas.microsoft.com/office/drawing/2014/main" val="3004498306"/>
                  </a:ext>
                </a:extLst>
              </a:tr>
              <a:tr h="329519">
                <a:tc>
                  <a:txBody>
                    <a:bodyPr/>
                    <a:lstStyle/>
                    <a:p>
                      <a:pPr algn="l" fontAlgn="b">
                        <a:buNone/>
                      </a:pPr>
                      <a:r>
                        <a:rPr lang="en-PH" sz="1100" b="1" u="none" strike="noStrike" dirty="0">
                          <a:solidFill>
                            <a:schemeClr val="bg1"/>
                          </a:solidFill>
                          <a:effectLst/>
                        </a:rPr>
                        <a:t>AI Integration</a:t>
                      </a:r>
                      <a:endParaRPr lang="en-PH" sz="1100" b="1" i="0" u="none" strike="noStrike" dirty="0">
                        <a:solidFill>
                          <a:schemeClr val="bg1"/>
                        </a:solidFill>
                        <a:effectLst/>
                        <a:latin typeface="Calibri" panose="020F0502020204030204" pitchFamily="34" charset="0"/>
                      </a:endParaRPr>
                    </a:p>
                  </a:txBody>
                  <a:tcPr marL="9525" marR="9525" marT="9525" marB="0" anchor="b">
                    <a:solidFill>
                      <a:schemeClr val="accent1"/>
                    </a:solidFill>
                  </a:tcPr>
                </a:tc>
                <a:tc>
                  <a:txBody>
                    <a:bodyPr/>
                    <a:lstStyle/>
                    <a:p>
                      <a:pPr algn="l" fontAlgn="b">
                        <a:buNone/>
                      </a:pPr>
                      <a:r>
                        <a:rPr lang="en-PH" sz="1100" u="none" strike="noStrike" dirty="0">
                          <a:solidFill>
                            <a:schemeClr val="bg1"/>
                          </a:solidFill>
                          <a:effectLst/>
                        </a:rPr>
                        <a:t>Google Gemini API</a:t>
                      </a:r>
                      <a:endParaRPr lang="en-PH" sz="1100" b="0" i="0" u="none" strike="noStrike" dirty="0">
                        <a:solidFill>
                          <a:schemeClr val="bg1"/>
                        </a:solidFill>
                        <a:effectLst/>
                        <a:latin typeface="Calibri" panose="020F0502020204030204" pitchFamily="34" charset="0"/>
                      </a:endParaRPr>
                    </a:p>
                  </a:txBody>
                  <a:tcPr marL="9525" marR="9525" marT="9525" marB="0" anchor="b">
                    <a:solidFill>
                      <a:schemeClr val="accent1">
                        <a:lumMod val="40000"/>
                        <a:lumOff val="60000"/>
                      </a:schemeClr>
                    </a:solidFill>
                  </a:tcPr>
                </a:tc>
                <a:tc>
                  <a:txBody>
                    <a:bodyPr/>
                    <a:lstStyle/>
                    <a:p>
                      <a:pPr algn="l" fontAlgn="b">
                        <a:buNone/>
                      </a:pPr>
                      <a:r>
                        <a:rPr lang="en-PH" sz="1100" u="none" strike="noStrike" dirty="0">
                          <a:solidFill>
                            <a:schemeClr val="bg1"/>
                          </a:solidFill>
                          <a:effectLst/>
                        </a:rPr>
                        <a:t>Core AI capabilities for chatbot, quizzes, and careers</a:t>
                      </a:r>
                      <a:endParaRPr lang="en-PH" sz="1100" b="0" i="0" u="none" strike="noStrike" dirty="0">
                        <a:solidFill>
                          <a:schemeClr val="bg1"/>
                        </a:solidFill>
                        <a:effectLst/>
                        <a:latin typeface="Calibri" panose="020F0502020204030204" pitchFamily="34" charset="0"/>
                      </a:endParaRPr>
                    </a:p>
                  </a:txBody>
                  <a:tcPr marL="9525" marR="9525" marT="9525" marB="0" anchor="b">
                    <a:solidFill>
                      <a:schemeClr val="accent1">
                        <a:lumMod val="40000"/>
                        <a:lumOff val="60000"/>
                      </a:schemeClr>
                    </a:solidFill>
                  </a:tcPr>
                </a:tc>
                <a:extLst>
                  <a:ext uri="{0D108BD9-81ED-4DB2-BD59-A6C34878D82A}">
                    <a16:rowId xmlns:a16="http://schemas.microsoft.com/office/drawing/2014/main" val="599977884"/>
                  </a:ext>
                </a:extLst>
              </a:tr>
              <a:tr h="313827">
                <a:tc>
                  <a:txBody>
                    <a:bodyPr/>
                    <a:lstStyle/>
                    <a:p>
                      <a:pPr algn="l" fontAlgn="b">
                        <a:buNone/>
                      </a:pPr>
                      <a:r>
                        <a:rPr lang="en-PH" sz="1100" b="1" u="none" strike="noStrike" dirty="0">
                          <a:solidFill>
                            <a:schemeClr val="bg1"/>
                          </a:solidFill>
                          <a:effectLst/>
                        </a:rPr>
                        <a:t>Hosting</a:t>
                      </a:r>
                      <a:endParaRPr lang="en-PH" sz="1100" b="1" i="0" u="none" strike="noStrike" dirty="0">
                        <a:solidFill>
                          <a:schemeClr val="bg1"/>
                        </a:solidFill>
                        <a:effectLst/>
                        <a:latin typeface="Calibri" panose="020F0502020204030204" pitchFamily="34" charset="0"/>
                      </a:endParaRPr>
                    </a:p>
                  </a:txBody>
                  <a:tcPr marL="9525" marR="9525" marT="9525" marB="0" anchor="b">
                    <a:solidFill>
                      <a:schemeClr val="accent1"/>
                    </a:solidFill>
                  </a:tcPr>
                </a:tc>
                <a:tc>
                  <a:txBody>
                    <a:bodyPr/>
                    <a:lstStyle/>
                    <a:p>
                      <a:pPr algn="l" fontAlgn="b">
                        <a:buNone/>
                      </a:pPr>
                      <a:r>
                        <a:rPr lang="en-PH" sz="1100" u="none" strike="noStrike">
                          <a:solidFill>
                            <a:schemeClr val="bg1"/>
                          </a:solidFill>
                          <a:effectLst/>
                        </a:rPr>
                        <a:t>Vercel</a:t>
                      </a:r>
                      <a:endParaRPr lang="en-PH" sz="1100" b="0" i="0" u="none" strike="noStrike">
                        <a:solidFill>
                          <a:schemeClr val="bg1"/>
                        </a:solidFill>
                        <a:effectLst/>
                        <a:latin typeface="Calibri" panose="020F0502020204030204" pitchFamily="34" charset="0"/>
                      </a:endParaRPr>
                    </a:p>
                  </a:txBody>
                  <a:tcPr marL="9525" marR="9525" marT="9525" marB="0" anchor="b">
                    <a:solidFill>
                      <a:schemeClr val="accent1">
                        <a:lumMod val="40000"/>
                        <a:lumOff val="60000"/>
                      </a:schemeClr>
                    </a:solidFill>
                  </a:tcPr>
                </a:tc>
                <a:tc>
                  <a:txBody>
                    <a:bodyPr/>
                    <a:lstStyle/>
                    <a:p>
                      <a:pPr algn="l" fontAlgn="b">
                        <a:buNone/>
                      </a:pPr>
                      <a:r>
                        <a:rPr lang="en-PH" sz="1100" u="none" strike="noStrike" dirty="0">
                          <a:solidFill>
                            <a:schemeClr val="bg1"/>
                          </a:solidFill>
                          <a:effectLst/>
                        </a:rPr>
                        <a:t>Web application deployment and hosting</a:t>
                      </a:r>
                      <a:endParaRPr lang="en-PH" sz="1100" b="0" i="0" u="none" strike="noStrike" dirty="0">
                        <a:solidFill>
                          <a:schemeClr val="bg1"/>
                        </a:solidFill>
                        <a:effectLst/>
                        <a:latin typeface="Calibri" panose="020F0502020204030204" pitchFamily="34" charset="0"/>
                      </a:endParaRPr>
                    </a:p>
                  </a:txBody>
                  <a:tcPr marL="9525" marR="9525" marT="9525" marB="0" anchor="b">
                    <a:solidFill>
                      <a:schemeClr val="accent1">
                        <a:lumMod val="40000"/>
                        <a:lumOff val="60000"/>
                      </a:schemeClr>
                    </a:solidFill>
                  </a:tcPr>
                </a:tc>
                <a:extLst>
                  <a:ext uri="{0D108BD9-81ED-4DB2-BD59-A6C34878D82A}">
                    <a16:rowId xmlns:a16="http://schemas.microsoft.com/office/drawing/2014/main" val="795881273"/>
                  </a:ext>
                </a:extLst>
              </a:tr>
              <a:tr h="568027">
                <a:tc>
                  <a:txBody>
                    <a:bodyPr/>
                    <a:lstStyle/>
                    <a:p>
                      <a:pPr algn="l" fontAlgn="b">
                        <a:buNone/>
                      </a:pPr>
                      <a:r>
                        <a:rPr lang="en-PH" sz="1100" b="1" u="none" strike="noStrike" dirty="0">
                          <a:solidFill>
                            <a:schemeClr val="bg1"/>
                          </a:solidFill>
                          <a:effectLst/>
                        </a:rPr>
                        <a:t>IDE / Code Editor</a:t>
                      </a:r>
                      <a:endParaRPr lang="en-PH" sz="1100" b="1" i="0" u="none" strike="noStrike" dirty="0">
                        <a:solidFill>
                          <a:schemeClr val="bg1"/>
                        </a:solidFill>
                        <a:effectLst/>
                        <a:latin typeface="Calibri" panose="020F0502020204030204" pitchFamily="34" charset="0"/>
                      </a:endParaRPr>
                    </a:p>
                  </a:txBody>
                  <a:tcPr marL="9525" marR="9525" marT="9525" marB="0" anchor="b">
                    <a:solidFill>
                      <a:schemeClr val="accent1"/>
                    </a:solidFill>
                  </a:tcPr>
                </a:tc>
                <a:tc>
                  <a:txBody>
                    <a:bodyPr/>
                    <a:lstStyle/>
                    <a:p>
                      <a:pPr algn="l" fontAlgn="b">
                        <a:buNone/>
                      </a:pPr>
                      <a:r>
                        <a:rPr lang="en-PH" sz="1100" u="none" strike="noStrike">
                          <a:solidFill>
                            <a:schemeClr val="bg1"/>
                          </a:solidFill>
                          <a:effectLst/>
                        </a:rPr>
                        <a:t>VS Code / Cursor</a:t>
                      </a:r>
                      <a:endParaRPr lang="en-PH" sz="1100" b="0" i="0" u="none" strike="noStrike">
                        <a:solidFill>
                          <a:schemeClr val="bg1"/>
                        </a:solidFill>
                        <a:effectLst/>
                        <a:latin typeface="Calibri" panose="020F0502020204030204" pitchFamily="34" charset="0"/>
                      </a:endParaRPr>
                    </a:p>
                  </a:txBody>
                  <a:tcPr marL="9525" marR="9525" marT="9525" marB="0" anchor="b">
                    <a:solidFill>
                      <a:schemeClr val="accent1">
                        <a:lumMod val="40000"/>
                        <a:lumOff val="60000"/>
                      </a:schemeClr>
                    </a:solidFill>
                  </a:tcPr>
                </a:tc>
                <a:tc>
                  <a:txBody>
                    <a:bodyPr/>
                    <a:lstStyle/>
                    <a:p>
                      <a:pPr algn="l" fontAlgn="b">
                        <a:buNone/>
                      </a:pPr>
                      <a:r>
                        <a:rPr lang="en-PH" sz="1100" u="none" strike="noStrike" dirty="0">
                          <a:solidFill>
                            <a:schemeClr val="bg1"/>
                          </a:solidFill>
                          <a:effectLst/>
                        </a:rPr>
                        <a:t>Code development, debugging, and management</a:t>
                      </a:r>
                      <a:endParaRPr lang="en-PH" sz="1100" b="0" i="0" u="none" strike="noStrike" dirty="0">
                        <a:solidFill>
                          <a:schemeClr val="bg1"/>
                        </a:solidFill>
                        <a:effectLst/>
                        <a:latin typeface="Calibri" panose="020F0502020204030204" pitchFamily="34" charset="0"/>
                      </a:endParaRPr>
                    </a:p>
                  </a:txBody>
                  <a:tcPr marL="9525" marR="9525" marT="9525" marB="0" anchor="b">
                    <a:solidFill>
                      <a:schemeClr val="accent1">
                        <a:lumMod val="40000"/>
                        <a:lumOff val="60000"/>
                      </a:schemeClr>
                    </a:solidFill>
                  </a:tcPr>
                </a:tc>
                <a:extLst>
                  <a:ext uri="{0D108BD9-81ED-4DB2-BD59-A6C34878D82A}">
                    <a16:rowId xmlns:a16="http://schemas.microsoft.com/office/drawing/2014/main" val="201728003"/>
                  </a:ext>
                </a:extLst>
              </a:tr>
              <a:tr h="568027">
                <a:tc>
                  <a:txBody>
                    <a:bodyPr/>
                    <a:lstStyle/>
                    <a:p>
                      <a:pPr algn="l" fontAlgn="b">
                        <a:buNone/>
                      </a:pPr>
                      <a:r>
                        <a:rPr lang="en-PH" sz="1100" b="1" u="none" strike="noStrike" dirty="0">
                          <a:solidFill>
                            <a:schemeClr val="bg1"/>
                          </a:solidFill>
                          <a:effectLst/>
                        </a:rPr>
                        <a:t>Version Control</a:t>
                      </a:r>
                      <a:endParaRPr lang="en-PH" sz="1100" b="1" i="0" u="none" strike="noStrike" dirty="0">
                        <a:solidFill>
                          <a:schemeClr val="bg1"/>
                        </a:solidFill>
                        <a:effectLst/>
                        <a:latin typeface="Calibri" panose="020F0502020204030204" pitchFamily="34" charset="0"/>
                      </a:endParaRPr>
                    </a:p>
                  </a:txBody>
                  <a:tcPr marL="9525" marR="9525" marT="9525" marB="0" anchor="b">
                    <a:solidFill>
                      <a:schemeClr val="accent1"/>
                    </a:solidFill>
                  </a:tcPr>
                </a:tc>
                <a:tc>
                  <a:txBody>
                    <a:bodyPr/>
                    <a:lstStyle/>
                    <a:p>
                      <a:pPr algn="l" fontAlgn="b">
                        <a:buNone/>
                      </a:pPr>
                      <a:r>
                        <a:rPr lang="en-PH" sz="1100" u="none" strike="noStrike">
                          <a:solidFill>
                            <a:schemeClr val="bg1"/>
                          </a:solidFill>
                          <a:effectLst/>
                        </a:rPr>
                        <a:t>Git &amp; GitHub</a:t>
                      </a:r>
                      <a:endParaRPr lang="en-PH" sz="1100" b="0" i="0" u="none" strike="noStrike">
                        <a:solidFill>
                          <a:schemeClr val="bg1"/>
                        </a:solidFill>
                        <a:effectLst/>
                        <a:latin typeface="Calibri" panose="020F0502020204030204" pitchFamily="34" charset="0"/>
                      </a:endParaRPr>
                    </a:p>
                  </a:txBody>
                  <a:tcPr marL="9525" marR="9525" marT="9525" marB="0" anchor="b">
                    <a:solidFill>
                      <a:schemeClr val="accent1">
                        <a:lumMod val="40000"/>
                        <a:lumOff val="60000"/>
                      </a:schemeClr>
                    </a:solidFill>
                  </a:tcPr>
                </a:tc>
                <a:tc>
                  <a:txBody>
                    <a:bodyPr/>
                    <a:lstStyle/>
                    <a:p>
                      <a:pPr algn="l" fontAlgn="b">
                        <a:buNone/>
                      </a:pPr>
                      <a:r>
                        <a:rPr lang="en-PH" sz="1100" u="none" strike="noStrike" dirty="0">
                          <a:solidFill>
                            <a:schemeClr val="bg1"/>
                          </a:solidFill>
                          <a:effectLst/>
                        </a:rPr>
                        <a:t>Source code tracking, collaboration, and version management</a:t>
                      </a:r>
                      <a:endParaRPr lang="en-PH" sz="1100" b="0" i="0" u="none" strike="noStrike" dirty="0">
                        <a:solidFill>
                          <a:schemeClr val="bg1"/>
                        </a:solidFill>
                        <a:effectLst/>
                        <a:latin typeface="Calibri" panose="020F0502020204030204" pitchFamily="34" charset="0"/>
                      </a:endParaRPr>
                    </a:p>
                  </a:txBody>
                  <a:tcPr marL="9525" marR="9525" marT="9525" marB="0" anchor="b">
                    <a:solidFill>
                      <a:schemeClr val="accent1">
                        <a:lumMod val="40000"/>
                        <a:lumOff val="60000"/>
                      </a:schemeClr>
                    </a:solidFill>
                  </a:tcPr>
                </a:tc>
                <a:extLst>
                  <a:ext uri="{0D108BD9-81ED-4DB2-BD59-A6C34878D82A}">
                    <a16:rowId xmlns:a16="http://schemas.microsoft.com/office/drawing/2014/main" val="2823220974"/>
                  </a:ext>
                </a:extLst>
              </a:tr>
            </a:tbl>
          </a:graphicData>
        </a:graphic>
      </p:graphicFrame>
    </p:spTree>
    <p:extLst>
      <p:ext uri="{BB962C8B-B14F-4D97-AF65-F5344CB8AC3E}">
        <p14:creationId xmlns:p14="http://schemas.microsoft.com/office/powerpoint/2010/main" val="24804356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6D77E-BA49-9DD4-FA99-FBEF7784D189}"/>
              </a:ext>
            </a:extLst>
          </p:cNvPr>
          <p:cNvSpPr>
            <a:spLocks noGrp="1"/>
          </p:cNvSpPr>
          <p:nvPr>
            <p:ph type="title"/>
          </p:nvPr>
        </p:nvSpPr>
        <p:spPr>
          <a:xfrm>
            <a:off x="1154954" y="1147404"/>
            <a:ext cx="8761413" cy="706964"/>
          </a:xfrm>
        </p:spPr>
        <p:txBody>
          <a:bodyPr/>
          <a:lstStyle/>
          <a:p>
            <a:r>
              <a:rPr lang="en-PH" b="1" dirty="0"/>
              <a:t>User Interface Design (Wireframes / Mockups)</a:t>
            </a:r>
            <a:br>
              <a:rPr lang="en-PH" b="1" dirty="0"/>
            </a:br>
            <a:endParaRPr lang="en-PH" dirty="0"/>
          </a:p>
        </p:txBody>
      </p:sp>
      <p:sp>
        <p:nvSpPr>
          <p:cNvPr id="3" name="Content Placeholder 2">
            <a:extLst>
              <a:ext uri="{FF2B5EF4-FFF2-40B4-BE49-F238E27FC236}">
                <a16:creationId xmlns:a16="http://schemas.microsoft.com/office/drawing/2014/main" id="{67B0279A-B163-A931-A0AD-6ED2C1BBF38D}"/>
              </a:ext>
            </a:extLst>
          </p:cNvPr>
          <p:cNvSpPr>
            <a:spLocks noGrp="1"/>
          </p:cNvSpPr>
          <p:nvPr>
            <p:ph idx="1"/>
          </p:nvPr>
        </p:nvSpPr>
        <p:spPr>
          <a:xfrm>
            <a:off x="1154954" y="2393188"/>
            <a:ext cx="8825659" cy="377444"/>
          </a:xfrm>
        </p:spPr>
        <p:txBody>
          <a:bodyPr/>
          <a:lstStyle/>
          <a:p>
            <a:pPr marL="0" indent="0">
              <a:buNone/>
            </a:pPr>
            <a:r>
              <a:rPr lang="en-PH" b="1" dirty="0"/>
              <a:t>Login Screen:</a:t>
            </a:r>
            <a:r>
              <a:rPr lang="en-PH" dirty="0"/>
              <a:t> Simple, clean interface for username and password.</a:t>
            </a:r>
          </a:p>
          <a:p>
            <a:endParaRPr lang="en-PH" dirty="0"/>
          </a:p>
        </p:txBody>
      </p:sp>
      <p:pic>
        <p:nvPicPr>
          <p:cNvPr id="5" name="Picture 4">
            <a:extLst>
              <a:ext uri="{FF2B5EF4-FFF2-40B4-BE49-F238E27FC236}">
                <a16:creationId xmlns:a16="http://schemas.microsoft.com/office/drawing/2014/main" id="{35FFF7E2-6E0B-AEEB-FEEF-5027379E3517}"/>
              </a:ext>
            </a:extLst>
          </p:cNvPr>
          <p:cNvPicPr>
            <a:picLocks noChangeAspect="1"/>
          </p:cNvPicPr>
          <p:nvPr/>
        </p:nvPicPr>
        <p:blipFill>
          <a:blip r:embed="rId2"/>
          <a:stretch>
            <a:fillRect/>
          </a:stretch>
        </p:blipFill>
        <p:spPr>
          <a:xfrm>
            <a:off x="2862072" y="3038856"/>
            <a:ext cx="5657088" cy="3535680"/>
          </a:xfrm>
          <a:prstGeom prst="rect">
            <a:avLst/>
          </a:prstGeom>
        </p:spPr>
      </p:pic>
    </p:spTree>
    <p:extLst>
      <p:ext uri="{BB962C8B-B14F-4D97-AF65-F5344CB8AC3E}">
        <p14:creationId xmlns:p14="http://schemas.microsoft.com/office/powerpoint/2010/main" val="41942022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C7DF8-4522-4CC5-1926-AC415F9F37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C08825-A9BF-066E-09B5-C5A2C8CDE803}"/>
              </a:ext>
            </a:extLst>
          </p:cNvPr>
          <p:cNvSpPr>
            <a:spLocks noGrp="1"/>
          </p:cNvSpPr>
          <p:nvPr>
            <p:ph type="title"/>
          </p:nvPr>
        </p:nvSpPr>
        <p:spPr>
          <a:xfrm>
            <a:off x="1154954" y="1147404"/>
            <a:ext cx="8761413" cy="706964"/>
          </a:xfrm>
        </p:spPr>
        <p:txBody>
          <a:bodyPr/>
          <a:lstStyle/>
          <a:p>
            <a:r>
              <a:rPr lang="en-PH" b="1" dirty="0"/>
              <a:t>User Interface Design (Wireframes / Mockups)</a:t>
            </a:r>
            <a:br>
              <a:rPr lang="en-PH" b="1" dirty="0"/>
            </a:br>
            <a:endParaRPr lang="en-PH" dirty="0"/>
          </a:p>
        </p:txBody>
      </p:sp>
      <p:sp>
        <p:nvSpPr>
          <p:cNvPr id="3" name="Content Placeholder 2">
            <a:extLst>
              <a:ext uri="{FF2B5EF4-FFF2-40B4-BE49-F238E27FC236}">
                <a16:creationId xmlns:a16="http://schemas.microsoft.com/office/drawing/2014/main" id="{E2CD1FED-1CA4-FF96-2789-AE977FAEBE77}"/>
              </a:ext>
            </a:extLst>
          </p:cNvPr>
          <p:cNvSpPr>
            <a:spLocks noGrp="1"/>
          </p:cNvSpPr>
          <p:nvPr>
            <p:ph idx="1"/>
          </p:nvPr>
        </p:nvSpPr>
        <p:spPr>
          <a:xfrm>
            <a:off x="1154954" y="2393188"/>
            <a:ext cx="9516094" cy="468884"/>
          </a:xfrm>
        </p:spPr>
        <p:txBody>
          <a:bodyPr>
            <a:normAutofit fontScale="85000" lnSpcReduction="20000"/>
          </a:bodyPr>
          <a:lstStyle/>
          <a:p>
            <a:pPr marL="0" indent="0">
              <a:buNone/>
            </a:pPr>
            <a:r>
              <a:rPr lang="en-PH" b="1" dirty="0"/>
              <a:t>Dashboard:</a:t>
            </a:r>
            <a:r>
              <a:rPr lang="en-PH" dirty="0"/>
              <a:t> Features a central chat window, voice input icon, attachment button, and suggested prompts.</a:t>
            </a:r>
          </a:p>
          <a:p>
            <a:endParaRPr lang="en-PH" dirty="0"/>
          </a:p>
        </p:txBody>
      </p:sp>
      <p:pic>
        <p:nvPicPr>
          <p:cNvPr id="4" name="Picture 3" descr="No description available.">
            <a:extLst>
              <a:ext uri="{FF2B5EF4-FFF2-40B4-BE49-F238E27FC236}">
                <a16:creationId xmlns:a16="http://schemas.microsoft.com/office/drawing/2014/main" id="{057699BF-73C5-054D-61B4-61C3D72226D3}"/>
              </a:ext>
            </a:extLst>
          </p:cNvPr>
          <p:cNvPicPr>
            <a:picLocks noChangeAspect="1"/>
          </p:cNvPicPr>
          <p:nvPr/>
        </p:nvPicPr>
        <p:blipFill>
          <a:blip r:embed="rId2"/>
          <a:stretch>
            <a:fillRect/>
          </a:stretch>
        </p:blipFill>
        <p:spPr>
          <a:xfrm>
            <a:off x="2777980" y="2738056"/>
            <a:ext cx="6270041" cy="3918775"/>
          </a:xfrm>
          <a:prstGeom prst="rect">
            <a:avLst/>
          </a:prstGeom>
        </p:spPr>
      </p:pic>
    </p:spTree>
    <p:extLst>
      <p:ext uri="{BB962C8B-B14F-4D97-AF65-F5344CB8AC3E}">
        <p14:creationId xmlns:p14="http://schemas.microsoft.com/office/powerpoint/2010/main" val="18624254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DC45D-A2ED-3F74-C7AB-DCF488CDDA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82FCB6-4DD1-165D-D7E5-85DF2E4C62FF}"/>
              </a:ext>
            </a:extLst>
          </p:cNvPr>
          <p:cNvSpPr>
            <a:spLocks noGrp="1"/>
          </p:cNvSpPr>
          <p:nvPr>
            <p:ph type="title"/>
          </p:nvPr>
        </p:nvSpPr>
        <p:spPr>
          <a:xfrm>
            <a:off x="1154954" y="1147404"/>
            <a:ext cx="8761413" cy="706964"/>
          </a:xfrm>
        </p:spPr>
        <p:txBody>
          <a:bodyPr/>
          <a:lstStyle/>
          <a:p>
            <a:r>
              <a:rPr lang="en-PH" b="1" dirty="0"/>
              <a:t>User Interface Design (Wireframes / Mockups)</a:t>
            </a:r>
            <a:br>
              <a:rPr lang="en-PH" b="1" dirty="0"/>
            </a:br>
            <a:endParaRPr lang="en-PH" dirty="0"/>
          </a:p>
        </p:txBody>
      </p:sp>
      <p:sp>
        <p:nvSpPr>
          <p:cNvPr id="3" name="Content Placeholder 2">
            <a:extLst>
              <a:ext uri="{FF2B5EF4-FFF2-40B4-BE49-F238E27FC236}">
                <a16:creationId xmlns:a16="http://schemas.microsoft.com/office/drawing/2014/main" id="{67F6AD2A-680C-D60B-19EB-41CC65EF3B86}"/>
              </a:ext>
            </a:extLst>
          </p:cNvPr>
          <p:cNvSpPr>
            <a:spLocks noGrp="1"/>
          </p:cNvSpPr>
          <p:nvPr>
            <p:ph idx="1"/>
          </p:nvPr>
        </p:nvSpPr>
        <p:spPr>
          <a:xfrm>
            <a:off x="521208" y="2347468"/>
            <a:ext cx="10863071" cy="468884"/>
          </a:xfrm>
        </p:spPr>
        <p:txBody>
          <a:bodyPr>
            <a:normAutofit fontScale="85000" lnSpcReduction="20000"/>
          </a:bodyPr>
          <a:lstStyle/>
          <a:p>
            <a:pPr marL="0" indent="0">
              <a:buNone/>
            </a:pPr>
            <a:r>
              <a:rPr lang="en-PH" b="1" dirty="0"/>
              <a:t>Career Guidance Module:</a:t>
            </a:r>
            <a:r>
              <a:rPr lang="en-PH" dirty="0"/>
              <a:t> Input fields for interests, grade level, and strengths. Output displays a list of suggested careers.</a:t>
            </a:r>
          </a:p>
          <a:p>
            <a:endParaRPr lang="en-PH" dirty="0"/>
          </a:p>
        </p:txBody>
      </p:sp>
      <p:pic>
        <p:nvPicPr>
          <p:cNvPr id="5" name="Picture 4" descr="No description available.">
            <a:extLst>
              <a:ext uri="{FF2B5EF4-FFF2-40B4-BE49-F238E27FC236}">
                <a16:creationId xmlns:a16="http://schemas.microsoft.com/office/drawing/2014/main" id="{C91EDE27-5AC3-0676-2421-C694445D30C4}"/>
              </a:ext>
            </a:extLst>
          </p:cNvPr>
          <p:cNvPicPr>
            <a:picLocks noChangeAspect="1"/>
          </p:cNvPicPr>
          <p:nvPr/>
        </p:nvPicPr>
        <p:blipFill>
          <a:blip r:embed="rId2"/>
          <a:stretch>
            <a:fillRect/>
          </a:stretch>
        </p:blipFill>
        <p:spPr>
          <a:xfrm>
            <a:off x="2496312" y="2694184"/>
            <a:ext cx="6842950" cy="3813804"/>
          </a:xfrm>
          <a:prstGeom prst="rect">
            <a:avLst/>
          </a:prstGeom>
        </p:spPr>
      </p:pic>
    </p:spTree>
    <p:extLst>
      <p:ext uri="{BB962C8B-B14F-4D97-AF65-F5344CB8AC3E}">
        <p14:creationId xmlns:p14="http://schemas.microsoft.com/office/powerpoint/2010/main" val="42696951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AF300-1125-D615-7573-156C3073B6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3C52F9-81FF-5E74-10D7-04688135660B}"/>
              </a:ext>
            </a:extLst>
          </p:cNvPr>
          <p:cNvSpPr>
            <a:spLocks noGrp="1"/>
          </p:cNvSpPr>
          <p:nvPr>
            <p:ph type="title"/>
          </p:nvPr>
        </p:nvSpPr>
        <p:spPr>
          <a:xfrm>
            <a:off x="1154954" y="1147404"/>
            <a:ext cx="8761413" cy="706964"/>
          </a:xfrm>
        </p:spPr>
        <p:txBody>
          <a:bodyPr/>
          <a:lstStyle/>
          <a:p>
            <a:r>
              <a:rPr lang="en-PH" b="1" dirty="0"/>
              <a:t>User Interface Design (Wireframes / Mockups)</a:t>
            </a:r>
            <a:br>
              <a:rPr lang="en-PH" b="1" dirty="0"/>
            </a:br>
            <a:endParaRPr lang="en-PH" dirty="0"/>
          </a:p>
        </p:txBody>
      </p:sp>
      <p:sp>
        <p:nvSpPr>
          <p:cNvPr id="3" name="Content Placeholder 2">
            <a:extLst>
              <a:ext uri="{FF2B5EF4-FFF2-40B4-BE49-F238E27FC236}">
                <a16:creationId xmlns:a16="http://schemas.microsoft.com/office/drawing/2014/main" id="{ED19CF1E-643F-E0D8-F3CD-4D9066B1791F}"/>
              </a:ext>
            </a:extLst>
          </p:cNvPr>
          <p:cNvSpPr>
            <a:spLocks noGrp="1"/>
          </p:cNvSpPr>
          <p:nvPr>
            <p:ph idx="1"/>
          </p:nvPr>
        </p:nvSpPr>
        <p:spPr>
          <a:xfrm>
            <a:off x="486251" y="2225300"/>
            <a:ext cx="10863071" cy="468884"/>
          </a:xfrm>
        </p:spPr>
        <p:txBody>
          <a:bodyPr>
            <a:normAutofit/>
          </a:bodyPr>
          <a:lstStyle/>
          <a:p>
            <a:pPr marL="0" indent="0">
              <a:buNone/>
            </a:pPr>
            <a:r>
              <a:rPr lang="en-PH" b="1" dirty="0"/>
              <a:t>Query History:</a:t>
            </a:r>
            <a:r>
              <a:rPr lang="en-PH" dirty="0"/>
              <a:t> A list of previous questions and AI responses for student reference.</a:t>
            </a:r>
          </a:p>
          <a:p>
            <a:endParaRPr lang="en-PH" dirty="0"/>
          </a:p>
        </p:txBody>
      </p:sp>
      <p:pic>
        <p:nvPicPr>
          <p:cNvPr id="6" name="Picture 5">
            <a:extLst>
              <a:ext uri="{FF2B5EF4-FFF2-40B4-BE49-F238E27FC236}">
                <a16:creationId xmlns:a16="http://schemas.microsoft.com/office/drawing/2014/main" id="{437F26B4-2A01-A85C-03D1-C5706CF276D4}"/>
              </a:ext>
            </a:extLst>
          </p:cNvPr>
          <p:cNvPicPr>
            <a:picLocks noChangeAspect="1"/>
          </p:cNvPicPr>
          <p:nvPr/>
        </p:nvPicPr>
        <p:blipFill>
          <a:blip r:embed="rId2"/>
          <a:stretch>
            <a:fillRect/>
          </a:stretch>
        </p:blipFill>
        <p:spPr>
          <a:xfrm>
            <a:off x="1359408" y="2694184"/>
            <a:ext cx="6092952" cy="3808095"/>
          </a:xfrm>
          <a:prstGeom prst="rect">
            <a:avLst/>
          </a:prstGeom>
        </p:spPr>
      </p:pic>
      <p:pic>
        <p:nvPicPr>
          <p:cNvPr id="8" name="Picture 7">
            <a:extLst>
              <a:ext uri="{FF2B5EF4-FFF2-40B4-BE49-F238E27FC236}">
                <a16:creationId xmlns:a16="http://schemas.microsoft.com/office/drawing/2014/main" id="{14D31E7D-4486-588B-2001-29E045528841}"/>
              </a:ext>
            </a:extLst>
          </p:cNvPr>
          <p:cNvPicPr>
            <a:picLocks noChangeAspect="1"/>
          </p:cNvPicPr>
          <p:nvPr/>
        </p:nvPicPr>
        <p:blipFill>
          <a:blip r:embed="rId3"/>
          <a:stretch>
            <a:fillRect/>
          </a:stretch>
        </p:blipFill>
        <p:spPr>
          <a:xfrm>
            <a:off x="7810166" y="3220842"/>
            <a:ext cx="3181350" cy="1885950"/>
          </a:xfrm>
          <a:prstGeom prst="rect">
            <a:avLst/>
          </a:prstGeom>
        </p:spPr>
      </p:pic>
    </p:spTree>
    <p:extLst>
      <p:ext uri="{BB962C8B-B14F-4D97-AF65-F5344CB8AC3E}">
        <p14:creationId xmlns:p14="http://schemas.microsoft.com/office/powerpoint/2010/main" val="24257383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5A940-690F-B87A-7C10-F63A296F8B40}"/>
              </a:ext>
            </a:extLst>
          </p:cNvPr>
          <p:cNvSpPr>
            <a:spLocks noGrp="1"/>
          </p:cNvSpPr>
          <p:nvPr>
            <p:ph type="title"/>
          </p:nvPr>
        </p:nvSpPr>
        <p:spPr/>
        <p:txBody>
          <a:bodyPr/>
          <a:lstStyle/>
          <a:p>
            <a:r>
              <a:rPr lang="en-PH" b="1" dirty="0"/>
              <a:t>System Development</a:t>
            </a:r>
            <a:br>
              <a:rPr lang="en-PH" b="1" dirty="0"/>
            </a:br>
            <a:endParaRPr lang="en-PH" dirty="0"/>
          </a:p>
        </p:txBody>
      </p:sp>
      <p:sp>
        <p:nvSpPr>
          <p:cNvPr id="3" name="Content Placeholder 2">
            <a:extLst>
              <a:ext uri="{FF2B5EF4-FFF2-40B4-BE49-F238E27FC236}">
                <a16:creationId xmlns:a16="http://schemas.microsoft.com/office/drawing/2014/main" id="{5563B8BB-73E2-2DAB-1BBC-BC23FEFECB11}"/>
              </a:ext>
            </a:extLst>
          </p:cNvPr>
          <p:cNvSpPr>
            <a:spLocks noGrp="1"/>
          </p:cNvSpPr>
          <p:nvPr>
            <p:ph idx="1"/>
          </p:nvPr>
        </p:nvSpPr>
        <p:spPr/>
        <p:txBody>
          <a:bodyPr>
            <a:normAutofit lnSpcReduction="10000"/>
          </a:bodyPr>
          <a:lstStyle/>
          <a:p>
            <a:pPr marL="0" indent="0">
              <a:buNone/>
            </a:pPr>
            <a:r>
              <a:rPr lang="en-PH" b="1" dirty="0"/>
              <a:t>Development Methodology:</a:t>
            </a:r>
            <a:r>
              <a:rPr lang="en-PH" dirty="0"/>
              <a:t> Agile Scrum Methodology</a:t>
            </a:r>
          </a:p>
          <a:p>
            <a:pPr lvl="1"/>
            <a:r>
              <a:rPr lang="en-PH" dirty="0"/>
              <a:t>Emphasizes iterative development, collaboration, continuous feedback, and incremental delivery.</a:t>
            </a:r>
          </a:p>
          <a:p>
            <a:pPr marL="0" indent="0">
              <a:buNone/>
            </a:pPr>
            <a:r>
              <a:rPr lang="en-PH" b="1" dirty="0"/>
              <a:t>Modules Developed:</a:t>
            </a:r>
            <a:endParaRPr lang="en-PH" dirty="0"/>
          </a:p>
          <a:p>
            <a:pPr lvl="1"/>
            <a:r>
              <a:rPr lang="en-PH" b="1" dirty="0"/>
              <a:t>User Authentication Module</a:t>
            </a:r>
            <a:endParaRPr lang="en-PH" dirty="0"/>
          </a:p>
          <a:p>
            <a:pPr lvl="1"/>
            <a:r>
              <a:rPr lang="en-PH" b="1" dirty="0"/>
              <a:t>AI Chatbot Module</a:t>
            </a:r>
            <a:r>
              <a:rPr lang="en-PH" dirty="0"/>
              <a:t> (using Google Gemini API)</a:t>
            </a:r>
          </a:p>
          <a:p>
            <a:pPr lvl="1"/>
            <a:r>
              <a:rPr lang="en-PH" b="1" dirty="0"/>
              <a:t>Career Guidance Module</a:t>
            </a:r>
            <a:endParaRPr lang="en-PH" dirty="0"/>
          </a:p>
          <a:p>
            <a:pPr lvl="1"/>
            <a:r>
              <a:rPr lang="en-PH" b="1" dirty="0"/>
              <a:t>Multilingual Support Module</a:t>
            </a:r>
            <a:r>
              <a:rPr lang="en-PH" dirty="0"/>
              <a:t> (English, Tagalog, Cebuano)</a:t>
            </a:r>
          </a:p>
          <a:p>
            <a:pPr lvl="1"/>
            <a:r>
              <a:rPr lang="en-PH" b="1" dirty="0"/>
              <a:t>Voice Input Module</a:t>
            </a:r>
            <a:endParaRPr lang="en-PH" dirty="0"/>
          </a:p>
          <a:p>
            <a:pPr lvl="1"/>
            <a:r>
              <a:rPr lang="en-PH" b="1" dirty="0"/>
              <a:t>File Attachment Module</a:t>
            </a:r>
            <a:endParaRPr lang="en-PH" dirty="0"/>
          </a:p>
          <a:p>
            <a:endParaRPr lang="en-PH" dirty="0"/>
          </a:p>
        </p:txBody>
      </p:sp>
    </p:spTree>
    <p:extLst>
      <p:ext uri="{BB962C8B-B14F-4D97-AF65-F5344CB8AC3E}">
        <p14:creationId xmlns:p14="http://schemas.microsoft.com/office/powerpoint/2010/main" val="16243982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60CBB-29B0-3022-4D2F-7DA3A85CC989}"/>
              </a:ext>
            </a:extLst>
          </p:cNvPr>
          <p:cNvSpPr>
            <a:spLocks noGrp="1"/>
          </p:cNvSpPr>
          <p:nvPr>
            <p:ph type="title"/>
          </p:nvPr>
        </p:nvSpPr>
        <p:spPr/>
        <p:txBody>
          <a:bodyPr/>
          <a:lstStyle/>
          <a:p>
            <a:r>
              <a:rPr lang="en-PH" b="1" dirty="0"/>
              <a:t>Key Features Demo</a:t>
            </a:r>
            <a:br>
              <a:rPr lang="en-PH" b="1" dirty="0"/>
            </a:br>
            <a:endParaRPr lang="en-PH" dirty="0"/>
          </a:p>
        </p:txBody>
      </p:sp>
      <p:sp>
        <p:nvSpPr>
          <p:cNvPr id="3" name="Content Placeholder 2">
            <a:extLst>
              <a:ext uri="{FF2B5EF4-FFF2-40B4-BE49-F238E27FC236}">
                <a16:creationId xmlns:a16="http://schemas.microsoft.com/office/drawing/2014/main" id="{56BBD9D9-D78B-47E4-C3CC-9D3003181374}"/>
              </a:ext>
            </a:extLst>
          </p:cNvPr>
          <p:cNvSpPr>
            <a:spLocks noGrp="1"/>
          </p:cNvSpPr>
          <p:nvPr>
            <p:ph idx="1"/>
          </p:nvPr>
        </p:nvSpPr>
        <p:spPr>
          <a:xfrm>
            <a:off x="1154954" y="2310892"/>
            <a:ext cx="5849349" cy="258572"/>
          </a:xfrm>
        </p:spPr>
        <p:txBody>
          <a:bodyPr>
            <a:normAutofit fontScale="70000" lnSpcReduction="20000"/>
          </a:bodyPr>
          <a:lstStyle/>
          <a:p>
            <a:pPr marL="0" indent="0">
              <a:buNone/>
            </a:pPr>
            <a:r>
              <a:rPr lang="en-PH" i="1" dirty="0"/>
              <a:t>Student Dashboard with the AI Chatbot interface.</a:t>
            </a:r>
            <a:endParaRPr lang="en-PH" dirty="0"/>
          </a:p>
        </p:txBody>
      </p:sp>
      <p:pic>
        <p:nvPicPr>
          <p:cNvPr id="5" name="Picture 4">
            <a:extLst>
              <a:ext uri="{FF2B5EF4-FFF2-40B4-BE49-F238E27FC236}">
                <a16:creationId xmlns:a16="http://schemas.microsoft.com/office/drawing/2014/main" id="{26B50A27-DE24-4301-7974-549A4E3E6BE6}"/>
              </a:ext>
            </a:extLst>
          </p:cNvPr>
          <p:cNvPicPr>
            <a:picLocks noChangeAspect="1"/>
          </p:cNvPicPr>
          <p:nvPr/>
        </p:nvPicPr>
        <p:blipFill>
          <a:blip r:embed="rId2"/>
          <a:stretch>
            <a:fillRect/>
          </a:stretch>
        </p:blipFill>
        <p:spPr>
          <a:xfrm>
            <a:off x="2798064" y="2759202"/>
            <a:ext cx="6002122" cy="3751326"/>
          </a:xfrm>
          <a:prstGeom prst="rect">
            <a:avLst/>
          </a:prstGeom>
        </p:spPr>
      </p:pic>
    </p:spTree>
    <p:extLst>
      <p:ext uri="{BB962C8B-B14F-4D97-AF65-F5344CB8AC3E}">
        <p14:creationId xmlns:p14="http://schemas.microsoft.com/office/powerpoint/2010/main" val="11517782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2FF26-AC16-5144-C223-487985715B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0CB561-264B-73F9-0533-7B397C0195B9}"/>
              </a:ext>
            </a:extLst>
          </p:cNvPr>
          <p:cNvSpPr>
            <a:spLocks noGrp="1"/>
          </p:cNvSpPr>
          <p:nvPr>
            <p:ph type="title"/>
          </p:nvPr>
        </p:nvSpPr>
        <p:spPr/>
        <p:txBody>
          <a:bodyPr/>
          <a:lstStyle/>
          <a:p>
            <a:r>
              <a:rPr lang="en-PH" b="1" dirty="0"/>
              <a:t>Key Features Demo</a:t>
            </a:r>
            <a:br>
              <a:rPr lang="en-PH" b="1" dirty="0"/>
            </a:br>
            <a:endParaRPr lang="en-PH" dirty="0"/>
          </a:p>
        </p:txBody>
      </p:sp>
      <p:sp>
        <p:nvSpPr>
          <p:cNvPr id="3" name="Content Placeholder 2">
            <a:extLst>
              <a:ext uri="{FF2B5EF4-FFF2-40B4-BE49-F238E27FC236}">
                <a16:creationId xmlns:a16="http://schemas.microsoft.com/office/drawing/2014/main" id="{08958FF2-1737-4097-8EF9-E811C8B9E23F}"/>
              </a:ext>
            </a:extLst>
          </p:cNvPr>
          <p:cNvSpPr>
            <a:spLocks noGrp="1"/>
          </p:cNvSpPr>
          <p:nvPr>
            <p:ph idx="1"/>
          </p:nvPr>
        </p:nvSpPr>
        <p:spPr>
          <a:xfrm>
            <a:off x="1154954" y="2310892"/>
            <a:ext cx="5849349" cy="258572"/>
          </a:xfrm>
        </p:spPr>
        <p:txBody>
          <a:bodyPr>
            <a:normAutofit fontScale="70000" lnSpcReduction="20000"/>
          </a:bodyPr>
          <a:lstStyle/>
          <a:p>
            <a:pPr marL="0" indent="0">
              <a:buNone/>
            </a:pPr>
            <a:r>
              <a:rPr lang="en-PH" i="1" dirty="0"/>
              <a:t>A conversation thread showing a response in Tagalog</a:t>
            </a:r>
            <a:endParaRPr lang="en-PH" dirty="0"/>
          </a:p>
        </p:txBody>
      </p:sp>
      <p:pic>
        <p:nvPicPr>
          <p:cNvPr id="5" name="Picture 4">
            <a:extLst>
              <a:ext uri="{FF2B5EF4-FFF2-40B4-BE49-F238E27FC236}">
                <a16:creationId xmlns:a16="http://schemas.microsoft.com/office/drawing/2014/main" id="{B15F3EA0-56D8-1332-63BD-6A4CE82A9098}"/>
              </a:ext>
            </a:extLst>
          </p:cNvPr>
          <p:cNvPicPr>
            <a:picLocks noChangeAspect="1"/>
          </p:cNvPicPr>
          <p:nvPr/>
        </p:nvPicPr>
        <p:blipFill>
          <a:blip r:embed="rId2"/>
          <a:stretch>
            <a:fillRect/>
          </a:stretch>
        </p:blipFill>
        <p:spPr>
          <a:xfrm>
            <a:off x="2615184" y="2739769"/>
            <a:ext cx="6486144" cy="3553480"/>
          </a:xfrm>
          <a:prstGeom prst="rect">
            <a:avLst/>
          </a:prstGeom>
        </p:spPr>
      </p:pic>
    </p:spTree>
    <p:extLst>
      <p:ext uri="{BB962C8B-B14F-4D97-AF65-F5344CB8AC3E}">
        <p14:creationId xmlns:p14="http://schemas.microsoft.com/office/powerpoint/2010/main" val="3797417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2D558-8F76-1B55-7262-957EC4EF42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873D04-F9C1-40C6-5ABC-C2E32FEB5D8E}"/>
              </a:ext>
            </a:extLst>
          </p:cNvPr>
          <p:cNvSpPr>
            <a:spLocks noGrp="1"/>
          </p:cNvSpPr>
          <p:nvPr>
            <p:ph type="title"/>
          </p:nvPr>
        </p:nvSpPr>
        <p:spPr/>
        <p:txBody>
          <a:bodyPr/>
          <a:lstStyle/>
          <a:p>
            <a:r>
              <a:rPr lang="en-PH" b="1" dirty="0"/>
              <a:t>Key Features Demo</a:t>
            </a:r>
            <a:br>
              <a:rPr lang="en-PH" b="1" dirty="0"/>
            </a:br>
            <a:endParaRPr lang="en-PH" dirty="0"/>
          </a:p>
        </p:txBody>
      </p:sp>
      <p:sp>
        <p:nvSpPr>
          <p:cNvPr id="3" name="Content Placeholder 2">
            <a:extLst>
              <a:ext uri="{FF2B5EF4-FFF2-40B4-BE49-F238E27FC236}">
                <a16:creationId xmlns:a16="http://schemas.microsoft.com/office/drawing/2014/main" id="{231C507E-7220-3898-B717-899F9129F8BC}"/>
              </a:ext>
            </a:extLst>
          </p:cNvPr>
          <p:cNvSpPr>
            <a:spLocks noGrp="1"/>
          </p:cNvSpPr>
          <p:nvPr>
            <p:ph idx="1"/>
          </p:nvPr>
        </p:nvSpPr>
        <p:spPr>
          <a:xfrm>
            <a:off x="1154954" y="2310892"/>
            <a:ext cx="5849349" cy="258572"/>
          </a:xfrm>
        </p:spPr>
        <p:txBody>
          <a:bodyPr>
            <a:normAutofit fontScale="70000" lnSpcReduction="20000"/>
          </a:bodyPr>
          <a:lstStyle/>
          <a:p>
            <a:pPr marL="0" indent="0">
              <a:buNone/>
            </a:pPr>
            <a:r>
              <a:rPr lang="en-PH" i="1" dirty="0"/>
              <a:t>The Career Suggestions input and output screen.</a:t>
            </a:r>
            <a:endParaRPr lang="en-PH" dirty="0"/>
          </a:p>
        </p:txBody>
      </p:sp>
      <p:pic>
        <p:nvPicPr>
          <p:cNvPr id="5" name="Picture 4">
            <a:extLst>
              <a:ext uri="{FF2B5EF4-FFF2-40B4-BE49-F238E27FC236}">
                <a16:creationId xmlns:a16="http://schemas.microsoft.com/office/drawing/2014/main" id="{1BF2873E-1D73-03E6-0100-997E522A3C10}"/>
              </a:ext>
            </a:extLst>
          </p:cNvPr>
          <p:cNvPicPr>
            <a:picLocks noChangeAspect="1"/>
          </p:cNvPicPr>
          <p:nvPr/>
        </p:nvPicPr>
        <p:blipFill>
          <a:blip r:embed="rId2"/>
          <a:stretch>
            <a:fillRect/>
          </a:stretch>
        </p:blipFill>
        <p:spPr>
          <a:xfrm>
            <a:off x="1609344" y="2967324"/>
            <a:ext cx="8644128" cy="3117144"/>
          </a:xfrm>
          <a:prstGeom prst="rect">
            <a:avLst/>
          </a:prstGeom>
        </p:spPr>
      </p:pic>
    </p:spTree>
    <p:extLst>
      <p:ext uri="{BB962C8B-B14F-4D97-AF65-F5344CB8AC3E}">
        <p14:creationId xmlns:p14="http://schemas.microsoft.com/office/powerpoint/2010/main" val="11946032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06987-A5DE-9D51-0C1C-474097C18A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6E219E-BCE2-2CC2-F834-237C3F814E12}"/>
              </a:ext>
            </a:extLst>
          </p:cNvPr>
          <p:cNvSpPr>
            <a:spLocks noGrp="1"/>
          </p:cNvSpPr>
          <p:nvPr>
            <p:ph type="title"/>
          </p:nvPr>
        </p:nvSpPr>
        <p:spPr/>
        <p:txBody>
          <a:bodyPr/>
          <a:lstStyle/>
          <a:p>
            <a:r>
              <a:rPr lang="en-PH" b="1" dirty="0"/>
              <a:t>Key Features Demo</a:t>
            </a:r>
            <a:br>
              <a:rPr lang="en-PH" b="1" dirty="0"/>
            </a:br>
            <a:endParaRPr lang="en-PH" dirty="0"/>
          </a:p>
        </p:txBody>
      </p:sp>
      <p:sp>
        <p:nvSpPr>
          <p:cNvPr id="3" name="Content Placeholder 2">
            <a:extLst>
              <a:ext uri="{FF2B5EF4-FFF2-40B4-BE49-F238E27FC236}">
                <a16:creationId xmlns:a16="http://schemas.microsoft.com/office/drawing/2014/main" id="{EE7A73F5-B6AF-767A-F72A-192A7763E328}"/>
              </a:ext>
            </a:extLst>
          </p:cNvPr>
          <p:cNvSpPr>
            <a:spLocks noGrp="1"/>
          </p:cNvSpPr>
          <p:nvPr>
            <p:ph idx="1"/>
          </p:nvPr>
        </p:nvSpPr>
        <p:spPr>
          <a:xfrm>
            <a:off x="1154954" y="2310892"/>
            <a:ext cx="5849349" cy="258572"/>
          </a:xfrm>
        </p:spPr>
        <p:txBody>
          <a:bodyPr>
            <a:normAutofit fontScale="70000" lnSpcReduction="20000"/>
          </a:bodyPr>
          <a:lstStyle/>
          <a:p>
            <a:pPr marL="0" indent="0">
              <a:buNone/>
            </a:pPr>
            <a:r>
              <a:rPr lang="en-PH" i="1" dirty="0"/>
              <a:t>The voice input and file attachment features in action.</a:t>
            </a:r>
            <a:endParaRPr lang="en-PH" dirty="0"/>
          </a:p>
        </p:txBody>
      </p:sp>
      <p:pic>
        <p:nvPicPr>
          <p:cNvPr id="5" name="Picture 4">
            <a:extLst>
              <a:ext uri="{FF2B5EF4-FFF2-40B4-BE49-F238E27FC236}">
                <a16:creationId xmlns:a16="http://schemas.microsoft.com/office/drawing/2014/main" id="{70904BD0-D526-12BF-B28E-178BB71C3916}"/>
              </a:ext>
            </a:extLst>
          </p:cNvPr>
          <p:cNvPicPr>
            <a:picLocks noChangeAspect="1"/>
          </p:cNvPicPr>
          <p:nvPr/>
        </p:nvPicPr>
        <p:blipFill>
          <a:blip r:embed="rId2"/>
          <a:stretch>
            <a:fillRect/>
          </a:stretch>
        </p:blipFill>
        <p:spPr>
          <a:xfrm>
            <a:off x="2429748" y="3199724"/>
            <a:ext cx="6449568" cy="1969157"/>
          </a:xfrm>
          <a:prstGeom prst="rect">
            <a:avLst/>
          </a:prstGeom>
        </p:spPr>
      </p:pic>
    </p:spTree>
    <p:extLst>
      <p:ext uri="{BB962C8B-B14F-4D97-AF65-F5344CB8AC3E}">
        <p14:creationId xmlns:p14="http://schemas.microsoft.com/office/powerpoint/2010/main" val="39312477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EEECB-0577-28C2-6949-DB00656E0E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6C3E64-ECB1-2A55-6706-0EEDCF3004AD}"/>
              </a:ext>
            </a:extLst>
          </p:cNvPr>
          <p:cNvSpPr>
            <a:spLocks noGrp="1"/>
          </p:cNvSpPr>
          <p:nvPr>
            <p:ph type="title"/>
          </p:nvPr>
        </p:nvSpPr>
        <p:spPr/>
        <p:txBody>
          <a:bodyPr/>
          <a:lstStyle/>
          <a:p>
            <a:r>
              <a:rPr lang="en-PH" b="1" dirty="0"/>
              <a:t>Key Features Demo</a:t>
            </a:r>
            <a:br>
              <a:rPr lang="en-PH" b="1" dirty="0"/>
            </a:br>
            <a:endParaRPr lang="en-PH" dirty="0"/>
          </a:p>
        </p:txBody>
      </p:sp>
      <p:sp>
        <p:nvSpPr>
          <p:cNvPr id="3" name="Content Placeholder 2">
            <a:extLst>
              <a:ext uri="{FF2B5EF4-FFF2-40B4-BE49-F238E27FC236}">
                <a16:creationId xmlns:a16="http://schemas.microsoft.com/office/drawing/2014/main" id="{420854DF-6EB9-4D44-1B45-176E9E8AC7FA}"/>
              </a:ext>
            </a:extLst>
          </p:cNvPr>
          <p:cNvSpPr>
            <a:spLocks noGrp="1"/>
          </p:cNvSpPr>
          <p:nvPr>
            <p:ph idx="1"/>
          </p:nvPr>
        </p:nvSpPr>
        <p:spPr>
          <a:xfrm>
            <a:off x="1154954" y="2310892"/>
            <a:ext cx="5849349" cy="258572"/>
          </a:xfrm>
        </p:spPr>
        <p:txBody>
          <a:bodyPr>
            <a:normAutofit fontScale="70000" lnSpcReduction="20000"/>
          </a:bodyPr>
          <a:lstStyle/>
          <a:p>
            <a:pPr marL="0" indent="0">
              <a:buNone/>
            </a:pPr>
            <a:r>
              <a:rPr lang="en-PH" i="1" dirty="0"/>
              <a:t>The Query History page.</a:t>
            </a:r>
            <a:endParaRPr lang="en-PH" dirty="0"/>
          </a:p>
        </p:txBody>
      </p:sp>
      <p:pic>
        <p:nvPicPr>
          <p:cNvPr id="5" name="Picture 4">
            <a:extLst>
              <a:ext uri="{FF2B5EF4-FFF2-40B4-BE49-F238E27FC236}">
                <a16:creationId xmlns:a16="http://schemas.microsoft.com/office/drawing/2014/main" id="{EDE238C9-2147-A294-3937-7656FB1351FD}"/>
              </a:ext>
            </a:extLst>
          </p:cNvPr>
          <p:cNvPicPr>
            <a:picLocks noChangeAspect="1"/>
          </p:cNvPicPr>
          <p:nvPr/>
        </p:nvPicPr>
        <p:blipFill>
          <a:blip r:embed="rId2"/>
          <a:stretch>
            <a:fillRect/>
          </a:stretch>
        </p:blipFill>
        <p:spPr>
          <a:xfrm>
            <a:off x="3267265" y="2904934"/>
            <a:ext cx="3133725" cy="3114675"/>
          </a:xfrm>
          <a:prstGeom prst="rect">
            <a:avLst/>
          </a:prstGeom>
        </p:spPr>
      </p:pic>
    </p:spTree>
    <p:extLst>
      <p:ext uri="{BB962C8B-B14F-4D97-AF65-F5344CB8AC3E}">
        <p14:creationId xmlns:p14="http://schemas.microsoft.com/office/powerpoint/2010/main" val="16608574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6AB6A-A6A8-3D21-D34F-A82170F0D747}"/>
              </a:ext>
            </a:extLst>
          </p:cNvPr>
          <p:cNvSpPr>
            <a:spLocks noGrp="1"/>
          </p:cNvSpPr>
          <p:nvPr>
            <p:ph type="title"/>
          </p:nvPr>
        </p:nvSpPr>
        <p:spPr/>
        <p:txBody>
          <a:bodyPr/>
          <a:lstStyle/>
          <a:p>
            <a:r>
              <a:rPr lang="en-PH" b="1" dirty="0"/>
              <a:t>Testing Methodology</a:t>
            </a:r>
            <a:br>
              <a:rPr lang="en-PH" b="1" dirty="0"/>
            </a:br>
            <a:endParaRPr lang="en-PH" dirty="0"/>
          </a:p>
        </p:txBody>
      </p:sp>
      <p:sp>
        <p:nvSpPr>
          <p:cNvPr id="3" name="Content Placeholder 2">
            <a:extLst>
              <a:ext uri="{FF2B5EF4-FFF2-40B4-BE49-F238E27FC236}">
                <a16:creationId xmlns:a16="http://schemas.microsoft.com/office/drawing/2014/main" id="{EF123699-A36D-C525-1476-BC5596A7E497}"/>
              </a:ext>
            </a:extLst>
          </p:cNvPr>
          <p:cNvSpPr>
            <a:spLocks noGrp="1"/>
          </p:cNvSpPr>
          <p:nvPr>
            <p:ph idx="1"/>
          </p:nvPr>
        </p:nvSpPr>
        <p:spPr/>
        <p:txBody>
          <a:bodyPr>
            <a:normAutofit lnSpcReduction="10000"/>
          </a:bodyPr>
          <a:lstStyle/>
          <a:p>
            <a:pPr marL="0" indent="0">
              <a:buNone/>
            </a:pPr>
            <a:r>
              <a:rPr lang="en-PH" b="1" dirty="0"/>
              <a:t>Testing Procedures:</a:t>
            </a:r>
            <a:endParaRPr lang="en-PH" dirty="0"/>
          </a:p>
          <a:p>
            <a:pPr lvl="1"/>
            <a:r>
              <a:rPr lang="en-PH" b="1" dirty="0"/>
              <a:t>Unit Testing:</a:t>
            </a:r>
            <a:r>
              <a:rPr lang="en-PH" dirty="0"/>
              <a:t> Individual components and functions were tested for correctness.</a:t>
            </a:r>
          </a:p>
          <a:p>
            <a:pPr lvl="1"/>
            <a:r>
              <a:rPr lang="en-PH" b="1" dirty="0"/>
              <a:t>Integration Testing:</a:t>
            </a:r>
            <a:r>
              <a:rPr lang="en-PH" dirty="0"/>
              <a:t> The interaction between the frontend, backend, AI API, and database was verified.</a:t>
            </a:r>
          </a:p>
          <a:p>
            <a:pPr lvl="1"/>
            <a:r>
              <a:rPr lang="en-PH" b="1" dirty="0"/>
              <a:t>User Acceptance Testing (UAT):</a:t>
            </a:r>
            <a:r>
              <a:rPr lang="en-PH" dirty="0"/>
              <a:t> Student users performed defined tasks to validate real-world usability.</a:t>
            </a:r>
          </a:p>
          <a:p>
            <a:pPr marL="0" indent="0">
              <a:buNone/>
            </a:pPr>
            <a:r>
              <a:rPr lang="en-PH" b="1" dirty="0"/>
              <a:t>Testing Environment:</a:t>
            </a:r>
            <a:endParaRPr lang="en-PH" dirty="0"/>
          </a:p>
          <a:p>
            <a:pPr lvl="1"/>
            <a:r>
              <a:rPr lang="en-PH" b="1" dirty="0"/>
              <a:t>Browsers:</a:t>
            </a:r>
            <a:r>
              <a:rPr lang="en-PH" dirty="0"/>
              <a:t> Google Chrome and Microsoft Edge.</a:t>
            </a:r>
          </a:p>
          <a:p>
            <a:pPr lvl="1"/>
            <a:r>
              <a:rPr lang="en-PH" b="1" dirty="0"/>
              <a:t>Devices:</a:t>
            </a:r>
            <a:r>
              <a:rPr lang="en-PH" dirty="0"/>
              <a:t> Laptops and smartphones.</a:t>
            </a:r>
          </a:p>
          <a:p>
            <a:pPr lvl="1"/>
            <a:r>
              <a:rPr lang="en-PH" b="1" dirty="0"/>
              <a:t>Network:</a:t>
            </a:r>
            <a:r>
              <a:rPr lang="en-PH" dirty="0"/>
              <a:t> Broadband internet connection.</a:t>
            </a:r>
          </a:p>
          <a:p>
            <a:endParaRPr lang="en-PH" dirty="0"/>
          </a:p>
        </p:txBody>
      </p:sp>
    </p:spTree>
    <p:extLst>
      <p:ext uri="{BB962C8B-B14F-4D97-AF65-F5344CB8AC3E}">
        <p14:creationId xmlns:p14="http://schemas.microsoft.com/office/powerpoint/2010/main" val="10576344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0748C-0D28-0201-E5EC-3719614097B2}"/>
              </a:ext>
            </a:extLst>
          </p:cNvPr>
          <p:cNvSpPr>
            <a:spLocks noGrp="1"/>
          </p:cNvSpPr>
          <p:nvPr>
            <p:ph type="title"/>
          </p:nvPr>
        </p:nvSpPr>
        <p:spPr/>
        <p:txBody>
          <a:bodyPr/>
          <a:lstStyle/>
          <a:p>
            <a:r>
              <a:rPr lang="en-PH" b="1" dirty="0"/>
              <a:t>Test Cases</a:t>
            </a:r>
            <a:br>
              <a:rPr lang="en-PH" b="1" dirty="0"/>
            </a:br>
            <a:endParaRPr lang="en-PH" dirty="0"/>
          </a:p>
        </p:txBody>
      </p:sp>
      <p:graphicFrame>
        <p:nvGraphicFramePr>
          <p:cNvPr id="5" name="Content Placeholder 4">
            <a:extLst>
              <a:ext uri="{FF2B5EF4-FFF2-40B4-BE49-F238E27FC236}">
                <a16:creationId xmlns:a16="http://schemas.microsoft.com/office/drawing/2014/main" id="{078DF3AF-24E8-11FC-4768-4F9C50489E76}"/>
              </a:ext>
            </a:extLst>
          </p:cNvPr>
          <p:cNvGraphicFramePr>
            <a:graphicFrameLocks noGrp="1"/>
          </p:cNvGraphicFramePr>
          <p:nvPr>
            <p:ph idx="1"/>
            <p:extLst>
              <p:ext uri="{D42A27DB-BD31-4B8C-83A1-F6EECF244321}">
                <p14:modId xmlns:p14="http://schemas.microsoft.com/office/powerpoint/2010/main" val="1161209128"/>
              </p:ext>
            </p:extLst>
          </p:nvPr>
        </p:nvGraphicFramePr>
        <p:xfrm>
          <a:off x="627126" y="1871705"/>
          <a:ext cx="10937748" cy="4898686"/>
        </p:xfrm>
        <a:graphic>
          <a:graphicData uri="http://schemas.openxmlformats.org/drawingml/2006/table">
            <a:tbl>
              <a:tblPr firstRow="1" firstCol="1" bandRow="1">
                <a:tableStyleId>{69CF1AB2-1976-4502-BF36-3FF5EA218861}</a:tableStyleId>
              </a:tblPr>
              <a:tblGrid>
                <a:gridCol w="1123021">
                  <a:extLst>
                    <a:ext uri="{9D8B030D-6E8A-4147-A177-3AD203B41FA5}">
                      <a16:colId xmlns:a16="http://schemas.microsoft.com/office/drawing/2014/main" val="2754514459"/>
                    </a:ext>
                  </a:extLst>
                </a:gridCol>
                <a:gridCol w="1524271">
                  <a:extLst>
                    <a:ext uri="{9D8B030D-6E8A-4147-A177-3AD203B41FA5}">
                      <a16:colId xmlns:a16="http://schemas.microsoft.com/office/drawing/2014/main" val="1831224093"/>
                    </a:ext>
                  </a:extLst>
                </a:gridCol>
                <a:gridCol w="1824908">
                  <a:extLst>
                    <a:ext uri="{9D8B030D-6E8A-4147-A177-3AD203B41FA5}">
                      <a16:colId xmlns:a16="http://schemas.microsoft.com/office/drawing/2014/main" val="3600283962"/>
                    </a:ext>
                  </a:extLst>
                </a:gridCol>
                <a:gridCol w="2556029">
                  <a:extLst>
                    <a:ext uri="{9D8B030D-6E8A-4147-A177-3AD203B41FA5}">
                      <a16:colId xmlns:a16="http://schemas.microsoft.com/office/drawing/2014/main" val="1594788654"/>
                    </a:ext>
                  </a:extLst>
                </a:gridCol>
                <a:gridCol w="2564229">
                  <a:extLst>
                    <a:ext uri="{9D8B030D-6E8A-4147-A177-3AD203B41FA5}">
                      <a16:colId xmlns:a16="http://schemas.microsoft.com/office/drawing/2014/main" val="1090620851"/>
                    </a:ext>
                  </a:extLst>
                </a:gridCol>
                <a:gridCol w="1345290">
                  <a:extLst>
                    <a:ext uri="{9D8B030D-6E8A-4147-A177-3AD203B41FA5}">
                      <a16:colId xmlns:a16="http://schemas.microsoft.com/office/drawing/2014/main" val="268322944"/>
                    </a:ext>
                  </a:extLst>
                </a:gridCol>
              </a:tblGrid>
              <a:tr h="191284">
                <a:tc>
                  <a:txBody>
                    <a:bodyPr/>
                    <a:lstStyle/>
                    <a:p>
                      <a:pPr algn="just">
                        <a:lnSpc>
                          <a:spcPct val="200000"/>
                        </a:lnSpc>
                        <a:spcAft>
                          <a:spcPts val="800"/>
                        </a:spcAft>
                        <a:buNone/>
                      </a:pPr>
                      <a:r>
                        <a:rPr lang="en-PH" sz="800" kern="100" dirty="0">
                          <a:effectLst/>
                        </a:rPr>
                        <a:t>Test Case #</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Tested By</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Tested Date</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a:effectLst/>
                        </a:rPr>
                        <a:t>Expected Outcome</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a:effectLst/>
                        </a:rPr>
                        <a:t>Actual Outcome</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Remarks</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extLst>
                  <a:ext uri="{0D108BD9-81ED-4DB2-BD59-A6C34878D82A}">
                    <a16:rowId xmlns:a16="http://schemas.microsoft.com/office/drawing/2014/main" val="1455856620"/>
                  </a:ext>
                </a:extLst>
              </a:tr>
              <a:tr h="414865">
                <a:tc>
                  <a:txBody>
                    <a:bodyPr/>
                    <a:lstStyle/>
                    <a:p>
                      <a:pPr algn="just">
                        <a:lnSpc>
                          <a:spcPct val="200000"/>
                        </a:lnSpc>
                        <a:spcAft>
                          <a:spcPts val="800"/>
                        </a:spcAft>
                        <a:buNone/>
                      </a:pPr>
                      <a:r>
                        <a:rPr lang="en-PH" sz="800" kern="100">
                          <a:effectLst/>
                        </a:rPr>
                        <a:t>1a</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John Mark Valencia</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June 3, 2026</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a:effectLst/>
                        </a:rPr>
                        <a:t>Be able to register a new account.</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a:effectLst/>
                        </a:rPr>
                        <a:t>User successfully registered a new account with valid details.</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Passed</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extLst>
                  <a:ext uri="{0D108BD9-81ED-4DB2-BD59-A6C34878D82A}">
                    <a16:rowId xmlns:a16="http://schemas.microsoft.com/office/drawing/2014/main" val="2488707480"/>
                  </a:ext>
                </a:extLst>
              </a:tr>
              <a:tr h="414865">
                <a:tc>
                  <a:txBody>
                    <a:bodyPr/>
                    <a:lstStyle/>
                    <a:p>
                      <a:pPr algn="just">
                        <a:lnSpc>
                          <a:spcPct val="200000"/>
                        </a:lnSpc>
                        <a:spcAft>
                          <a:spcPts val="800"/>
                        </a:spcAft>
                        <a:buNone/>
                      </a:pPr>
                      <a:r>
                        <a:rPr lang="en-PH" sz="800" kern="100">
                          <a:effectLst/>
                        </a:rPr>
                        <a:t>1b</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Sophia Mendoza</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June 3, 2026</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a:effectLst/>
                        </a:rPr>
                        <a:t>Be able to log in using registered credentials.</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a:effectLst/>
                        </a:rPr>
                        <a:t>User successfully authenticated and was redirected to the main dashboard.</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Passed</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extLst>
                  <a:ext uri="{0D108BD9-81ED-4DB2-BD59-A6C34878D82A}">
                    <a16:rowId xmlns:a16="http://schemas.microsoft.com/office/drawing/2014/main" val="735928902"/>
                  </a:ext>
                </a:extLst>
              </a:tr>
              <a:tr h="414865">
                <a:tc>
                  <a:txBody>
                    <a:bodyPr/>
                    <a:lstStyle/>
                    <a:p>
                      <a:pPr algn="just">
                        <a:lnSpc>
                          <a:spcPct val="200000"/>
                        </a:lnSpc>
                        <a:spcAft>
                          <a:spcPts val="800"/>
                        </a:spcAft>
                        <a:buNone/>
                      </a:pPr>
                      <a:r>
                        <a:rPr lang="en-PH" sz="800" kern="100">
                          <a:effectLst/>
                        </a:rPr>
                        <a:t>1c</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Christian Jay Duterte</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June 3, 2026</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a:effectLst/>
                        </a:rPr>
                        <a:t>Be able to log out of the application.</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a:effectLst/>
                        </a:rPr>
                        <a:t>User successfully logged out and was returned to the login screen.</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Passed</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extLst>
                  <a:ext uri="{0D108BD9-81ED-4DB2-BD59-A6C34878D82A}">
                    <a16:rowId xmlns:a16="http://schemas.microsoft.com/office/drawing/2014/main" val="134562627"/>
                  </a:ext>
                </a:extLst>
              </a:tr>
              <a:tr h="615733">
                <a:tc>
                  <a:txBody>
                    <a:bodyPr/>
                    <a:lstStyle/>
                    <a:p>
                      <a:pPr algn="just">
                        <a:lnSpc>
                          <a:spcPct val="200000"/>
                        </a:lnSpc>
                        <a:spcAft>
                          <a:spcPts val="800"/>
                        </a:spcAft>
                        <a:buNone/>
                      </a:pPr>
                      <a:r>
                        <a:rPr lang="en-PH" sz="800" kern="100">
                          <a:effectLst/>
                        </a:rPr>
                        <a:t>1d</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John Mark Valencia</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June 3, 2026</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a:effectLst/>
                        </a:rPr>
                        <a:t>Maintain active user session until logout.</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a:effectLst/>
                        </a:rPr>
                        <a:t>User session remained active for the duration of the testing period until manual logout.</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Passed</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extLst>
                  <a:ext uri="{0D108BD9-81ED-4DB2-BD59-A6C34878D82A}">
                    <a16:rowId xmlns:a16="http://schemas.microsoft.com/office/drawing/2014/main" val="1173945529"/>
                  </a:ext>
                </a:extLst>
              </a:tr>
              <a:tr h="414865">
                <a:tc>
                  <a:txBody>
                    <a:bodyPr/>
                    <a:lstStyle/>
                    <a:p>
                      <a:pPr algn="just">
                        <a:lnSpc>
                          <a:spcPct val="200000"/>
                        </a:lnSpc>
                        <a:spcAft>
                          <a:spcPts val="800"/>
                        </a:spcAft>
                        <a:buNone/>
                      </a:pPr>
                      <a:r>
                        <a:rPr lang="en-PH" sz="800" kern="100">
                          <a:effectLst/>
                        </a:rPr>
                        <a:t>2a</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Sophia Mendoza</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June 3, 2026</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a:effectLst/>
                        </a:rPr>
                        <a:t>Ask a question in English and receive an accurate AI-generated explanation.</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a:effectLst/>
                        </a:rPr>
                        <a:t>The AI generated a relevant and accurate explanation in English.</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Passed</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extLst>
                  <a:ext uri="{0D108BD9-81ED-4DB2-BD59-A6C34878D82A}">
                    <a16:rowId xmlns:a16="http://schemas.microsoft.com/office/drawing/2014/main" val="301916358"/>
                  </a:ext>
                </a:extLst>
              </a:tr>
              <a:tr h="414865">
                <a:tc>
                  <a:txBody>
                    <a:bodyPr/>
                    <a:lstStyle/>
                    <a:p>
                      <a:pPr algn="just">
                        <a:lnSpc>
                          <a:spcPct val="200000"/>
                        </a:lnSpc>
                        <a:spcAft>
                          <a:spcPts val="800"/>
                        </a:spcAft>
                        <a:buNone/>
                      </a:pPr>
                      <a:r>
                        <a:rPr lang="en-PH" sz="800" kern="100">
                          <a:effectLst/>
                        </a:rPr>
                        <a:t>2b</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Christian Jay Duterte</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June 3, 2026</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a:effectLst/>
                        </a:rPr>
                        <a:t>Ask a question in Tagalog and receive an accurate AI-generated explanation.</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a:effectLst/>
                        </a:rPr>
                        <a:t>The AI generated a relevant and accurate explanation in Tagalog.</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Passed</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extLst>
                  <a:ext uri="{0D108BD9-81ED-4DB2-BD59-A6C34878D82A}">
                    <a16:rowId xmlns:a16="http://schemas.microsoft.com/office/drawing/2014/main" val="2251391305"/>
                  </a:ext>
                </a:extLst>
              </a:tr>
              <a:tr h="414865">
                <a:tc>
                  <a:txBody>
                    <a:bodyPr/>
                    <a:lstStyle/>
                    <a:p>
                      <a:pPr algn="just">
                        <a:lnSpc>
                          <a:spcPct val="200000"/>
                        </a:lnSpc>
                        <a:spcAft>
                          <a:spcPts val="800"/>
                        </a:spcAft>
                        <a:buNone/>
                      </a:pPr>
                      <a:r>
                        <a:rPr lang="en-PH" sz="800" kern="100">
                          <a:effectLst/>
                        </a:rPr>
                        <a:t>2c</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John Mark Valencia</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June 3, 2026</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Ask a question in Cebuano and receive an accurate AI-generated explanation.</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a:effectLst/>
                        </a:rPr>
                        <a:t>The AI generated a relevant and accurate explanation in Cebuano.</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Passed</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extLst>
                  <a:ext uri="{0D108BD9-81ED-4DB2-BD59-A6C34878D82A}">
                    <a16:rowId xmlns:a16="http://schemas.microsoft.com/office/drawing/2014/main" val="2029049597"/>
                  </a:ext>
                </a:extLst>
              </a:tr>
              <a:tr h="414865">
                <a:tc>
                  <a:txBody>
                    <a:bodyPr/>
                    <a:lstStyle/>
                    <a:p>
                      <a:pPr algn="just">
                        <a:lnSpc>
                          <a:spcPct val="200000"/>
                        </a:lnSpc>
                        <a:spcAft>
                          <a:spcPts val="800"/>
                        </a:spcAft>
                        <a:buNone/>
                      </a:pPr>
                      <a:r>
                        <a:rPr lang="en-PH" sz="800" kern="100">
                          <a:effectLst/>
                        </a:rPr>
                        <a:t>2d</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Sophia Mendoza</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June 3, 2026</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Ask a question and receive a response.</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a:effectLst/>
                        </a:rPr>
                        <a:t>System processed the question and provided a coherent, non-empty response.</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Passed</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extLst>
                  <a:ext uri="{0D108BD9-81ED-4DB2-BD59-A6C34878D82A}">
                    <a16:rowId xmlns:a16="http://schemas.microsoft.com/office/drawing/2014/main" val="928893917"/>
                  </a:ext>
                </a:extLst>
              </a:tr>
              <a:tr h="414865">
                <a:tc>
                  <a:txBody>
                    <a:bodyPr/>
                    <a:lstStyle/>
                    <a:p>
                      <a:pPr algn="just">
                        <a:lnSpc>
                          <a:spcPct val="200000"/>
                        </a:lnSpc>
                        <a:spcAft>
                          <a:spcPts val="800"/>
                        </a:spcAft>
                        <a:buNone/>
                      </a:pPr>
                      <a:r>
                        <a:rPr lang="en-PH" sz="800" kern="100">
                          <a:effectLst/>
                        </a:rPr>
                        <a:t>3a</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Christian Jay Duterte</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June 4, 2026</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a:effectLst/>
                        </a:rPr>
                        <a:t>Input interests, grade level, and strengths.</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a:effectLst/>
                        </a:rPr>
                        <a:t>The system successfully accepted the input parameters.</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Passed</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extLst>
                  <a:ext uri="{0D108BD9-81ED-4DB2-BD59-A6C34878D82A}">
                    <a16:rowId xmlns:a16="http://schemas.microsoft.com/office/drawing/2014/main" val="4098454351"/>
                  </a:ext>
                </a:extLst>
              </a:tr>
              <a:tr h="414865">
                <a:tc>
                  <a:txBody>
                    <a:bodyPr/>
                    <a:lstStyle/>
                    <a:p>
                      <a:pPr algn="just">
                        <a:lnSpc>
                          <a:spcPct val="200000"/>
                        </a:lnSpc>
                        <a:spcAft>
                          <a:spcPts val="800"/>
                        </a:spcAft>
                        <a:buNone/>
                      </a:pPr>
                      <a:r>
                        <a:rPr lang="en-PH" sz="800" kern="100" dirty="0">
                          <a:effectLst/>
                        </a:rPr>
                        <a:t>3b</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John Mark Valencia</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June 4, 2026</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a:effectLst/>
                        </a:rPr>
                        <a:t>Receive a list of suggested careers with descriptions.</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a:effectLst/>
                        </a:rPr>
                        <a:t>The system generated a list of relevant careers with accurate descriptions.</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Passed</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extLst>
                  <a:ext uri="{0D108BD9-81ED-4DB2-BD59-A6C34878D82A}">
                    <a16:rowId xmlns:a16="http://schemas.microsoft.com/office/drawing/2014/main" val="3626209221"/>
                  </a:ext>
                </a:extLst>
              </a:tr>
            </a:tbl>
          </a:graphicData>
        </a:graphic>
      </p:graphicFrame>
    </p:spTree>
    <p:extLst>
      <p:ext uri="{BB962C8B-B14F-4D97-AF65-F5344CB8AC3E}">
        <p14:creationId xmlns:p14="http://schemas.microsoft.com/office/powerpoint/2010/main" val="38837313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392F2-0C8D-746C-4CCF-41F4B223F7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246496-09B5-E0D0-8B47-7FAFC3E52FE6}"/>
              </a:ext>
            </a:extLst>
          </p:cNvPr>
          <p:cNvSpPr>
            <a:spLocks noGrp="1"/>
          </p:cNvSpPr>
          <p:nvPr>
            <p:ph type="title"/>
          </p:nvPr>
        </p:nvSpPr>
        <p:spPr/>
        <p:txBody>
          <a:bodyPr/>
          <a:lstStyle/>
          <a:p>
            <a:r>
              <a:rPr lang="en-PH" b="1" dirty="0"/>
              <a:t>Test Cases</a:t>
            </a:r>
            <a:br>
              <a:rPr lang="en-PH" b="1" dirty="0"/>
            </a:br>
            <a:endParaRPr lang="en-PH" dirty="0"/>
          </a:p>
        </p:txBody>
      </p:sp>
      <p:graphicFrame>
        <p:nvGraphicFramePr>
          <p:cNvPr id="6" name="Content Placeholder 5">
            <a:extLst>
              <a:ext uri="{FF2B5EF4-FFF2-40B4-BE49-F238E27FC236}">
                <a16:creationId xmlns:a16="http://schemas.microsoft.com/office/drawing/2014/main" id="{68828820-046F-7F8C-B516-6507F5512301}"/>
              </a:ext>
            </a:extLst>
          </p:cNvPr>
          <p:cNvGraphicFramePr>
            <a:graphicFrameLocks noGrp="1"/>
          </p:cNvGraphicFramePr>
          <p:nvPr>
            <p:ph idx="1"/>
            <p:extLst>
              <p:ext uri="{D42A27DB-BD31-4B8C-83A1-F6EECF244321}">
                <p14:modId xmlns:p14="http://schemas.microsoft.com/office/powerpoint/2010/main" val="4018619503"/>
              </p:ext>
            </p:extLst>
          </p:nvPr>
        </p:nvGraphicFramePr>
        <p:xfrm>
          <a:off x="678179" y="2039112"/>
          <a:ext cx="10835641" cy="4707975"/>
        </p:xfrm>
        <a:graphic>
          <a:graphicData uri="http://schemas.openxmlformats.org/drawingml/2006/table">
            <a:tbl>
              <a:tblPr firstRow="1" firstCol="1" bandRow="1">
                <a:tableStyleId>{69CF1AB2-1976-4502-BF36-3FF5EA218861}</a:tableStyleId>
              </a:tblPr>
              <a:tblGrid>
                <a:gridCol w="1112540">
                  <a:extLst>
                    <a:ext uri="{9D8B030D-6E8A-4147-A177-3AD203B41FA5}">
                      <a16:colId xmlns:a16="http://schemas.microsoft.com/office/drawing/2014/main" val="639550466"/>
                    </a:ext>
                  </a:extLst>
                </a:gridCol>
                <a:gridCol w="1510037">
                  <a:extLst>
                    <a:ext uri="{9D8B030D-6E8A-4147-A177-3AD203B41FA5}">
                      <a16:colId xmlns:a16="http://schemas.microsoft.com/office/drawing/2014/main" val="1274819657"/>
                    </a:ext>
                  </a:extLst>
                </a:gridCol>
                <a:gridCol w="1807871">
                  <a:extLst>
                    <a:ext uri="{9D8B030D-6E8A-4147-A177-3AD203B41FA5}">
                      <a16:colId xmlns:a16="http://schemas.microsoft.com/office/drawing/2014/main" val="3622988495"/>
                    </a:ext>
                  </a:extLst>
                </a:gridCol>
                <a:gridCol w="2532176">
                  <a:extLst>
                    <a:ext uri="{9D8B030D-6E8A-4147-A177-3AD203B41FA5}">
                      <a16:colId xmlns:a16="http://schemas.microsoft.com/office/drawing/2014/main" val="694988645"/>
                    </a:ext>
                  </a:extLst>
                </a:gridCol>
                <a:gridCol w="2540293">
                  <a:extLst>
                    <a:ext uri="{9D8B030D-6E8A-4147-A177-3AD203B41FA5}">
                      <a16:colId xmlns:a16="http://schemas.microsoft.com/office/drawing/2014/main" val="2136373031"/>
                    </a:ext>
                  </a:extLst>
                </a:gridCol>
                <a:gridCol w="1332724">
                  <a:extLst>
                    <a:ext uri="{9D8B030D-6E8A-4147-A177-3AD203B41FA5}">
                      <a16:colId xmlns:a16="http://schemas.microsoft.com/office/drawing/2014/main" val="2605312370"/>
                    </a:ext>
                  </a:extLst>
                </a:gridCol>
              </a:tblGrid>
              <a:tr h="437749">
                <a:tc>
                  <a:txBody>
                    <a:bodyPr/>
                    <a:lstStyle/>
                    <a:p>
                      <a:pPr algn="just">
                        <a:lnSpc>
                          <a:spcPct val="200000"/>
                        </a:lnSpc>
                        <a:spcAft>
                          <a:spcPts val="800"/>
                        </a:spcAft>
                        <a:buNone/>
                      </a:pPr>
                      <a:r>
                        <a:rPr lang="en-PH" sz="800" kern="100">
                          <a:effectLst/>
                        </a:rPr>
                        <a:t>4a</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dirty="0">
                          <a:effectLst/>
                        </a:rPr>
                        <a:t>Sophia Mendoza</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dirty="0">
                          <a:effectLst/>
                        </a:rPr>
                        <a:t>June 4, 2026</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a:effectLst/>
                        </a:rPr>
                        <a:t>View a list of predefined common academic topics.</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a:effectLst/>
                        </a:rPr>
                        <a:t>Predefined prompts were displayed correctly on the interface.</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dirty="0">
                          <a:effectLst/>
                        </a:rPr>
                        <a:t>Passed</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extLst>
                  <a:ext uri="{0D108BD9-81ED-4DB2-BD59-A6C34878D82A}">
                    <a16:rowId xmlns:a16="http://schemas.microsoft.com/office/drawing/2014/main" val="1084161147"/>
                  </a:ext>
                </a:extLst>
              </a:tr>
              <a:tr h="527966">
                <a:tc>
                  <a:txBody>
                    <a:bodyPr/>
                    <a:lstStyle/>
                    <a:p>
                      <a:pPr algn="just">
                        <a:lnSpc>
                          <a:spcPct val="200000"/>
                        </a:lnSpc>
                        <a:spcAft>
                          <a:spcPts val="800"/>
                        </a:spcAft>
                        <a:buNone/>
                      </a:pPr>
                      <a:r>
                        <a:rPr lang="en-PH" sz="800" kern="100">
                          <a:effectLst/>
                        </a:rPr>
                        <a:t>4b</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dirty="0">
                          <a:effectLst/>
                        </a:rPr>
                        <a:t>Christian Jay Duterte</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dirty="0">
                          <a:effectLst/>
                        </a:rPr>
                        <a:t>June 4, 2026</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a:effectLst/>
                        </a:rPr>
                        <a:t>Click a prompt and receive an AI-generated response.</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a:effectLst/>
                        </a:rPr>
                        <a:t>The system processed the prompt and generated a relevant explanation.</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dirty="0">
                          <a:effectLst/>
                        </a:rPr>
                        <a:t>Passed</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extLst>
                  <a:ext uri="{0D108BD9-81ED-4DB2-BD59-A6C34878D82A}">
                    <a16:rowId xmlns:a16="http://schemas.microsoft.com/office/drawing/2014/main" val="4064887844"/>
                  </a:ext>
                </a:extLst>
              </a:tr>
              <a:tr h="527966">
                <a:tc>
                  <a:txBody>
                    <a:bodyPr/>
                    <a:lstStyle/>
                    <a:p>
                      <a:pPr algn="just">
                        <a:lnSpc>
                          <a:spcPct val="200000"/>
                        </a:lnSpc>
                        <a:spcAft>
                          <a:spcPts val="800"/>
                        </a:spcAft>
                        <a:buNone/>
                      </a:pPr>
                      <a:r>
                        <a:rPr lang="en-PH" sz="800" kern="100">
                          <a:effectLst/>
                        </a:rPr>
                        <a:t>5a</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dirty="0">
                          <a:effectLst/>
                        </a:rPr>
                        <a:t>John Mark Valencia</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dirty="0">
                          <a:effectLst/>
                        </a:rPr>
                        <a:t>June 4, 2026</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a:effectLst/>
                        </a:rPr>
                        <a:t>Use voice input to ask a question.</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a:effectLst/>
                        </a:rPr>
                        <a:t>The system successfully activated the microphone and recorded audio.</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a:effectLst/>
                        </a:rPr>
                        <a:t>Passed</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extLst>
                  <a:ext uri="{0D108BD9-81ED-4DB2-BD59-A6C34878D82A}">
                    <a16:rowId xmlns:a16="http://schemas.microsoft.com/office/drawing/2014/main" val="877358051"/>
                  </a:ext>
                </a:extLst>
              </a:tr>
              <a:tr h="437811">
                <a:tc>
                  <a:txBody>
                    <a:bodyPr/>
                    <a:lstStyle/>
                    <a:p>
                      <a:pPr algn="just">
                        <a:lnSpc>
                          <a:spcPct val="200000"/>
                        </a:lnSpc>
                        <a:spcAft>
                          <a:spcPts val="800"/>
                        </a:spcAft>
                        <a:buNone/>
                      </a:pPr>
                      <a:r>
                        <a:rPr lang="en-PH" sz="800" kern="100">
                          <a:effectLst/>
                        </a:rPr>
                        <a:t>5b</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dirty="0">
                          <a:effectLst/>
                        </a:rPr>
                        <a:t>Sophia Mendoza</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a:effectLst/>
                        </a:rPr>
                        <a:t>June 4, 2026</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a:effectLst/>
                        </a:rPr>
                        <a:t>Verify that audio is converted to text correctly.</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a:effectLst/>
                        </a:rPr>
                        <a:t>The audio was transcribed to text with acceptable accuracy.</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dirty="0">
                          <a:effectLst/>
                        </a:rPr>
                        <a:t>Passed</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extLst>
                  <a:ext uri="{0D108BD9-81ED-4DB2-BD59-A6C34878D82A}">
                    <a16:rowId xmlns:a16="http://schemas.microsoft.com/office/drawing/2014/main" val="2595798258"/>
                  </a:ext>
                </a:extLst>
              </a:tr>
              <a:tr h="347658">
                <a:tc>
                  <a:txBody>
                    <a:bodyPr/>
                    <a:lstStyle/>
                    <a:p>
                      <a:pPr algn="just">
                        <a:lnSpc>
                          <a:spcPct val="200000"/>
                        </a:lnSpc>
                        <a:spcAft>
                          <a:spcPts val="800"/>
                        </a:spcAft>
                        <a:buNone/>
                      </a:pPr>
                      <a:r>
                        <a:rPr lang="en-PH" sz="800" kern="100">
                          <a:effectLst/>
                        </a:rPr>
                        <a:t>6a</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dirty="0">
                          <a:effectLst/>
                        </a:rPr>
                        <a:t>Christian Jay Duterte</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a:effectLst/>
                        </a:rPr>
                        <a:t>June 5, 2026</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a:effectLst/>
                        </a:rPr>
                        <a:t>Attach an image file (≤5MB) with a query.</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a:effectLst/>
                        </a:rPr>
                        <a:t>The system accepted the image file.</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a:effectLst/>
                        </a:rPr>
                        <a:t>Passed</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extLst>
                  <a:ext uri="{0D108BD9-81ED-4DB2-BD59-A6C34878D82A}">
                    <a16:rowId xmlns:a16="http://schemas.microsoft.com/office/drawing/2014/main" val="2178445737"/>
                  </a:ext>
                </a:extLst>
              </a:tr>
              <a:tr h="347658">
                <a:tc>
                  <a:txBody>
                    <a:bodyPr/>
                    <a:lstStyle/>
                    <a:p>
                      <a:pPr algn="just">
                        <a:lnSpc>
                          <a:spcPct val="200000"/>
                        </a:lnSpc>
                        <a:spcAft>
                          <a:spcPts val="800"/>
                        </a:spcAft>
                        <a:buNone/>
                      </a:pPr>
                      <a:r>
                        <a:rPr lang="en-PH" sz="800" kern="100">
                          <a:effectLst/>
                        </a:rPr>
                        <a:t>6b</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dirty="0">
                          <a:effectLst/>
                        </a:rPr>
                        <a:t>John Mark Valencia</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dirty="0">
                          <a:effectLst/>
                        </a:rPr>
                        <a:t>June 5, 2026</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a:effectLst/>
                        </a:rPr>
                        <a:t>Attach a document file (≤5MB) with a query.</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a:effectLst/>
                        </a:rPr>
                        <a:t>The system accepted the document file.</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a:effectLst/>
                        </a:rPr>
                        <a:t>Passed</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extLst>
                  <a:ext uri="{0D108BD9-81ED-4DB2-BD59-A6C34878D82A}">
                    <a16:rowId xmlns:a16="http://schemas.microsoft.com/office/drawing/2014/main" val="932936497"/>
                  </a:ext>
                </a:extLst>
              </a:tr>
              <a:tr h="618120">
                <a:tc>
                  <a:txBody>
                    <a:bodyPr/>
                    <a:lstStyle/>
                    <a:p>
                      <a:pPr algn="just">
                        <a:lnSpc>
                          <a:spcPct val="200000"/>
                        </a:lnSpc>
                        <a:spcAft>
                          <a:spcPts val="800"/>
                        </a:spcAft>
                        <a:buNone/>
                      </a:pPr>
                      <a:r>
                        <a:rPr lang="en-PH" sz="800" kern="100">
                          <a:effectLst/>
                        </a:rPr>
                        <a:t>6c</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dirty="0">
                          <a:effectLst/>
                        </a:rPr>
                        <a:t>Sophia Mendoza</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dirty="0">
                          <a:effectLst/>
                        </a:rPr>
                        <a:t>June 5, 2026</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a:effectLst/>
                        </a:rPr>
                        <a:t>Receive an AI-assisted response based on the attachment.</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a:effectLst/>
                        </a:rPr>
                        <a:t>The AI processed the attachment and generated a context-aware response.</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dirty="0">
                          <a:effectLst/>
                        </a:rPr>
                        <a:t>Passed</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extLst>
                  <a:ext uri="{0D108BD9-81ED-4DB2-BD59-A6C34878D82A}">
                    <a16:rowId xmlns:a16="http://schemas.microsoft.com/office/drawing/2014/main" val="2170823692"/>
                  </a:ext>
                </a:extLst>
              </a:tr>
              <a:tr h="437811">
                <a:tc>
                  <a:txBody>
                    <a:bodyPr/>
                    <a:lstStyle/>
                    <a:p>
                      <a:pPr algn="just">
                        <a:lnSpc>
                          <a:spcPct val="200000"/>
                        </a:lnSpc>
                        <a:spcAft>
                          <a:spcPts val="800"/>
                        </a:spcAft>
                        <a:buNone/>
                      </a:pPr>
                      <a:r>
                        <a:rPr lang="en-PH" sz="800" kern="100">
                          <a:effectLst/>
                        </a:rPr>
                        <a:t>7a</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dirty="0">
                          <a:effectLst/>
                        </a:rPr>
                        <a:t>Christian Jay Duterte</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a:effectLst/>
                        </a:rPr>
                        <a:t>June 5, 2026</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a:effectLst/>
                        </a:rPr>
                        <a:t>View student profile.</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a:effectLst/>
                        </a:rPr>
                        <a:t>The student's profile information was displayed correctly.</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dirty="0">
                          <a:effectLst/>
                        </a:rPr>
                        <a:t>Passed</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extLst>
                  <a:ext uri="{0D108BD9-81ED-4DB2-BD59-A6C34878D82A}">
                    <a16:rowId xmlns:a16="http://schemas.microsoft.com/office/drawing/2014/main" val="2159963485"/>
                  </a:ext>
                </a:extLst>
              </a:tr>
              <a:tr h="527966">
                <a:tc>
                  <a:txBody>
                    <a:bodyPr/>
                    <a:lstStyle/>
                    <a:p>
                      <a:pPr algn="just">
                        <a:lnSpc>
                          <a:spcPct val="200000"/>
                        </a:lnSpc>
                        <a:spcAft>
                          <a:spcPts val="800"/>
                        </a:spcAft>
                        <a:buNone/>
                      </a:pPr>
                      <a:r>
                        <a:rPr lang="en-PH" sz="800" kern="100">
                          <a:effectLst/>
                        </a:rPr>
                        <a:t>7b</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dirty="0">
                          <a:effectLst/>
                        </a:rPr>
                        <a:t>John Mark Valencia</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dirty="0">
                          <a:effectLst/>
                        </a:rPr>
                        <a:t>June 5, 2026</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a:effectLst/>
                        </a:rPr>
                        <a:t>Update student profile information.</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a:effectLst/>
                        </a:rPr>
                        <a:t>The student successfully updated their profile, and changes were saved.</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dirty="0">
                          <a:effectLst/>
                        </a:rPr>
                        <a:t>Passed</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extLst>
                  <a:ext uri="{0D108BD9-81ED-4DB2-BD59-A6C34878D82A}">
                    <a16:rowId xmlns:a16="http://schemas.microsoft.com/office/drawing/2014/main" val="2979479834"/>
                  </a:ext>
                </a:extLst>
              </a:tr>
              <a:tr h="409566">
                <a:tc>
                  <a:txBody>
                    <a:bodyPr/>
                    <a:lstStyle/>
                    <a:p>
                      <a:pPr algn="just">
                        <a:lnSpc>
                          <a:spcPct val="200000"/>
                        </a:lnSpc>
                        <a:spcAft>
                          <a:spcPts val="800"/>
                        </a:spcAft>
                        <a:buNone/>
                      </a:pPr>
                      <a:r>
                        <a:rPr lang="en-PH" sz="800" kern="100" dirty="0">
                          <a:effectLst/>
                        </a:rPr>
                        <a:t>7c</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dirty="0">
                          <a:effectLst/>
                        </a:rPr>
                        <a:t>Sophia Mendoza</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dirty="0">
                          <a:effectLst/>
                        </a:rPr>
                        <a:t>June 5, 2026</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a:effectLst/>
                        </a:rPr>
                        <a:t>View personal query history.</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a:effectLst/>
                        </a:rPr>
                        <a:t>The student's previous queries were displayed correctly.</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dirty="0">
                          <a:effectLst/>
                        </a:rPr>
                        <a:t>Passed</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extLst>
                  <a:ext uri="{0D108BD9-81ED-4DB2-BD59-A6C34878D82A}">
                    <a16:rowId xmlns:a16="http://schemas.microsoft.com/office/drawing/2014/main" val="3853894775"/>
                  </a:ext>
                </a:extLst>
              </a:tr>
            </a:tbl>
          </a:graphicData>
        </a:graphic>
      </p:graphicFrame>
    </p:spTree>
    <p:extLst>
      <p:ext uri="{BB962C8B-B14F-4D97-AF65-F5344CB8AC3E}">
        <p14:creationId xmlns:p14="http://schemas.microsoft.com/office/powerpoint/2010/main" val="27243011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FF271-2621-5207-3FA2-6DC810E1491D}"/>
              </a:ext>
            </a:extLst>
          </p:cNvPr>
          <p:cNvSpPr>
            <a:spLocks noGrp="1"/>
          </p:cNvSpPr>
          <p:nvPr>
            <p:ph type="title"/>
          </p:nvPr>
        </p:nvSpPr>
        <p:spPr/>
        <p:txBody>
          <a:bodyPr/>
          <a:lstStyle/>
          <a:p>
            <a:r>
              <a:rPr lang="en-PH" b="1" dirty="0"/>
              <a:t>User Acceptance Testing (UAT</a:t>
            </a:r>
            <a:br>
              <a:rPr lang="en-PH" b="1" dirty="0"/>
            </a:br>
            <a:endParaRPr lang="en-PH" dirty="0"/>
          </a:p>
        </p:txBody>
      </p:sp>
      <p:sp>
        <p:nvSpPr>
          <p:cNvPr id="3" name="Content Placeholder 2">
            <a:extLst>
              <a:ext uri="{FF2B5EF4-FFF2-40B4-BE49-F238E27FC236}">
                <a16:creationId xmlns:a16="http://schemas.microsoft.com/office/drawing/2014/main" id="{892F55E1-01DD-C7C5-5C0A-2B2D90F0B89B}"/>
              </a:ext>
            </a:extLst>
          </p:cNvPr>
          <p:cNvSpPr>
            <a:spLocks noGrp="1"/>
          </p:cNvSpPr>
          <p:nvPr>
            <p:ph idx="1"/>
          </p:nvPr>
        </p:nvSpPr>
        <p:spPr/>
        <p:txBody>
          <a:bodyPr>
            <a:normAutofit lnSpcReduction="10000"/>
          </a:bodyPr>
          <a:lstStyle/>
          <a:p>
            <a:r>
              <a:rPr lang="en-PH" b="1" dirty="0"/>
              <a:t>Respondents:</a:t>
            </a:r>
            <a:r>
              <a:rPr lang="en-PH" dirty="0"/>
              <a:t> Student users from Amigo School of </a:t>
            </a:r>
            <a:r>
              <a:rPr lang="en-PH" dirty="0" err="1"/>
              <a:t>Calinan</a:t>
            </a:r>
            <a:r>
              <a:rPr lang="en-PH" dirty="0"/>
              <a:t>.</a:t>
            </a:r>
          </a:p>
          <a:p>
            <a:r>
              <a:rPr lang="en-PH" b="1" dirty="0"/>
              <a:t>Evaluation Instrument:</a:t>
            </a:r>
            <a:r>
              <a:rPr lang="en-PH" dirty="0"/>
              <a:t> UAT was conducted using a structured test script where students performed specific tasks. Results were recorded in a UAT matrix.</a:t>
            </a:r>
          </a:p>
          <a:p>
            <a:r>
              <a:rPr lang="en-PH" b="1" dirty="0"/>
              <a:t>Procedure:</a:t>
            </a:r>
            <a:endParaRPr lang="en-PH" dirty="0"/>
          </a:p>
          <a:p>
            <a:pPr lvl="1"/>
            <a:r>
              <a:rPr lang="en-PH" dirty="0"/>
              <a:t>Students were briefed on the system's purpose and features.</a:t>
            </a:r>
          </a:p>
          <a:p>
            <a:pPr lvl="1"/>
            <a:r>
              <a:rPr lang="en-PH" dirty="0"/>
              <a:t>Each student was given a list of test cases to perform.</a:t>
            </a:r>
          </a:p>
          <a:p>
            <a:pPr lvl="1"/>
            <a:r>
              <a:rPr lang="en-PH" dirty="0"/>
              <a:t>The team observed and recorded the actual outcomes against the expected outcomes.</a:t>
            </a:r>
          </a:p>
          <a:p>
            <a:pPr lvl="1"/>
            <a:r>
              <a:rPr lang="en-PH" dirty="0"/>
              <a:t>Results were documented and validated with user signatures.</a:t>
            </a:r>
          </a:p>
          <a:p>
            <a:endParaRPr lang="en-PH" dirty="0"/>
          </a:p>
        </p:txBody>
      </p:sp>
    </p:spTree>
    <p:extLst>
      <p:ext uri="{BB962C8B-B14F-4D97-AF65-F5344CB8AC3E}">
        <p14:creationId xmlns:p14="http://schemas.microsoft.com/office/powerpoint/2010/main" val="35087612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1A6EF-5CA3-A707-FA65-9959BCE32CA3}"/>
              </a:ext>
            </a:extLst>
          </p:cNvPr>
          <p:cNvSpPr>
            <a:spLocks noGrp="1"/>
          </p:cNvSpPr>
          <p:nvPr>
            <p:ph type="title"/>
          </p:nvPr>
        </p:nvSpPr>
        <p:spPr/>
        <p:txBody>
          <a:bodyPr/>
          <a:lstStyle/>
          <a:p>
            <a:r>
              <a:rPr lang="en-PH" b="1" dirty="0"/>
              <a:t>UAT Results</a:t>
            </a:r>
            <a:br>
              <a:rPr lang="en-PH" b="1" dirty="0"/>
            </a:br>
            <a:endParaRPr lang="en-PH" dirty="0"/>
          </a:p>
        </p:txBody>
      </p:sp>
      <p:graphicFrame>
        <p:nvGraphicFramePr>
          <p:cNvPr id="4" name="Content Placeholder 3">
            <a:extLst>
              <a:ext uri="{FF2B5EF4-FFF2-40B4-BE49-F238E27FC236}">
                <a16:creationId xmlns:a16="http://schemas.microsoft.com/office/drawing/2014/main" id="{66FED4B1-A35E-CFFF-5A69-01103DBE4FBA}"/>
              </a:ext>
            </a:extLst>
          </p:cNvPr>
          <p:cNvGraphicFramePr>
            <a:graphicFrameLocks noGrp="1"/>
          </p:cNvGraphicFramePr>
          <p:nvPr>
            <p:ph idx="1"/>
            <p:extLst>
              <p:ext uri="{D42A27DB-BD31-4B8C-83A1-F6EECF244321}">
                <p14:modId xmlns:p14="http://schemas.microsoft.com/office/powerpoint/2010/main" val="3769358999"/>
              </p:ext>
            </p:extLst>
          </p:nvPr>
        </p:nvGraphicFramePr>
        <p:xfrm>
          <a:off x="376428" y="2322576"/>
          <a:ext cx="11439144" cy="4408080"/>
        </p:xfrm>
        <a:graphic>
          <a:graphicData uri="http://schemas.openxmlformats.org/drawingml/2006/table">
            <a:tbl>
              <a:tblPr firstRow="1" bandRow="1">
                <a:tableStyleId>{5C22544A-7EE6-4342-B048-85BDC9FD1C3A}</a:tableStyleId>
              </a:tblPr>
              <a:tblGrid>
                <a:gridCol w="1142011">
                  <a:extLst>
                    <a:ext uri="{9D8B030D-6E8A-4147-A177-3AD203B41FA5}">
                      <a16:colId xmlns:a16="http://schemas.microsoft.com/office/drawing/2014/main" val="1708567540"/>
                    </a:ext>
                  </a:extLst>
                </a:gridCol>
                <a:gridCol w="4562045">
                  <a:extLst>
                    <a:ext uri="{9D8B030D-6E8A-4147-A177-3AD203B41FA5}">
                      <a16:colId xmlns:a16="http://schemas.microsoft.com/office/drawing/2014/main" val="367185211"/>
                    </a:ext>
                  </a:extLst>
                </a:gridCol>
                <a:gridCol w="2867544">
                  <a:extLst>
                    <a:ext uri="{9D8B030D-6E8A-4147-A177-3AD203B41FA5}">
                      <a16:colId xmlns:a16="http://schemas.microsoft.com/office/drawing/2014/main" val="1667198455"/>
                    </a:ext>
                  </a:extLst>
                </a:gridCol>
                <a:gridCol w="2867544">
                  <a:extLst>
                    <a:ext uri="{9D8B030D-6E8A-4147-A177-3AD203B41FA5}">
                      <a16:colId xmlns:a16="http://schemas.microsoft.com/office/drawing/2014/main" val="1073111989"/>
                    </a:ext>
                  </a:extLst>
                </a:gridCol>
              </a:tblGrid>
              <a:tr h="220404">
                <a:tc>
                  <a:txBody>
                    <a:bodyPr/>
                    <a:lstStyle/>
                    <a:p>
                      <a:pPr algn="just">
                        <a:lnSpc>
                          <a:spcPct val="200000"/>
                        </a:lnSpc>
                        <a:spcAft>
                          <a:spcPts val="800"/>
                        </a:spcAft>
                        <a:buNone/>
                      </a:pPr>
                      <a:r>
                        <a:rPr lang="en-PH" sz="800" kern="100" dirty="0">
                          <a:effectLst/>
                        </a:rPr>
                        <a:t>Test Case #</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Tested By</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Tested Date</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Remarks</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extLst>
                  <a:ext uri="{0D108BD9-81ED-4DB2-BD59-A6C34878D82A}">
                    <a16:rowId xmlns:a16="http://schemas.microsoft.com/office/drawing/2014/main" val="1347362257"/>
                  </a:ext>
                </a:extLst>
              </a:tr>
              <a:tr h="220404">
                <a:tc>
                  <a:txBody>
                    <a:bodyPr/>
                    <a:lstStyle/>
                    <a:p>
                      <a:pPr algn="just">
                        <a:lnSpc>
                          <a:spcPct val="200000"/>
                        </a:lnSpc>
                        <a:spcAft>
                          <a:spcPts val="800"/>
                        </a:spcAft>
                        <a:buNone/>
                      </a:pPr>
                      <a:r>
                        <a:rPr lang="en-PH" sz="800" kern="100">
                          <a:effectLst/>
                        </a:rPr>
                        <a:t>1a</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John Mark Valencia</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June 3, 2026</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Passed</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extLst>
                  <a:ext uri="{0D108BD9-81ED-4DB2-BD59-A6C34878D82A}">
                    <a16:rowId xmlns:a16="http://schemas.microsoft.com/office/drawing/2014/main" val="3635080133"/>
                  </a:ext>
                </a:extLst>
              </a:tr>
              <a:tr h="220404">
                <a:tc>
                  <a:txBody>
                    <a:bodyPr/>
                    <a:lstStyle/>
                    <a:p>
                      <a:pPr algn="just">
                        <a:lnSpc>
                          <a:spcPct val="200000"/>
                        </a:lnSpc>
                        <a:spcAft>
                          <a:spcPts val="800"/>
                        </a:spcAft>
                        <a:buNone/>
                      </a:pPr>
                      <a:r>
                        <a:rPr lang="en-PH" sz="800" kern="100">
                          <a:effectLst/>
                        </a:rPr>
                        <a:t>1b</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Sophia Mendoza</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June 3, 2026</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Passed</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extLst>
                  <a:ext uri="{0D108BD9-81ED-4DB2-BD59-A6C34878D82A}">
                    <a16:rowId xmlns:a16="http://schemas.microsoft.com/office/drawing/2014/main" val="987490698"/>
                  </a:ext>
                </a:extLst>
              </a:tr>
              <a:tr h="220404">
                <a:tc>
                  <a:txBody>
                    <a:bodyPr/>
                    <a:lstStyle/>
                    <a:p>
                      <a:pPr algn="just">
                        <a:lnSpc>
                          <a:spcPct val="200000"/>
                        </a:lnSpc>
                        <a:spcAft>
                          <a:spcPts val="800"/>
                        </a:spcAft>
                        <a:buNone/>
                      </a:pPr>
                      <a:r>
                        <a:rPr lang="en-PH" sz="800" kern="100">
                          <a:effectLst/>
                        </a:rPr>
                        <a:t>1c</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Christian Jay Duterte</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June 3, 2026</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Passed</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extLst>
                  <a:ext uri="{0D108BD9-81ED-4DB2-BD59-A6C34878D82A}">
                    <a16:rowId xmlns:a16="http://schemas.microsoft.com/office/drawing/2014/main" val="3240883512"/>
                  </a:ext>
                </a:extLst>
              </a:tr>
              <a:tr h="220404">
                <a:tc>
                  <a:txBody>
                    <a:bodyPr/>
                    <a:lstStyle/>
                    <a:p>
                      <a:pPr algn="just">
                        <a:lnSpc>
                          <a:spcPct val="200000"/>
                        </a:lnSpc>
                        <a:spcAft>
                          <a:spcPts val="800"/>
                        </a:spcAft>
                        <a:buNone/>
                      </a:pPr>
                      <a:r>
                        <a:rPr lang="en-PH" sz="800" kern="100">
                          <a:effectLst/>
                        </a:rPr>
                        <a:t>1d</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John Mark Valencia</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June 3, 2026</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Passed</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extLst>
                  <a:ext uri="{0D108BD9-81ED-4DB2-BD59-A6C34878D82A}">
                    <a16:rowId xmlns:a16="http://schemas.microsoft.com/office/drawing/2014/main" val="3966285558"/>
                  </a:ext>
                </a:extLst>
              </a:tr>
              <a:tr h="220404">
                <a:tc>
                  <a:txBody>
                    <a:bodyPr/>
                    <a:lstStyle/>
                    <a:p>
                      <a:pPr algn="just">
                        <a:lnSpc>
                          <a:spcPct val="200000"/>
                        </a:lnSpc>
                        <a:spcAft>
                          <a:spcPts val="800"/>
                        </a:spcAft>
                        <a:buNone/>
                      </a:pPr>
                      <a:r>
                        <a:rPr lang="en-PH" sz="800" kern="100">
                          <a:effectLst/>
                        </a:rPr>
                        <a:t>2a</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Sophia Mendoza</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June 3, 2026</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Passed</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extLst>
                  <a:ext uri="{0D108BD9-81ED-4DB2-BD59-A6C34878D82A}">
                    <a16:rowId xmlns:a16="http://schemas.microsoft.com/office/drawing/2014/main" val="4162292409"/>
                  </a:ext>
                </a:extLst>
              </a:tr>
              <a:tr h="220404">
                <a:tc>
                  <a:txBody>
                    <a:bodyPr/>
                    <a:lstStyle/>
                    <a:p>
                      <a:pPr algn="just">
                        <a:lnSpc>
                          <a:spcPct val="200000"/>
                        </a:lnSpc>
                        <a:spcAft>
                          <a:spcPts val="800"/>
                        </a:spcAft>
                        <a:buNone/>
                      </a:pPr>
                      <a:r>
                        <a:rPr lang="en-PH" sz="800" kern="100">
                          <a:effectLst/>
                        </a:rPr>
                        <a:t>2b</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Christian Jay Duterte</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June 3, 2026</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Passed</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extLst>
                  <a:ext uri="{0D108BD9-81ED-4DB2-BD59-A6C34878D82A}">
                    <a16:rowId xmlns:a16="http://schemas.microsoft.com/office/drawing/2014/main" val="1152822170"/>
                  </a:ext>
                </a:extLst>
              </a:tr>
              <a:tr h="220404">
                <a:tc>
                  <a:txBody>
                    <a:bodyPr/>
                    <a:lstStyle/>
                    <a:p>
                      <a:pPr algn="just">
                        <a:lnSpc>
                          <a:spcPct val="200000"/>
                        </a:lnSpc>
                        <a:spcAft>
                          <a:spcPts val="800"/>
                        </a:spcAft>
                        <a:buNone/>
                      </a:pPr>
                      <a:r>
                        <a:rPr lang="en-PH" sz="800" kern="100">
                          <a:effectLst/>
                        </a:rPr>
                        <a:t>2c</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John Mark Valencia</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June 3, 2026</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Passed</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extLst>
                  <a:ext uri="{0D108BD9-81ED-4DB2-BD59-A6C34878D82A}">
                    <a16:rowId xmlns:a16="http://schemas.microsoft.com/office/drawing/2014/main" val="1650467289"/>
                  </a:ext>
                </a:extLst>
              </a:tr>
              <a:tr h="220404">
                <a:tc>
                  <a:txBody>
                    <a:bodyPr/>
                    <a:lstStyle/>
                    <a:p>
                      <a:pPr algn="just">
                        <a:lnSpc>
                          <a:spcPct val="200000"/>
                        </a:lnSpc>
                        <a:spcAft>
                          <a:spcPts val="800"/>
                        </a:spcAft>
                        <a:buNone/>
                      </a:pPr>
                      <a:r>
                        <a:rPr lang="en-PH" sz="800" kern="100">
                          <a:effectLst/>
                        </a:rPr>
                        <a:t>2d</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Sophia Mendoza</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June 3, 2026</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Passed</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extLst>
                  <a:ext uri="{0D108BD9-81ED-4DB2-BD59-A6C34878D82A}">
                    <a16:rowId xmlns:a16="http://schemas.microsoft.com/office/drawing/2014/main" val="814457823"/>
                  </a:ext>
                </a:extLst>
              </a:tr>
              <a:tr h="220404">
                <a:tc>
                  <a:txBody>
                    <a:bodyPr/>
                    <a:lstStyle/>
                    <a:p>
                      <a:pPr algn="just">
                        <a:lnSpc>
                          <a:spcPct val="200000"/>
                        </a:lnSpc>
                        <a:spcAft>
                          <a:spcPts val="800"/>
                        </a:spcAft>
                        <a:buNone/>
                      </a:pPr>
                      <a:r>
                        <a:rPr lang="en-PH" sz="800" kern="100">
                          <a:effectLst/>
                        </a:rPr>
                        <a:t>3a</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Christian Jay Duterte</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June 4, 2026</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Passed</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extLst>
                  <a:ext uri="{0D108BD9-81ED-4DB2-BD59-A6C34878D82A}">
                    <a16:rowId xmlns:a16="http://schemas.microsoft.com/office/drawing/2014/main" val="3938007933"/>
                  </a:ext>
                </a:extLst>
              </a:tr>
              <a:tr h="220404">
                <a:tc>
                  <a:txBody>
                    <a:bodyPr/>
                    <a:lstStyle/>
                    <a:p>
                      <a:pPr algn="just">
                        <a:lnSpc>
                          <a:spcPct val="200000"/>
                        </a:lnSpc>
                        <a:spcAft>
                          <a:spcPts val="800"/>
                        </a:spcAft>
                        <a:buNone/>
                      </a:pPr>
                      <a:r>
                        <a:rPr lang="en-PH" sz="800" kern="100" dirty="0">
                          <a:effectLst/>
                        </a:rPr>
                        <a:t>3b</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John Mark Valencia</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June 4, 2026</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tc>
                  <a:txBody>
                    <a:bodyPr/>
                    <a:lstStyle/>
                    <a:p>
                      <a:pPr algn="just">
                        <a:lnSpc>
                          <a:spcPct val="200000"/>
                        </a:lnSpc>
                        <a:spcAft>
                          <a:spcPts val="800"/>
                        </a:spcAft>
                        <a:buNone/>
                      </a:pPr>
                      <a:r>
                        <a:rPr lang="en-PH" sz="800" kern="100" dirty="0">
                          <a:effectLst/>
                        </a:rPr>
                        <a:t>Passed</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535" marR="7535" marT="0" marB="0" anchor="b"/>
                </a:tc>
                <a:extLst>
                  <a:ext uri="{0D108BD9-81ED-4DB2-BD59-A6C34878D82A}">
                    <a16:rowId xmlns:a16="http://schemas.microsoft.com/office/drawing/2014/main" val="266538198"/>
                  </a:ext>
                </a:extLst>
              </a:tr>
              <a:tr h="220404">
                <a:tc>
                  <a:txBody>
                    <a:bodyPr/>
                    <a:lstStyle/>
                    <a:p>
                      <a:pPr algn="just">
                        <a:lnSpc>
                          <a:spcPct val="200000"/>
                        </a:lnSpc>
                        <a:spcAft>
                          <a:spcPts val="800"/>
                        </a:spcAft>
                        <a:buNone/>
                      </a:pPr>
                      <a:r>
                        <a:rPr lang="en-PH" sz="800" kern="100">
                          <a:effectLst/>
                        </a:rPr>
                        <a:t>4a</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dirty="0">
                          <a:effectLst/>
                        </a:rPr>
                        <a:t>Sophia Mendoza</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dirty="0">
                          <a:effectLst/>
                        </a:rPr>
                        <a:t>June 4, 2026</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dirty="0">
                          <a:effectLst/>
                        </a:rPr>
                        <a:t>Passed</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extLst>
                  <a:ext uri="{0D108BD9-81ED-4DB2-BD59-A6C34878D82A}">
                    <a16:rowId xmlns:a16="http://schemas.microsoft.com/office/drawing/2014/main" val="4277555095"/>
                  </a:ext>
                </a:extLst>
              </a:tr>
              <a:tr h="220404">
                <a:tc>
                  <a:txBody>
                    <a:bodyPr/>
                    <a:lstStyle/>
                    <a:p>
                      <a:pPr algn="just">
                        <a:lnSpc>
                          <a:spcPct val="200000"/>
                        </a:lnSpc>
                        <a:spcAft>
                          <a:spcPts val="800"/>
                        </a:spcAft>
                        <a:buNone/>
                      </a:pPr>
                      <a:r>
                        <a:rPr lang="en-PH" sz="800" kern="100">
                          <a:effectLst/>
                        </a:rPr>
                        <a:t>4b</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dirty="0">
                          <a:effectLst/>
                        </a:rPr>
                        <a:t>Christian Jay Duterte</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dirty="0">
                          <a:effectLst/>
                        </a:rPr>
                        <a:t>June 4, 2026</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dirty="0">
                          <a:effectLst/>
                        </a:rPr>
                        <a:t>Passed</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extLst>
                  <a:ext uri="{0D108BD9-81ED-4DB2-BD59-A6C34878D82A}">
                    <a16:rowId xmlns:a16="http://schemas.microsoft.com/office/drawing/2014/main" val="1020663529"/>
                  </a:ext>
                </a:extLst>
              </a:tr>
              <a:tr h="220404">
                <a:tc>
                  <a:txBody>
                    <a:bodyPr/>
                    <a:lstStyle/>
                    <a:p>
                      <a:pPr algn="just">
                        <a:lnSpc>
                          <a:spcPct val="200000"/>
                        </a:lnSpc>
                        <a:spcAft>
                          <a:spcPts val="800"/>
                        </a:spcAft>
                        <a:buNone/>
                      </a:pPr>
                      <a:r>
                        <a:rPr lang="en-PH" sz="800" kern="100">
                          <a:effectLst/>
                        </a:rPr>
                        <a:t>5a</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dirty="0">
                          <a:effectLst/>
                        </a:rPr>
                        <a:t>John Mark Valencia</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dirty="0">
                          <a:effectLst/>
                        </a:rPr>
                        <a:t>June 4, 2026</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a:effectLst/>
                        </a:rPr>
                        <a:t>Passed</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extLst>
                  <a:ext uri="{0D108BD9-81ED-4DB2-BD59-A6C34878D82A}">
                    <a16:rowId xmlns:a16="http://schemas.microsoft.com/office/drawing/2014/main" val="2518871327"/>
                  </a:ext>
                </a:extLst>
              </a:tr>
              <a:tr h="220404">
                <a:tc>
                  <a:txBody>
                    <a:bodyPr/>
                    <a:lstStyle/>
                    <a:p>
                      <a:pPr algn="just">
                        <a:lnSpc>
                          <a:spcPct val="200000"/>
                        </a:lnSpc>
                        <a:spcAft>
                          <a:spcPts val="800"/>
                        </a:spcAft>
                        <a:buNone/>
                      </a:pPr>
                      <a:r>
                        <a:rPr lang="en-PH" sz="800" kern="100">
                          <a:effectLst/>
                        </a:rPr>
                        <a:t>5b</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dirty="0">
                          <a:effectLst/>
                        </a:rPr>
                        <a:t>Sophia Mendoza</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a:effectLst/>
                        </a:rPr>
                        <a:t>June 4, 2026</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dirty="0">
                          <a:effectLst/>
                        </a:rPr>
                        <a:t>Passed</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extLst>
                  <a:ext uri="{0D108BD9-81ED-4DB2-BD59-A6C34878D82A}">
                    <a16:rowId xmlns:a16="http://schemas.microsoft.com/office/drawing/2014/main" val="3713199870"/>
                  </a:ext>
                </a:extLst>
              </a:tr>
              <a:tr h="220404">
                <a:tc>
                  <a:txBody>
                    <a:bodyPr/>
                    <a:lstStyle/>
                    <a:p>
                      <a:pPr algn="just">
                        <a:lnSpc>
                          <a:spcPct val="200000"/>
                        </a:lnSpc>
                        <a:spcAft>
                          <a:spcPts val="800"/>
                        </a:spcAft>
                        <a:buNone/>
                      </a:pPr>
                      <a:r>
                        <a:rPr lang="en-PH" sz="800" kern="100">
                          <a:effectLst/>
                        </a:rPr>
                        <a:t>6a</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dirty="0">
                          <a:effectLst/>
                        </a:rPr>
                        <a:t>Christian Jay Duterte</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a:effectLst/>
                        </a:rPr>
                        <a:t>June 5, 2026</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a:effectLst/>
                        </a:rPr>
                        <a:t>Passed</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extLst>
                  <a:ext uri="{0D108BD9-81ED-4DB2-BD59-A6C34878D82A}">
                    <a16:rowId xmlns:a16="http://schemas.microsoft.com/office/drawing/2014/main" val="2032286490"/>
                  </a:ext>
                </a:extLst>
              </a:tr>
              <a:tr h="220404">
                <a:tc>
                  <a:txBody>
                    <a:bodyPr/>
                    <a:lstStyle/>
                    <a:p>
                      <a:pPr algn="just">
                        <a:lnSpc>
                          <a:spcPct val="200000"/>
                        </a:lnSpc>
                        <a:spcAft>
                          <a:spcPts val="800"/>
                        </a:spcAft>
                        <a:buNone/>
                      </a:pPr>
                      <a:r>
                        <a:rPr lang="en-PH" sz="800" kern="100">
                          <a:effectLst/>
                        </a:rPr>
                        <a:t>6b</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dirty="0">
                          <a:effectLst/>
                        </a:rPr>
                        <a:t>John Mark Valencia</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dirty="0">
                          <a:effectLst/>
                        </a:rPr>
                        <a:t>June 5, 2026</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a:effectLst/>
                        </a:rPr>
                        <a:t>Passed</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extLst>
                  <a:ext uri="{0D108BD9-81ED-4DB2-BD59-A6C34878D82A}">
                    <a16:rowId xmlns:a16="http://schemas.microsoft.com/office/drawing/2014/main" val="2628731165"/>
                  </a:ext>
                </a:extLst>
              </a:tr>
              <a:tr h="220404">
                <a:tc>
                  <a:txBody>
                    <a:bodyPr/>
                    <a:lstStyle/>
                    <a:p>
                      <a:pPr algn="just">
                        <a:lnSpc>
                          <a:spcPct val="200000"/>
                        </a:lnSpc>
                        <a:spcAft>
                          <a:spcPts val="800"/>
                        </a:spcAft>
                        <a:buNone/>
                      </a:pPr>
                      <a:r>
                        <a:rPr lang="en-PH" sz="800" kern="100">
                          <a:effectLst/>
                        </a:rPr>
                        <a:t>6c</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dirty="0">
                          <a:effectLst/>
                        </a:rPr>
                        <a:t>Sophia Mendoza</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dirty="0">
                          <a:effectLst/>
                        </a:rPr>
                        <a:t>June 5, 2026</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dirty="0">
                          <a:effectLst/>
                        </a:rPr>
                        <a:t>Passed</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extLst>
                  <a:ext uri="{0D108BD9-81ED-4DB2-BD59-A6C34878D82A}">
                    <a16:rowId xmlns:a16="http://schemas.microsoft.com/office/drawing/2014/main" val="3788927057"/>
                  </a:ext>
                </a:extLst>
              </a:tr>
              <a:tr h="220404">
                <a:tc>
                  <a:txBody>
                    <a:bodyPr/>
                    <a:lstStyle/>
                    <a:p>
                      <a:pPr algn="just">
                        <a:lnSpc>
                          <a:spcPct val="200000"/>
                        </a:lnSpc>
                        <a:spcAft>
                          <a:spcPts val="800"/>
                        </a:spcAft>
                        <a:buNone/>
                      </a:pPr>
                      <a:r>
                        <a:rPr lang="en-PH" sz="800" kern="100">
                          <a:effectLst/>
                        </a:rPr>
                        <a:t>7a</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dirty="0">
                          <a:effectLst/>
                        </a:rPr>
                        <a:t>Christian Jay Duterte</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a:effectLst/>
                        </a:rPr>
                        <a:t>June 5, 2026</a:t>
                      </a:r>
                      <a:endParaRPr lang="en-PH" sz="800" kern="10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dirty="0">
                          <a:effectLst/>
                        </a:rPr>
                        <a:t>Passed</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extLst>
                  <a:ext uri="{0D108BD9-81ED-4DB2-BD59-A6C34878D82A}">
                    <a16:rowId xmlns:a16="http://schemas.microsoft.com/office/drawing/2014/main" val="485945709"/>
                  </a:ext>
                </a:extLst>
              </a:tr>
              <a:tr h="220404">
                <a:tc>
                  <a:txBody>
                    <a:bodyPr/>
                    <a:lstStyle/>
                    <a:p>
                      <a:pPr algn="just">
                        <a:lnSpc>
                          <a:spcPct val="200000"/>
                        </a:lnSpc>
                        <a:spcAft>
                          <a:spcPts val="800"/>
                        </a:spcAft>
                        <a:buNone/>
                      </a:pPr>
                      <a:r>
                        <a:rPr lang="en-PH" sz="800" kern="100" dirty="0">
                          <a:effectLst/>
                        </a:rPr>
                        <a:t>7b</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dirty="0">
                          <a:effectLst/>
                        </a:rPr>
                        <a:t>John Mark Valencia</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dirty="0">
                          <a:effectLst/>
                        </a:rPr>
                        <a:t>June 5, 2026</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tc>
                  <a:txBody>
                    <a:bodyPr/>
                    <a:lstStyle/>
                    <a:p>
                      <a:pPr algn="just">
                        <a:lnSpc>
                          <a:spcPct val="200000"/>
                        </a:lnSpc>
                        <a:spcAft>
                          <a:spcPts val="800"/>
                        </a:spcAft>
                        <a:buNone/>
                      </a:pPr>
                      <a:r>
                        <a:rPr lang="en-PH" sz="800" kern="100" dirty="0">
                          <a:effectLst/>
                        </a:rPr>
                        <a:t>Passed</a:t>
                      </a:r>
                      <a:endParaRPr lang="en-PH" sz="8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16606" marR="16606" marT="0" marB="0" anchor="b"/>
                </a:tc>
                <a:extLst>
                  <a:ext uri="{0D108BD9-81ED-4DB2-BD59-A6C34878D82A}">
                    <a16:rowId xmlns:a16="http://schemas.microsoft.com/office/drawing/2014/main" val="3944913779"/>
                  </a:ext>
                </a:extLst>
              </a:tr>
            </a:tbl>
          </a:graphicData>
        </a:graphic>
      </p:graphicFrame>
    </p:spTree>
    <p:extLst>
      <p:ext uri="{BB962C8B-B14F-4D97-AF65-F5344CB8AC3E}">
        <p14:creationId xmlns:p14="http://schemas.microsoft.com/office/powerpoint/2010/main" val="37921197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4EC21-EEE0-26A4-52EF-AF48F2F01050}"/>
              </a:ext>
            </a:extLst>
          </p:cNvPr>
          <p:cNvSpPr>
            <a:spLocks noGrp="1"/>
          </p:cNvSpPr>
          <p:nvPr>
            <p:ph type="title"/>
          </p:nvPr>
        </p:nvSpPr>
        <p:spPr/>
        <p:txBody>
          <a:bodyPr/>
          <a:lstStyle/>
          <a:p>
            <a:r>
              <a:rPr lang="en-PH" b="1" dirty="0"/>
              <a:t>Findings</a:t>
            </a:r>
            <a:br>
              <a:rPr lang="en-PH" b="1" dirty="0"/>
            </a:br>
            <a:endParaRPr lang="en-PH" dirty="0"/>
          </a:p>
        </p:txBody>
      </p:sp>
      <p:sp>
        <p:nvSpPr>
          <p:cNvPr id="3" name="Content Placeholder 2">
            <a:extLst>
              <a:ext uri="{FF2B5EF4-FFF2-40B4-BE49-F238E27FC236}">
                <a16:creationId xmlns:a16="http://schemas.microsoft.com/office/drawing/2014/main" id="{6AA808E9-F31A-7F25-743B-4572340D4BF0}"/>
              </a:ext>
            </a:extLst>
          </p:cNvPr>
          <p:cNvSpPr>
            <a:spLocks noGrp="1"/>
          </p:cNvSpPr>
          <p:nvPr>
            <p:ph idx="1"/>
          </p:nvPr>
        </p:nvSpPr>
        <p:spPr/>
        <p:txBody>
          <a:bodyPr>
            <a:normAutofit fontScale="85000" lnSpcReduction="10000"/>
          </a:bodyPr>
          <a:lstStyle/>
          <a:p>
            <a:pPr marL="0" indent="0">
              <a:buNone/>
            </a:pPr>
            <a:r>
              <a:rPr lang="en-PH" b="1" dirty="0"/>
              <a:t>Major Findings and Achievements:</a:t>
            </a:r>
            <a:endParaRPr lang="en-PH" dirty="0"/>
          </a:p>
          <a:p>
            <a:r>
              <a:rPr lang="en-PH" b="1" dirty="0"/>
              <a:t>Successful Integration of AI:</a:t>
            </a:r>
            <a:r>
              <a:rPr lang="en-PH" dirty="0"/>
              <a:t> The Google Gemini API was effectively integrated to provide accurate, real-time academic explanations and career suggestions in three languages.</a:t>
            </a:r>
          </a:p>
          <a:p>
            <a:r>
              <a:rPr lang="en-PH" b="1" dirty="0"/>
              <a:t>Improved Accessibility:</a:t>
            </a:r>
            <a:r>
              <a:rPr lang="en-PH" dirty="0"/>
              <a:t> The mobile-responsive web design and multilingual support address the key needs of students in </a:t>
            </a:r>
            <a:r>
              <a:rPr lang="en-PH" dirty="0" err="1"/>
              <a:t>Calinan</a:t>
            </a:r>
            <a:r>
              <a:rPr lang="en-PH" dirty="0"/>
              <a:t>, Davao City.</a:t>
            </a:r>
          </a:p>
          <a:p>
            <a:r>
              <a:rPr lang="en-PH" b="1" dirty="0"/>
              <a:t>User-Friendly Interface:</a:t>
            </a:r>
            <a:r>
              <a:rPr lang="en-PH" dirty="0"/>
              <a:t> Students were able to navigate the system and complete all testing tasks without difficulty, indicating an intuitive UI.</a:t>
            </a:r>
          </a:p>
          <a:p>
            <a:r>
              <a:rPr lang="en-PH" b="1" dirty="0"/>
              <a:t>Automation of Support:</a:t>
            </a:r>
            <a:r>
              <a:rPr lang="en-PH" dirty="0"/>
              <a:t> The system successfully automates the initial stages of academic support and career guidance, potentially reducing the workload on teachers and counselors by handling routine queries.</a:t>
            </a:r>
          </a:p>
          <a:p>
            <a:r>
              <a:rPr lang="en-PH" b="1" dirty="0"/>
              <a:t>Data-Driven Insights:</a:t>
            </a:r>
            <a:r>
              <a:rPr lang="en-PH" dirty="0"/>
              <a:t> The query history feature allows for the logging of student questions, which can help identify common areas of difficulty, even without a teacher dashboard.</a:t>
            </a:r>
          </a:p>
          <a:p>
            <a:endParaRPr lang="en-PH" dirty="0"/>
          </a:p>
        </p:txBody>
      </p:sp>
    </p:spTree>
    <p:extLst>
      <p:ext uri="{BB962C8B-B14F-4D97-AF65-F5344CB8AC3E}">
        <p14:creationId xmlns:p14="http://schemas.microsoft.com/office/powerpoint/2010/main" val="22264063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7BED2-BB56-0D7B-2562-9325D376AFA7}"/>
              </a:ext>
            </a:extLst>
          </p:cNvPr>
          <p:cNvSpPr>
            <a:spLocks noGrp="1"/>
          </p:cNvSpPr>
          <p:nvPr>
            <p:ph type="title"/>
          </p:nvPr>
        </p:nvSpPr>
        <p:spPr/>
        <p:txBody>
          <a:bodyPr/>
          <a:lstStyle/>
          <a:p>
            <a:r>
              <a:rPr lang="en-PH" b="1" dirty="0"/>
              <a:t>Conclusions</a:t>
            </a:r>
            <a:br>
              <a:rPr lang="en-PH" b="1" dirty="0"/>
            </a:br>
            <a:endParaRPr lang="en-PH" dirty="0"/>
          </a:p>
        </p:txBody>
      </p:sp>
      <p:sp>
        <p:nvSpPr>
          <p:cNvPr id="3" name="Content Placeholder 2">
            <a:extLst>
              <a:ext uri="{FF2B5EF4-FFF2-40B4-BE49-F238E27FC236}">
                <a16:creationId xmlns:a16="http://schemas.microsoft.com/office/drawing/2014/main" id="{447984CE-57F8-FCB7-9C9F-E5CCD3B208D8}"/>
              </a:ext>
            </a:extLst>
          </p:cNvPr>
          <p:cNvSpPr>
            <a:spLocks noGrp="1"/>
          </p:cNvSpPr>
          <p:nvPr>
            <p:ph idx="1"/>
          </p:nvPr>
        </p:nvSpPr>
        <p:spPr/>
        <p:txBody>
          <a:bodyPr>
            <a:normAutofit fontScale="85000" lnSpcReduction="20000"/>
          </a:bodyPr>
          <a:lstStyle/>
          <a:p>
            <a:pPr marL="0" indent="0">
              <a:buNone/>
            </a:pPr>
            <a:r>
              <a:rPr lang="en-PH" b="1" dirty="0"/>
              <a:t>1. Addressing the General Objective:</a:t>
            </a:r>
            <a:r>
              <a:rPr lang="en-PH" dirty="0"/>
              <a:t> The development of EduGuide PH successfully provides an AI-powered study and career advice system that improves academic support and career advising for students at Amigo School of </a:t>
            </a:r>
            <a:r>
              <a:rPr lang="en-PH" dirty="0" err="1"/>
              <a:t>Calinan</a:t>
            </a:r>
            <a:r>
              <a:rPr lang="en-PH" dirty="0"/>
              <a:t>.</a:t>
            </a:r>
          </a:p>
          <a:p>
            <a:pPr marL="0" indent="0">
              <a:buNone/>
            </a:pPr>
            <a:r>
              <a:rPr lang="en-PH" b="1" dirty="0"/>
              <a:t>2. Specific Objectives Achieved:</a:t>
            </a:r>
            <a:endParaRPr lang="en-PH" dirty="0"/>
          </a:p>
          <a:p>
            <a:pPr lvl="1"/>
            <a:r>
              <a:rPr lang="en-PH" b="1" dirty="0"/>
              <a:t>24/7 Academic Support:</a:t>
            </a:r>
            <a:r>
              <a:rPr lang="en-PH" dirty="0"/>
              <a:t> Achieved with the AI chatbot, which is available anytime.</a:t>
            </a:r>
          </a:p>
          <a:p>
            <a:pPr lvl="1"/>
            <a:r>
              <a:rPr lang="en-PH" b="1" dirty="0"/>
              <a:t>Self-Paced Learning:</a:t>
            </a:r>
            <a:r>
              <a:rPr lang="en-PH" dirty="0"/>
              <a:t> Achieved through the quiz generation and query history features.</a:t>
            </a:r>
          </a:p>
          <a:p>
            <a:pPr lvl="1"/>
            <a:r>
              <a:rPr lang="en-PH" b="1" dirty="0"/>
              <a:t>Career Guidance:</a:t>
            </a:r>
            <a:r>
              <a:rPr lang="en-PH" dirty="0"/>
              <a:t> Achieved with the dedicated career suggestion engine.</a:t>
            </a:r>
          </a:p>
          <a:p>
            <a:pPr lvl="1"/>
            <a:r>
              <a:rPr lang="en-PH" b="1" dirty="0"/>
              <a:t>Inclusive Education:</a:t>
            </a:r>
            <a:r>
              <a:rPr lang="en-PH" dirty="0"/>
              <a:t> Achieved with multilingual support (English, Tagalog, Cebuano).</a:t>
            </a:r>
          </a:p>
          <a:p>
            <a:pPr lvl="1"/>
            <a:r>
              <a:rPr lang="en-PH" b="1" dirty="0"/>
              <a:t>Mobile Accessibility:</a:t>
            </a:r>
            <a:r>
              <a:rPr lang="en-PH" dirty="0"/>
              <a:t> Achieved through a responsive web design.</a:t>
            </a:r>
          </a:p>
          <a:p>
            <a:pPr lvl="1"/>
            <a:r>
              <a:rPr lang="en-PH" b="1" dirty="0"/>
              <a:t>Secure System:</a:t>
            </a:r>
            <a:r>
              <a:rPr lang="en-PH" dirty="0"/>
              <a:t> Achieved with </a:t>
            </a:r>
            <a:r>
              <a:rPr lang="en-PH" dirty="0" err="1"/>
              <a:t>Supabase</a:t>
            </a:r>
            <a:r>
              <a:rPr lang="en-PH" dirty="0"/>
              <a:t> Authentication and session management.</a:t>
            </a:r>
          </a:p>
          <a:p>
            <a:br>
              <a:rPr lang="en-PH" dirty="0"/>
            </a:br>
            <a:endParaRPr lang="en-PH" dirty="0"/>
          </a:p>
        </p:txBody>
      </p:sp>
    </p:spTree>
    <p:extLst>
      <p:ext uri="{BB962C8B-B14F-4D97-AF65-F5344CB8AC3E}">
        <p14:creationId xmlns:p14="http://schemas.microsoft.com/office/powerpoint/2010/main" val="23827670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EC2F7-11A5-0ADD-242F-B8CFE2DA07CD}"/>
              </a:ext>
            </a:extLst>
          </p:cNvPr>
          <p:cNvSpPr>
            <a:spLocks noGrp="1"/>
          </p:cNvSpPr>
          <p:nvPr>
            <p:ph type="title"/>
          </p:nvPr>
        </p:nvSpPr>
        <p:spPr/>
        <p:txBody>
          <a:bodyPr/>
          <a:lstStyle/>
          <a:p>
            <a:r>
              <a:rPr lang="en-PH" b="1" dirty="0"/>
              <a:t>Recommendations</a:t>
            </a:r>
            <a:br>
              <a:rPr lang="en-PH" b="1" dirty="0"/>
            </a:br>
            <a:endParaRPr lang="en-PH" dirty="0"/>
          </a:p>
        </p:txBody>
      </p:sp>
      <p:sp>
        <p:nvSpPr>
          <p:cNvPr id="3" name="Content Placeholder 2">
            <a:extLst>
              <a:ext uri="{FF2B5EF4-FFF2-40B4-BE49-F238E27FC236}">
                <a16:creationId xmlns:a16="http://schemas.microsoft.com/office/drawing/2014/main" id="{B3801724-8087-A6F9-DB71-1348219F89C5}"/>
              </a:ext>
            </a:extLst>
          </p:cNvPr>
          <p:cNvSpPr>
            <a:spLocks noGrp="1"/>
          </p:cNvSpPr>
          <p:nvPr>
            <p:ph idx="1"/>
          </p:nvPr>
        </p:nvSpPr>
        <p:spPr/>
        <p:txBody>
          <a:bodyPr>
            <a:normAutofit fontScale="85000" lnSpcReduction="20000"/>
          </a:bodyPr>
          <a:lstStyle/>
          <a:p>
            <a:pPr marL="0" indent="0">
              <a:buNone/>
            </a:pPr>
            <a:r>
              <a:rPr lang="en-PH" b="1" dirty="0"/>
              <a:t>Future Enhancements:</a:t>
            </a:r>
            <a:endParaRPr lang="en-PH" dirty="0"/>
          </a:p>
          <a:p>
            <a:r>
              <a:rPr lang="en-PH" b="1" dirty="0"/>
              <a:t>Offline Mode Implementation:</a:t>
            </a:r>
            <a:r>
              <a:rPr lang="en-PH" dirty="0"/>
              <a:t> Develop a basic offline mode or caching mechanism to allow students in areas with unstable connectivity to access previously viewed materials.</a:t>
            </a:r>
          </a:p>
          <a:p>
            <a:r>
              <a:rPr lang="en-PH" b="1" dirty="0"/>
              <a:t>Integration with DepEd Resources:</a:t>
            </a:r>
            <a:r>
              <a:rPr lang="en-PH" dirty="0"/>
              <a:t> Integrate with the Department of Education's official systems (e.g., DepEd Commons) for better curriculum alignment.</a:t>
            </a:r>
          </a:p>
          <a:p>
            <a:r>
              <a:rPr lang="en-PH" b="1" dirty="0"/>
              <a:t>Expansion of Career Guidance:</a:t>
            </a:r>
            <a:r>
              <a:rPr lang="en-PH" dirty="0"/>
              <a:t> Enhance with real-time data on in-demand professions, local college courses, and scholarship opportunities.</a:t>
            </a:r>
          </a:p>
          <a:p>
            <a:r>
              <a:rPr lang="en-PH" b="1" dirty="0"/>
              <a:t>Adaptive Quizzes:</a:t>
            </a:r>
            <a:r>
              <a:rPr lang="en-PH" dirty="0"/>
              <a:t> Implement AI-generated quizzes that adapt to a student's performance for a more personalized learning experience.</a:t>
            </a:r>
          </a:p>
          <a:p>
            <a:r>
              <a:rPr lang="en-PH" b="1" dirty="0"/>
              <a:t>Dedicated Mobile Application:</a:t>
            </a:r>
            <a:r>
              <a:rPr lang="en-PH" dirty="0"/>
              <a:t> Develop native iOS and Android applications to provide a more optimized mobile user experience.</a:t>
            </a:r>
          </a:p>
          <a:p>
            <a:pPr marL="0" indent="0">
              <a:buNone/>
            </a:pPr>
            <a:br>
              <a:rPr lang="en-PH" dirty="0"/>
            </a:br>
            <a:endParaRPr lang="en-PH" dirty="0"/>
          </a:p>
        </p:txBody>
      </p:sp>
    </p:spTree>
    <p:extLst>
      <p:ext uri="{BB962C8B-B14F-4D97-AF65-F5344CB8AC3E}">
        <p14:creationId xmlns:p14="http://schemas.microsoft.com/office/powerpoint/2010/main" val="1436693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0ACB9-A0E9-8E1E-5FE8-B667BEB474C6}"/>
              </a:ext>
            </a:extLst>
          </p:cNvPr>
          <p:cNvSpPr>
            <a:spLocks noGrp="1"/>
          </p:cNvSpPr>
          <p:nvPr>
            <p:ph type="title"/>
          </p:nvPr>
        </p:nvSpPr>
        <p:spPr/>
        <p:txBody>
          <a:bodyPr/>
          <a:lstStyle/>
          <a:p>
            <a:r>
              <a:rPr lang="en-PH" b="1" dirty="0"/>
              <a:t>Project Contributions</a:t>
            </a:r>
            <a:br>
              <a:rPr lang="en-PH" b="1" dirty="0"/>
            </a:br>
            <a:endParaRPr lang="en-PH" dirty="0"/>
          </a:p>
        </p:txBody>
      </p:sp>
      <p:sp>
        <p:nvSpPr>
          <p:cNvPr id="3" name="Content Placeholder 2">
            <a:extLst>
              <a:ext uri="{FF2B5EF4-FFF2-40B4-BE49-F238E27FC236}">
                <a16:creationId xmlns:a16="http://schemas.microsoft.com/office/drawing/2014/main" id="{183183E8-291E-BE51-BA3B-6DB3545648FC}"/>
              </a:ext>
            </a:extLst>
          </p:cNvPr>
          <p:cNvSpPr>
            <a:spLocks noGrp="1"/>
          </p:cNvSpPr>
          <p:nvPr>
            <p:ph idx="1"/>
          </p:nvPr>
        </p:nvSpPr>
        <p:spPr>
          <a:xfrm>
            <a:off x="1219200" y="2368296"/>
            <a:ext cx="8761413" cy="3651504"/>
          </a:xfrm>
        </p:spPr>
        <p:txBody>
          <a:bodyPr>
            <a:normAutofit fontScale="85000" lnSpcReduction="20000"/>
          </a:bodyPr>
          <a:lstStyle/>
          <a:p>
            <a:pPr marL="0" indent="0">
              <a:buNone/>
            </a:pPr>
            <a:r>
              <a:rPr lang="en-PH" b="1" dirty="0"/>
              <a:t>Benefits to the Client, Users, and Organization:</a:t>
            </a:r>
            <a:endParaRPr lang="en-PH" dirty="0"/>
          </a:p>
          <a:p>
            <a:pPr marL="0" indent="0">
              <a:buNone/>
            </a:pPr>
            <a:r>
              <a:rPr lang="en-PH" b="1" dirty="0"/>
              <a:t>Amigo School of </a:t>
            </a:r>
            <a:r>
              <a:rPr lang="en-PH" b="1" dirty="0" err="1"/>
              <a:t>Calinan</a:t>
            </a:r>
            <a:r>
              <a:rPr lang="en-PH" b="1" dirty="0"/>
              <a:t>:</a:t>
            </a:r>
            <a:endParaRPr lang="en-PH" dirty="0"/>
          </a:p>
          <a:p>
            <a:pPr lvl="1"/>
            <a:r>
              <a:rPr lang="en-PH" dirty="0"/>
              <a:t>Modernizes the school's academic support and career guidance services.</a:t>
            </a:r>
          </a:p>
          <a:p>
            <a:pPr lvl="1"/>
            <a:r>
              <a:rPr lang="en-PH" dirty="0"/>
              <a:t>Positions the school as a tech-forward institution using AI.</a:t>
            </a:r>
          </a:p>
          <a:p>
            <a:pPr marL="0" indent="0">
              <a:buNone/>
            </a:pPr>
            <a:r>
              <a:rPr lang="en-PH" b="1" dirty="0"/>
              <a:t>Students:</a:t>
            </a:r>
            <a:endParaRPr lang="en-PH" dirty="0"/>
          </a:p>
          <a:p>
            <a:pPr lvl="1"/>
            <a:r>
              <a:rPr lang="en-PH" dirty="0"/>
              <a:t>Gains free, 24/7 access to personalized academic help and career advice.</a:t>
            </a:r>
          </a:p>
          <a:p>
            <a:pPr lvl="1"/>
            <a:r>
              <a:rPr lang="en-PH" dirty="0"/>
              <a:t>Can learn in their preferred language, improving comprehension.</a:t>
            </a:r>
          </a:p>
          <a:p>
            <a:pPr lvl="1"/>
            <a:r>
              <a:rPr lang="en-PH" dirty="0"/>
              <a:t>Reduces dependency on expensive private tutors.</a:t>
            </a:r>
          </a:p>
          <a:p>
            <a:pPr marL="0" indent="0">
              <a:buNone/>
            </a:pPr>
            <a:r>
              <a:rPr lang="en-PH" b="1" dirty="0"/>
              <a:t>Teachers &amp; Counselors:</a:t>
            </a:r>
            <a:endParaRPr lang="en-PH" dirty="0"/>
          </a:p>
          <a:p>
            <a:pPr lvl="1"/>
            <a:r>
              <a:rPr lang="en-PH" dirty="0"/>
              <a:t>Workload is potentially reduced as the system automates responses to common, repetitive queries.</a:t>
            </a:r>
          </a:p>
          <a:p>
            <a:pPr lvl="1"/>
            <a:r>
              <a:rPr lang="en-PH" dirty="0"/>
              <a:t>Counselors can focus on more complex, in-depth career counseling sessions.</a:t>
            </a:r>
          </a:p>
          <a:p>
            <a:endParaRPr lang="en-PH" dirty="0"/>
          </a:p>
        </p:txBody>
      </p:sp>
    </p:spTree>
    <p:extLst>
      <p:ext uri="{BB962C8B-B14F-4D97-AF65-F5344CB8AC3E}">
        <p14:creationId xmlns:p14="http://schemas.microsoft.com/office/powerpoint/2010/main" val="8479044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B524A-7798-8053-21FD-700632DCFA90}"/>
              </a:ext>
            </a:extLst>
          </p:cNvPr>
          <p:cNvSpPr>
            <a:spLocks noGrp="1"/>
          </p:cNvSpPr>
          <p:nvPr>
            <p:ph type="title"/>
          </p:nvPr>
        </p:nvSpPr>
        <p:spPr/>
        <p:txBody>
          <a:bodyPr/>
          <a:lstStyle/>
          <a:p>
            <a:r>
              <a:rPr lang="en-PH" b="1" dirty="0"/>
              <a:t>Questions &amp; Answers</a:t>
            </a:r>
            <a:br>
              <a:rPr lang="en-PH" b="1" dirty="0"/>
            </a:br>
            <a:endParaRPr lang="en-PH" dirty="0"/>
          </a:p>
        </p:txBody>
      </p:sp>
      <p:sp>
        <p:nvSpPr>
          <p:cNvPr id="3" name="Content Placeholder 2">
            <a:extLst>
              <a:ext uri="{FF2B5EF4-FFF2-40B4-BE49-F238E27FC236}">
                <a16:creationId xmlns:a16="http://schemas.microsoft.com/office/drawing/2014/main" id="{F6D9EE0B-90DE-33FB-ADEB-A4E010D752EA}"/>
              </a:ext>
            </a:extLst>
          </p:cNvPr>
          <p:cNvSpPr>
            <a:spLocks noGrp="1"/>
          </p:cNvSpPr>
          <p:nvPr>
            <p:ph idx="1"/>
          </p:nvPr>
        </p:nvSpPr>
        <p:spPr>
          <a:xfrm>
            <a:off x="3706131" y="3429000"/>
            <a:ext cx="4240006" cy="944372"/>
          </a:xfrm>
        </p:spPr>
        <p:txBody>
          <a:bodyPr>
            <a:normAutofit/>
          </a:bodyPr>
          <a:lstStyle/>
          <a:p>
            <a:pPr marL="0" indent="0" algn="ctr">
              <a:buNone/>
            </a:pPr>
            <a:r>
              <a:rPr lang="en-PH" sz="4400" b="1" dirty="0"/>
              <a:t>Thank You!</a:t>
            </a:r>
            <a:endParaRPr lang="en-PH" sz="4400" dirty="0"/>
          </a:p>
        </p:txBody>
      </p:sp>
    </p:spTree>
    <p:extLst>
      <p:ext uri="{BB962C8B-B14F-4D97-AF65-F5344CB8AC3E}">
        <p14:creationId xmlns:p14="http://schemas.microsoft.com/office/powerpoint/2010/main" val="311398615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310</TotalTime>
  <Words>3392</Words>
  <Application>Microsoft Office PowerPoint</Application>
  <PresentationFormat>Widescreen</PresentationFormat>
  <Paragraphs>599</Paragraphs>
  <Slides>41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Arial</vt:lpstr>
      <vt:lpstr>Calibri</vt:lpstr>
      <vt:lpstr>Century Gothic</vt:lpstr>
      <vt:lpstr>Wingdings 3</vt:lpstr>
      <vt:lpstr>Ion Boardroom</vt:lpstr>
      <vt:lpstr>EduGuide PH: An AI-Powered Study and Career Guidance System Amigo School of Calinan, Inc.</vt:lpstr>
      <vt:lpstr>PRESENTATION ROADMAP </vt:lpstr>
      <vt:lpstr>PRESENTATION ROADMAP</vt:lpstr>
      <vt:lpstr>ORGANIZATION BACKGROUND </vt:lpstr>
      <vt:lpstr>ORGANIZATION BACKGROUND </vt:lpstr>
      <vt:lpstr>  ORGANIZATION BACKGROUND  </vt:lpstr>
      <vt:lpstr>BUSINESS ENVIRONMENT </vt:lpstr>
      <vt:lpstr>CURRENT SYSTEM OVERVIEW </vt:lpstr>
      <vt:lpstr>CURRENT SYSTEM DIAGRAM</vt:lpstr>
      <vt:lpstr> PROBLEM STATEMENT (PIECES) </vt:lpstr>
      <vt:lpstr>CRITICAL SUCCESS FACTORS </vt:lpstr>
      <vt:lpstr>OBJECTIVES </vt:lpstr>
      <vt:lpstr>FEASIBLE ALTERNATIVES </vt:lpstr>
      <vt:lpstr>FEASIBILITY ANALYSIS </vt:lpstr>
      <vt:lpstr>FEASIBILITY ANALYSIS</vt:lpstr>
      <vt:lpstr>PROPOSED SOLUTION </vt:lpstr>
      <vt:lpstr>FUNCTIONAL REQUIREMENTS </vt:lpstr>
      <vt:lpstr>USE CASE DIAGRAM </vt:lpstr>
      <vt:lpstr>Proposed System Architecture </vt:lpstr>
      <vt:lpstr>Database Design </vt:lpstr>
      <vt:lpstr>Technology Stack </vt:lpstr>
      <vt:lpstr>User Interface Design (Wireframes / Mockups) </vt:lpstr>
      <vt:lpstr>User Interface Design (Wireframes / Mockups) </vt:lpstr>
      <vt:lpstr>User Interface Design (Wireframes / Mockups) </vt:lpstr>
      <vt:lpstr>User Interface Design (Wireframes / Mockups) </vt:lpstr>
      <vt:lpstr>System Development </vt:lpstr>
      <vt:lpstr>Key Features Demo </vt:lpstr>
      <vt:lpstr>Key Features Demo </vt:lpstr>
      <vt:lpstr>Key Features Demo </vt:lpstr>
      <vt:lpstr>Key Features Demo </vt:lpstr>
      <vt:lpstr>Key Features Demo </vt:lpstr>
      <vt:lpstr>Testing Methodology </vt:lpstr>
      <vt:lpstr>Test Cases </vt:lpstr>
      <vt:lpstr>Test Cases </vt:lpstr>
      <vt:lpstr>User Acceptance Testing (UAT </vt:lpstr>
      <vt:lpstr>UAT Results </vt:lpstr>
      <vt:lpstr>Findings </vt:lpstr>
      <vt:lpstr>Conclusions </vt:lpstr>
      <vt:lpstr>Recommendations </vt:lpstr>
      <vt:lpstr>Project Contributions </vt:lpstr>
      <vt:lpstr>Questions &amp; Answers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Garri Nakano</dc:creator>
  <cp:lastModifiedBy>Garri Nakano</cp:lastModifiedBy>
  <cp:revision>1</cp:revision>
  <dcterms:created xsi:type="dcterms:W3CDTF">2026-06-17T01:28:40Z</dcterms:created>
  <dcterms:modified xsi:type="dcterms:W3CDTF">2026-06-19T13:53:24Z</dcterms:modified>
</cp:coreProperties>
</file>